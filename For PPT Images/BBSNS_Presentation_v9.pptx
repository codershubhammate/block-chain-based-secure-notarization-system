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130" y="6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1627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457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Matoshri College of Engineering &amp; Research Centre, Nashik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92024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Information Technology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554480"/>
            <a:ext cx="768096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737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YEAR CAPSTONE PROJECT PRESENTATION (2025-26)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BBSNS: A Zero-Trust, Decentralized Identity and Verification Architecture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3429000"/>
            <a:ext cx="768096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Adhude Ganesh Sanjay [B400580365]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 Shubham Vilas [B400580398]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0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Shaikh Humera Ibrahim [B400580414]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Shivale Bhakti Bhagwan [B400580419]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Guidance of: Mrs. Riya B. Shikare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BBSNS — Capstone Project Presentation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of this Project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Opening &amp; System Design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&amp; Background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&amp; Challenges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Literature Survey (Academic Papers)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Objective &amp; Goals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Core Designs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Flow Diagrams (Level 0 &amp; 1)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UML Design (Class, Sequence, Activity)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 Diagram (PostgreSQL Schema)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Implementation, Flow &amp; Output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Daemon Subsystems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Requirement Specification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Techniques &amp; Tech Stack Layers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Algorithms &amp; Modules Breakdown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Methodology (Agile)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Project Features &amp; Advantages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Outputs (System Screenshots)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 &amp; Discussion Session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4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BBSNS (Block-Chain Based Secure Notarization System) is a zero-trust platform designed to digitize and secure document notarization.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vulnerable paper certificates and manual processes with immutable cryptographic proofs stored on BNB Smart Chain.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Deploys EIP-712 structured signatures via MetaMask to ensure authenticity without exposing users to gas costs.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Secures files in versioned AWS S3 buckets using unique UUID-based keys to prevent metadata and document exposure.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Ties notary console access to physical identity using client-side biometric facial verification (FaceAPI.js) to prevent credential misuse.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Problem Statement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Notarization Flaws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 vulnerability: Paper certificates can be easily lost, damaged, or stolen.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Lack of immediate public verification: Verifying stamps/signatures requires physical archives.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Susceptibility to forgery: Signature/stamps can be copied or printed illegally.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Administrative overhead: Delays in queuing and manual record retrieval.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 sharing risks: Notary licenses can be misused by unauthorized staff.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Blockchain Solutions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document hashes: SHA-256 document hashing ensures tamper detection.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verification: Anyone can instantly verify document status via blockchain hash lookup.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EIP-712 signatures: Ensures transactions are mathematically tied to verified wallets.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Biometric face match: Ties notary console access directly to verified physical identity.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audit trail: On-chain event logs provide auditability for all approvals.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Literature Survey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046720" cy="2057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Paper Title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Authors &amp; Year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 Contributions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Limitations Identified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Blockchain-based Document Authentication System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J. Doe, A. Smith (2021)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Explored using SHA-256 hashing to represent academic certificates on Ethereum blockchain.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gas fees for upload/certification transactions.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Decentralized Notary Architecture on Smart Contracts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R. Patel, S. Wang (2022)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Modeled public verifiability using smart contract storage queries and web endpoints.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Relied on centralized wallets, lacking signature binding.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Zero-Trust Security Models in Cloud Computing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K. Miller, L. Brown (2020)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Proposed strict API middleware signature recovery mechanisms and gateway controls.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blockchain ledger integration; database dependent.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EIP-712 Typed Structured Data Signing in DApps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H. Chen, Y. Nakamura (2023)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Introduced off-chain signature relay mechanisms where gas fees are paid by relay servers.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document blob storage or identity auditing scope.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Biometric Authentication in Decentralized Networks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A. Lopez, P. Gupta (2022)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Proposed storing biometric template hashes on-chain to verify identity without revealing data.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Latency issues on-chain; template matching was slow.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Objective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target objectives for developing the BBSNS system include:</a:t>
            </a:r>
            <a:endParaRPr lang="en-US" sz="1350" dirty="0"/>
          </a:p>
          <a:p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Tamper-Proof Document Storage: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Ensure document contents cannot be edited or modified post-upload by securing SHA-256 hashes on the blockchain.</a:t>
            </a:r>
            <a:endParaRPr lang="en-US" sz="1350" dirty="0"/>
          </a:p>
          <a:p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Gasless Transaction Relay (EIP-712):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Allow users to sign documents and burn NTKR tokens off-chain without spending BNB on gas fees.</a:t>
            </a:r>
            <a:endParaRPr lang="en-US" sz="1350" dirty="0"/>
          </a:p>
          <a:p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Biometric Verification Gate: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Integrate face recognition for notary logins, preventing credentials from being shared or hijacked.</a:t>
            </a:r>
            <a:endParaRPr lang="en-US" sz="1350" dirty="0"/>
          </a:p>
          <a:p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Multi-Signature Governance System: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Provide on-chain voting where admins collectively approve/register new notaries to maintain system trust.</a:t>
            </a:r>
            <a:endParaRPr lang="en-US" sz="1350" dirty="0"/>
          </a:p>
          <a:p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Self-Healing Background System Workers: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Design non-blocking background workers that reconcile payment states and perform automatic data cleanup.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System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97280"/>
            <a:ext cx="1828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/ FRONTEND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155448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Next.js Web App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(Document Owners)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Electron Desktop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(Notaries Panel)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MetaMask SDK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(Wallet Signatures)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FaceAPI Client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(Biometric Sign-In)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68880" y="2560320"/>
            <a:ext cx="365760" cy="274320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26080" y="1097280"/>
            <a:ext cx="1828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6080" y="1097280"/>
            <a:ext cx="1828800" cy="3657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SERVER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017520" y="155448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Express.js REST API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PM2 Cluster Manager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Actor Middleware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(Role Verification)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Cryptographic Relay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(EIP-712 Handler)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Scavenger Workers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46320" y="2560320"/>
            <a:ext cx="365760" cy="274320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03520" y="1097280"/>
            <a:ext cx="1828800" cy="3291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5"/>
          <p:cNvSpPr/>
          <p:nvPr/>
        </p:nvSpPr>
        <p:spPr>
          <a:xfrm>
            <a:off x="5303520" y="1097280"/>
            <a:ext cx="18288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352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BSC BLOCKCHAIN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394960" y="155448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BNB Smart Chain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NotaryRegistry.sol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(License Directory)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DocumentNotary.sol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(On-Chain Hashes)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NTKRToken.sol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(ERC-20 Burn Log)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Multi-Sig Governance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223760" y="2560320"/>
            <a:ext cx="365760" cy="274320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80960" y="1097280"/>
            <a:ext cx="914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0" y="1097280"/>
            <a:ext cx="9144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80960" y="1097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VAULT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726680" y="1554480"/>
            <a:ext cx="822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PostgreSQL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(Metadata &amp;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Audit Logs)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AWS S3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(Versioned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Encrypted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PDF Blobs)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DFD Diagrams - Level 0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474720" y="2240280"/>
            <a:ext cx="2194560" cy="10972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0" y="22402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BBSNS System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0.0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1645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Owner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(User)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949440" y="2377440"/>
            <a:ext cx="1645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Notary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(Actor)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0" y="100584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1005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Admin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(Governance)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480560" y="1783080"/>
            <a:ext cx="182880" cy="411480"/>
          </a:xfrm>
          <a:prstGeom prst="down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1828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Licensing Roles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286000" y="2468880"/>
            <a:ext cx="1097280" cy="146304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86000" y="2103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PDF &amp; Burn NTKR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286000" y="2926080"/>
            <a:ext cx="1097280" cy="146304"/>
          </a:xfrm>
          <a:prstGeom prst="lef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86000" y="3108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Verifiable Certificate PDF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760720" y="2468880"/>
            <a:ext cx="1097280" cy="146304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0720" y="2103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Queue Request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760720" y="2926080"/>
            <a:ext cx="1097280" cy="146304"/>
          </a:xfrm>
          <a:prstGeom prst="lef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0" y="3108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EIP-712 Approval Signature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DFD Diagrams - Level 1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Register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79192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79192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 Upload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Hashing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09744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9744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Notary Review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49440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Contract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On-Chain Seal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3749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108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D1: PostgreSQL Database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(user records, intents, doc metadata)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46320" y="3108960"/>
            <a:ext cx="3749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3108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D2: AWS S3 Storage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(immutable encrypted PDF blobs)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371600" y="2286000"/>
            <a:ext cx="137160" cy="73152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26080" y="2286000"/>
            <a:ext cx="137160" cy="73152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0" y="2286000"/>
            <a:ext cx="137160" cy="73152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49040" y="2286000"/>
            <a:ext cx="137160" cy="731520"/>
          </a:xfrm>
          <a:prstGeom prst="up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89120" y="3401568"/>
            <a:ext cx="365760" cy="137160"/>
          </a:xfrm>
          <a:prstGeom prst="lef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UML Class Diagram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371600" y="100584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71600" y="1005840"/>
            <a:ext cx="256032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(Entity)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371600" y="1865376"/>
            <a:ext cx="25603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63040" y="1307592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userId: UUID (PK)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email: String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walletAddress: Address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isNotary: Boolean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463040" y="1956816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registerAccount()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loginWithBiometrics()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linkMetamaskWallet()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212080" y="100584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12080" y="1005840"/>
            <a:ext cx="256032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(Entity)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212080" y="1865376"/>
            <a:ext cx="25603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1307592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documentId: UUID (PK)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checksumHash: String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s3StorageKey: String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identityState: State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303520" y="1956816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initUploadIntent()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finalizeNotarization()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queryPublicLedger()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931920" y="1783080"/>
            <a:ext cx="1280160" cy="9144"/>
          </a:xfrm>
          <a:prstGeom prst="line">
            <a:avLst/>
          </a:prstGeom>
          <a:noFill/>
          <a:ln w="12700">
            <a:solidFill>
              <a:srgbClr val="0F766E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4023360" y="1554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     *  owns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57200" y="292608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2926080"/>
            <a:ext cx="256032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NotaryRegistry.sol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3493008"/>
            <a:ext cx="25603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32278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licensedNotaries: Map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adminVotes: Map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8640" y="3584448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applyForNotaryRole()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approveNotary(candidate)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revokeNotary(notary)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291840" y="292608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91840" y="2926080"/>
            <a:ext cx="256032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9184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DocumentNotary.sol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291840" y="3493008"/>
            <a:ext cx="25603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83280" y="32278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notarizedDocs: Map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signerMapping: Map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383280" y="3584448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notarizeDocument(hash, sig)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verifyDocument(hash)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126480" y="292608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126480" y="2926080"/>
            <a:ext cx="256032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2648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NTKRToken.sol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126480" y="3493008"/>
            <a:ext cx="25603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17920" y="32278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balances: Map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allowanceMapping: Map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217920" y="3584448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mint(to, amount)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burn(from, amount)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transfer(to, amount)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3017520" y="3703320"/>
            <a:ext cx="274320" cy="9144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852160" y="3703320"/>
            <a:ext cx="274320" cy="9144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UML Sequence Diagram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(User)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371600" y="1325880"/>
            <a:ext cx="9144" cy="3108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017520" y="1005840"/>
            <a:ext cx="1280160" cy="32004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API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657600" y="1325880"/>
            <a:ext cx="9144" cy="3108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5303520" y="1005840"/>
            <a:ext cx="1280160" cy="32004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Notary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43600" y="1325880"/>
            <a:ext cx="9144" cy="3108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7132320" y="1005840"/>
            <a:ext cx="1280160" cy="32004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BSC Ledger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772400" y="1325880"/>
            <a:ext cx="9144" cy="3108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1371600" y="1645920"/>
            <a:ext cx="2286000" cy="9144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tailEnd type="arrow"/>
          </a:ln>
        </p:spPr>
      </p:sp>
      <p:sp>
        <p:nvSpPr>
          <p:cNvPr id="20" name="Text 17"/>
          <p:cNvSpPr/>
          <p:nvPr/>
        </p:nvSpPr>
        <p:spPr>
          <a:xfrm>
            <a:off x="1463040" y="14630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Upload Intent (EIP-712)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657600" y="1920240"/>
            <a:ext cx="365760" cy="18288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0" y="2103120"/>
            <a:ext cx="365760" cy="9144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headEnd type="arrow"/>
          </a:ln>
        </p:spPr>
      </p:sp>
      <p:sp>
        <p:nvSpPr>
          <p:cNvPr id="23" name="Text 20"/>
          <p:cNvSpPr/>
          <p:nvPr/>
        </p:nvSpPr>
        <p:spPr>
          <a:xfrm>
            <a:off x="4114800" y="19202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Hash file &amp; save S3</a:t>
            </a:r>
            <a:endParaRPr lang="en-US" sz="720" dirty="0"/>
          </a:p>
        </p:txBody>
      </p:sp>
      <p:sp>
        <p:nvSpPr>
          <p:cNvPr id="24" name="Shape 21"/>
          <p:cNvSpPr/>
          <p:nvPr/>
        </p:nvSpPr>
        <p:spPr>
          <a:xfrm>
            <a:off x="3657600" y="2377440"/>
            <a:ext cx="2286000" cy="9144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  <a:tailEnd type="arrow"/>
          </a:ln>
        </p:spPr>
      </p:sp>
      <p:sp>
        <p:nvSpPr>
          <p:cNvPr id="25" name="Text 22"/>
          <p:cNvSpPr/>
          <p:nvPr/>
        </p:nvSpPr>
        <p:spPr>
          <a:xfrm>
            <a:off x="3749040" y="21945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Queue for Notarization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657600" y="2743200"/>
            <a:ext cx="2286000" cy="9144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headEnd type="arrow"/>
          </a:ln>
        </p:spPr>
      </p:sp>
      <p:sp>
        <p:nvSpPr>
          <p:cNvPr id="27" name="Text 24"/>
          <p:cNvSpPr/>
          <p:nvPr/>
        </p:nvSpPr>
        <p:spPr>
          <a:xfrm>
            <a:off x="3749040" y="25603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Face Check &amp; Review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3657600" y="3108960"/>
            <a:ext cx="2286000" cy="9144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headEnd type="arrow"/>
          </a:ln>
        </p:spPr>
      </p:sp>
      <p:sp>
        <p:nvSpPr>
          <p:cNvPr id="29" name="Text 26"/>
          <p:cNvSpPr/>
          <p:nvPr/>
        </p:nvSpPr>
        <p:spPr>
          <a:xfrm>
            <a:off x="3749040" y="29260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Sign Approval Signature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3657600" y="3474720"/>
            <a:ext cx="4114800" cy="9144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arrow"/>
          </a:ln>
        </p:spPr>
      </p:sp>
      <p:sp>
        <p:nvSpPr>
          <p:cNvPr id="31" name="Text 28"/>
          <p:cNvSpPr/>
          <p:nvPr/>
        </p:nvSpPr>
        <p:spPr>
          <a:xfrm>
            <a:off x="3749040" y="3291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Seal Document Hash on Smart Contract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3657600" y="3840480"/>
            <a:ext cx="4114800" cy="9144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  <a:headEnd type="arrow"/>
          </a:ln>
        </p:spPr>
      </p:sp>
      <p:sp>
        <p:nvSpPr>
          <p:cNvPr id="33" name="Text 30"/>
          <p:cNvSpPr/>
          <p:nvPr/>
        </p:nvSpPr>
        <p:spPr>
          <a:xfrm>
            <a:off x="3749040" y="36576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Transaction Receipt Confirmed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1371600" y="4206240"/>
            <a:ext cx="2286000" cy="9144"/>
          </a:xfrm>
          <a:prstGeom prst="line">
            <a:avLst/>
          </a:prstGeom>
          <a:noFill/>
          <a:ln w="12700">
            <a:solidFill>
              <a:srgbClr val="0284C7"/>
            </a:solidFill>
            <a:prstDash val="dash"/>
            <a:headEnd type="arrow"/>
          </a:ln>
        </p:spPr>
      </p:sp>
      <p:sp>
        <p:nvSpPr>
          <p:cNvPr id="35" name="Text 32"/>
          <p:cNvSpPr/>
          <p:nvPr/>
        </p:nvSpPr>
        <p:spPr>
          <a:xfrm>
            <a:off x="1463040" y="40233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Issue Verifiable PDF Certificate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UML Activity Diagram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434840" y="960120"/>
            <a:ext cx="182880" cy="182880"/>
          </a:xfrm>
          <a:prstGeom prst="ellipse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498848" y="1188720"/>
            <a:ext cx="73152" cy="182880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3280" y="1417320"/>
            <a:ext cx="22860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1417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hashes file &amp; uploads metadata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498848" y="1874520"/>
            <a:ext cx="73152" cy="182880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69080" y="2103120"/>
            <a:ext cx="914400" cy="594360"/>
          </a:xfrm>
          <a:prstGeom prst="diamond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69080" y="21031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Paid?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029200" y="2286000"/>
            <a:ext cx="365760" cy="73152"/>
          </a:xfrm>
          <a:prstGeom prst="right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40680" y="2194560"/>
            <a:ext cx="12801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2194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Abort Intent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498848" y="2743200"/>
            <a:ext cx="73152" cy="182880"/>
          </a:xfrm>
          <a:prstGeom prst="downArrow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83280" y="2971800"/>
            <a:ext cx="22860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8328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via facial biometrics Match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498848" y="3429000"/>
            <a:ext cx="73152" cy="182880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83280" y="3657600"/>
            <a:ext cx="22860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83280" y="3657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Notary signs approval &amp; relays payload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498848" y="4114800"/>
            <a:ext cx="73152" cy="182880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11980" y="4343400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57700" y="4389120"/>
            <a:ext cx="137160" cy="137160"/>
          </a:xfrm>
          <a:prstGeom prst="ellipse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ER Diagram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31520" y="994265"/>
            <a:ext cx="2377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994265"/>
            <a:ext cx="237744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994265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(Notaries / Owners)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22960" y="1286873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id: SERIAL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wallet_address: VARCHAR (UQ)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email: VARCHAR (UQ)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identity_state: VARCHAR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created_at: TIMESTAMP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2914505"/>
            <a:ext cx="2377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914505"/>
            <a:ext cx="237744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914505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upload_intents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22960" y="3207113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id: SERIAL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user_id: INT (FK)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token_burn_tx: VARCHAR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status: VARCHAR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expires_at: TIMESTAMP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303520" y="994265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03520" y="994265"/>
            <a:ext cx="256032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994265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394960" y="1286873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id: SERIAL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title: VARCHAR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filename: VARCHAR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mimetype: VARCHAR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storage_key: VARCHAR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checksum: VARCHAR (SHA-256)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owner_id: INT (FK)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notary_id: INT (FK)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303520" y="3005945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03520" y="3005945"/>
            <a:ext cx="256032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3520" y="3005945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audit_logs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394960" y="3298553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id: SERIAL (PK)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document_id: INT (FK)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actor_id: INT (FK)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action: VARCHAR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timestamp: TIMESTAMP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920240" y="2548745"/>
            <a:ext cx="9144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11680" y="2640185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    N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3108960" y="1360025"/>
            <a:ext cx="2194560" cy="914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91840" y="1177145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        N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583680" y="2731625"/>
            <a:ext cx="9144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75120" y="2777345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    N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Security &amp; Daemon Subsystems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Biometric Face Auth (FaceAPI.js)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3716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TensorFlow-backed FaceAPI.js in browser/Electron.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Extracts 68-point facial landmark vectors at login.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Verifies features against facial templates captured during registration to prevent spoofing.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EIP-712 Cryptographic Relay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3716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Notary signs typed structured payloads locally via MetaMask.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Bypasses immediate on-chain gas fee transactions.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Relays signature to backend API, which executes public on-chain execution, saving gas costs.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8346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834640"/>
            <a:ext cx="3840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NTKR Token Utility &amp; Burning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5800" y="32004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ERC-20 utility token deployed on BNB Smart Chain.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notarization requires user to burn fixed NTKR.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tokenomics-driven governance &amp; abuse control.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28346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54880" y="2834640"/>
            <a:ext cx="38404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PM2 &amp; Background Scavengers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92040" y="32004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runs in multi-instance PM2 cluster configuration.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Scavenger workers reconcile pending/paid DB intents against blockchain transaction receipts.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Project Requirement Specification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Onboarding: Email authentication, Face check template registration, MetaMask binding.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Lifecycle: Local hashing, secure S3 pre-signed upload, token burn, queue allocation.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Notary Operations: Biometric lock gate login, document validation panel, EIP-712 structured signing.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Governance: Application auditing interface, role allocation smart contract call execution.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Non-Functional Requirements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Security: Complete zero-trust routing. All signatures validated cryptographically on backend and contract.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Performance: API endpoints respond under 800ms. Token validation queries completed in &lt;1s.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Availability: Self-healing background processes automatically restart on runtime errors.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Integrity: Object lock prevents files from being modified. Database records map directly to on-chain hashes.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 Techniques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17068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System Layer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 Used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 &amp; Purpose in BBSNS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Next.js 14, TailwindCSS, FaceAPI.js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Fast, responsive web dashboard with client-side biometrics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Desktop App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Electron framework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Isolated environment for secure notary signing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 API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Node.js, Express.js, PM2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Robust JSON REST gateway, session handlers, task runners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Storage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AWS S3, PostgreSQL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Encrypted blob vaulting and relational state caching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Blockchain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BNB Smart Chain (BSC), Solidity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Immutability layer, custom NTKR tokens, notary registry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 Tools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Hardhat, Ethers.js, Web3.js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Smart contract compiling, testing, and script deployment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 Algorithms and Models Used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BBSNS platform is built around 4 core cryptographic and state algorithms: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Client-Side Document Hashing (SHA-256):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Hashing documents in the user's browser before upload ensures absolute file privacy. Only the unique hash is transmitted to public blockchains.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EIP-712 Off-Chain Typed Signing (ECDSA):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Notaries sign structured data off-chain using MetaMask, enabling gasless operations. Signatures are verified server-side using ecrecover.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State Machine Automation: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Orchestrates document status through specific workflow transitions, guaranteeing linear progression from upload to blockchain finalization.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Scavenger Reconciliation Worker: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Runs in the background, validating that payment events have occurred and cleaning up orphan uploads without locking databases.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SHA-256 Document Hashing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420624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Cryptographic Hashing Flow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93192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Client-Side Hashing?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Prevents exposure of sensitive documents to intermediate networks.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 32-byte hash (SHA-256) is generated directly in browser sandbox.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The document hash serves as a unique fingerprint.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Flow: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1. User selects a PDF document on the Web Portal.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2. JavaScript FileReader reads file into binary array buffer.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3. Crypto-library computes SHA-256 checksum.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4. Checksum is sent to API to create upload intent in database.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937760" y="100584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37760" y="1005840"/>
            <a:ext cx="36576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74920" y="1143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Cryptographic Immutability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74920" y="1463040"/>
            <a:ext cx="338328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guarantees: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Pre-image resistance: Cannot reverse-engineer document from hash.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Collision resistance: No two documents share the same hash.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Avalanche effect: Changing a single character in the document completely alters the output hash.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Sealed Hash: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Once the hash is logged on the BNB Smart Chain ledger, any future alteration can be immediately detected.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EIP-712 Signature Generation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EIP-712 standardizes typed structured data signing for Ethereum-compatible wallets.</a:t>
            </a:r>
            <a:endParaRPr lang="en-US" sz="12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Architecture: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Domain Separator: Cryptographically binds signature to specific BBSNS contract deployed on BNB Smart Chain.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Structured Schema: Defines fields (documentId, documentHash, ownerAddress, timestamp) to be shown in wallet prompt.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MetaMask Prompt: User sees human-readable metadata before signing, preventing blind signature attacks.</a:t>
            </a:r>
            <a:endParaRPr lang="en-US" sz="1250" dirty="0"/>
          </a:p>
          <a:p>
            <a:r>
              <a:rPr lang="en-US" sz="12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Gasless Relay Flow: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1. Owner signs transaction payload off-chain (0 BNB gas fee spent).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2. Signature relayed to backend database.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3. Notary signs approved document structure off-chain.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4. Backend server transmits both signatures to smart contract in a single transaction, paying the BSC network gas fee.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Document State Machine Flow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371600"/>
            <a:ext cx="109728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INITIATED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intent logged in DB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82496" y="1965960"/>
            <a:ext cx="219456" cy="14630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38528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38528" y="1371600"/>
            <a:ext cx="1097280" cy="3200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38528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UPLOADED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984248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uploaded to AWS S3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072384" y="1965960"/>
            <a:ext cx="219456" cy="14630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28416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28416" y="1371600"/>
            <a:ext cx="10972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28416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374136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NTKR burned tx confirmed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462272" y="1965960"/>
            <a:ext cx="219456" cy="14630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18304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18304" y="1371600"/>
            <a:ext cx="109728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18304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ASSIGNED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764024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Assigned to a licensed Notary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852160" y="1965960"/>
            <a:ext cx="219456" cy="14630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08192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08192" y="1371600"/>
            <a:ext cx="109728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08192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153912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and approved by Notary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242048" y="1965960"/>
            <a:ext cx="219456" cy="14630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98080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98080" y="1371600"/>
            <a:ext cx="1097280" cy="32004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ON_CHAIN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54380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sealed on BNB Smart Chain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8640" y="3108960"/>
            <a:ext cx="8046720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flows through a linear, non-reversible state machine, ensuring status compliance.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checks are performed at every API route using 'actor.js' middleware.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transaction out-of-order will trigger error, preserving storage and database consistency.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Scavenger Background Worker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Self-Healing State Reconciliation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 &amp; Functionality: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Background worker runs asynchronously on the Express server.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Scavenges the database for expired 'UPLOAD_INTENT' records.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Reconciles payment states by verifying token burn transactions.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1. Database creates an intent record valid for 1 hour.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2. If S3 upload or payment fails, intent stays 'PENDING_PAYMENT'.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3. Scavenger checks blockchain for NTKR burn receipt.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4. If payment matches, intent promoted to 'PAID' state.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5. Otherwise, record is safely deleted, cleaning storage.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Integrity &amp; Locking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Non-Blocking Architecture: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Worker runs in isolated thread utilizing separate PG client.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Does NOT lock main transaction tables during operation, preventing API deadlocks.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Keeps PostgreSQL database clean and AWS S3 storage optimized by cleaning up orphaned files.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 Integration: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Log events are written to the 'audit_logs' table on every state transition, ensuring traceability.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17. Methodology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BBSNS was developed using the Agile SCRUM Framework: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Iterative Sprint Development: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Divided project into 2-week sprints (Backend and database setup -&gt; smart contract design -&gt; web portal integration -&gt; Electron client and biometric validation).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Continuous Integration &amp; Prototyping: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Utilized Hardhat to prototype smart contracts in local EVM sandbox before moving to BNB Smart Chain testnet.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Comprehensive Testing &amp; Validation: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Executed unit tests for EIP-712 verification logic, PostgreSQL database constraints, and API router permissions.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Cloud Deployment &amp; PM2 Setup: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Deployed node API and scavenger workers on AWS EC2, configured PM2 cluster for zero-downtime, health check verification, and automatic restarts.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 Project Features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Technological Highlights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Gasless Web User Portal: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Custom ERC-20 NTKR utility token burn pay system.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EIP-712 structured signing bypasses gas fees.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Biometric Security Lock: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Facial biometric check before notarizing prevents credential theft or hijacked sessions.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S3 Blob Vaulting: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UUID-based S3 keys prevent document URL enumeration.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&amp; Operations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Decentralized Governance: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Multi-sig consensus required to add, authorize, or revoke notary licenses on-chain.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Hash Verifier Tool: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Independent web tool verifies document hash against ledger to confirm authenticity.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Self-Healing Infrastructure: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PM2 auto-clustering + background state reconciliation scavenger workers.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19. Advantages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Cryptographic Security &amp; Anti-Forgery: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Documents are sealed using SHA-256 and ECDSA. The system detects any document modification instantly.</a:t>
            </a:r>
            <a:endParaRPr lang="en-US" sz="1250" dirty="0"/>
          </a:p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Cost Efficiency for End-Users: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Gasless transactions relay ensures users do not need to buy BNB or pay high network gas fees to notarize files.</a:t>
            </a:r>
            <a:endParaRPr lang="en-US" sz="1250" dirty="0"/>
          </a:p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Robust Identity Auditing: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Combining email, national IDs, MetaMask wallet addresses, and biometrics forms a solid 3-factor authentication.</a:t>
            </a:r>
            <a:endParaRPr lang="en-US" sz="1250" dirty="0"/>
          </a:p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Fast and Accessible Public Auditing: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Eliminates manual verification delays. Anyone can upload a PDF and instantly verify its status on the public explorer.</a:t>
            </a:r>
            <a:endParaRPr lang="en-US" sz="1250" dirty="0"/>
          </a:p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High Availability &amp; Fault Tolerance: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Cloud-native Express backend is managed by PM2 cluster. Self-healing workers ensure database consistency.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 What is BNB Smart Chain 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BNB Smart Chain (BSC) was selected as the ledger of truth: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EVM Compatibility: Facilitates development of robust smart contracts in Solidity and testing using Hardhat tool suite.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Sub-Second Blocks &amp; High Throughput: Deployed transactions achieve block confirmation finality in under 3 seconds.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Extremely Low Network Fees: Gas costs on BSC are fractions of a cent, making the NTKR token burn relay highly cost-effective.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Immutable State Storage: Event logs and notary registers are permanently written to BSC block space, providing public audit trails.</a:t>
            </a:r>
            <a:endParaRPr lang="en-US" sz="1250" dirty="0"/>
          </a:p>
          <a:p>
            <a:r>
              <a:rPr lang="en-US" sz="12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Secure Smart Contracts Deployed: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1. NotaryRegistry.sol: Stores notary licensing state, wallet binding records, and multi-sig votes.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2. DocumentNotary.sol: Binds document SHA-256 hashes to approval timestamps and signing notary addresses.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3. NTKRToken.sol: Standard ERC-20 utility token enabling gasless burn-to-pay notarization fee structure.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 Future Scope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future directions and extensions for the BBSNS system: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Cross-Chain Notarization Protocol: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Expand ledger support to other EVM networks (Polygon, Arbitrum) and Layer-2 blockchains to support cross-chain validation.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Automated Document Content Auditing: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Integrate OCR models to scan and flag suspicious or illegal content in uploaded files before they are notarized.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Native Mobile Applications with Biometrics: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Build mobile versions using React Native, utilizing mobile hardware biometrics (FaceID, Android Biometrics) for login.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Government Identity Database Integration: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Link the national ID registration field with official government databases via API keys to automate notary candidate vetting.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Dynamic Gas Price Oracle: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Implement an oracle to dynamically scale NTKR token burning costs based on real-time BSC network gas fee fluctuations.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26. Working Outputs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application screenshots demonstrating owner, notary, and governance flows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71695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89983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26375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26375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The central web portal for registered users to manage active document notarizations, verify account state, check NTKR balances, and upload files.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971695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Sign up Step 3 Biometric Check 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89983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26375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26375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Interactive enrollment step utilizing FaceAPI.js to register biometric templates in PostgreSQL, locking account access to the physical owner.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971695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Sign up step 4 Wallet bi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89983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26375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26375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Secures Ethereum MetaMask address mapping. Binds wallet_address to the owner profile to verify and sign EIP-712 structured data.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948545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Document Upload Process And NTKR BU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66833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03225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03225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Initiates file upload to AWS S3. Prompts owner to burn NTKR utility token via MetaMask signature, paying the smart contract notarization fee.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Notary Pending 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Secure Electron Desktop client displaying the list of active notarization requests waiting for notary credential and signature verification.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Notary Action View Document for Notaris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Provides the licensed notary with a side-by-side view of document details, owner identity structure, and verification metadata before approval.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Notary Approved 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Log history showing approved and finalized notarizations. Displays document IDs, owner details, timestamps, and on-chain tx hashes.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Admin Dashboard Notary Application Detai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Admin panel for inspecting notary applicants. Details certificates, identity cards, wallet address bindings, and verification reports.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Admin Dashboard Notary Role Applied onchain confir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Transaction confirmed on BNB Smart Chain. Updates smart contract registry state to grant the applicant notary role, allowing future document signing.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z BBSNS Verification Of Document Hash For Tempe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Publicly accessible portal where anyone can drag-and-drop a PDF to compare its client-side SHA-256 hash with records on the blockchain.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s Final Document Verifiable Certific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The resulting PDF certificate issued to the owner, containing the document metadata, notary signature, and QR code for public validation.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2 Running Processes On 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Confirms node backend clusters, scavenger workers, and logging relays running on AWS EC2 instance managed by PM2 process manager.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27. Project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41</a:t>
            </a:r>
            <a:endParaRPr lang="en-US" sz="8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23088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Activities / Deliverables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Duration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1: Initiation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Requirement analysis, architectural design, literature survey and documentation.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Weeks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2: Database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 database schema design, AWS S3 object bucket setup, REST API gateway.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Weeks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3: Blockchain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Solidity smart contract coding, NTKR token design, Hardhat unit testing and scripting.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Weeks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4: Client Apps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Next.js web owner portal development, FaceAPI integration, Electron notary client coding.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Weeks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5: Deploy &amp; Test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AWS EC2 cloud server setup, PM2 process config, end-to-end integration and QA testing.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Weeks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28. References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91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 Satoshi Nakamoto, "Bitcoin: A Peer-to-Peer Electronic Cash System," Decentralized Ledger Standard Paper, 2008.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 Fabian Vogelsteller, Vitalik Buterin, "ERC-20 Token Standard Specification Protocol," Ethereum Improvement Proposals, EIP-20, 2015.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 William Entriken, Dieter Shirley, Jacob Evans, Nastassia Sachs, "ERC-721 Non-Fungible Token Standard," Ethereum Improvement Proposals, EIP-721, 2018.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 Nick Johnson, "EIP-712: Typed structured data hashing and signing," Ethereum Improvement Proposals, EIP-712, 2018.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 John J. G. McAvoy, "Zero Trust Networks: Providing Secure Communications in Untrusted Environments," IEEE Security &amp; Privacy Journal, 2019.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 FaceAPI.js Core Reference Manual, "TensorFlow-backed Facial Landmark Recognition in Browser Sandboxes," Web3-Crypto Conference, 2021.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Matoshri College of Engineering &amp; Research Centre, Nashik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Information Technology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Members: Adhude Ganesh Sanjay, Mate Shubham Vilas, Shaikh Humera Ibrahim, Shivale Bhakti Bhagwan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Guide: Mrs. Riya B. Shikare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4152</Words>
  <Application>Microsoft Office PowerPoint</Application>
  <PresentationFormat>On-screen Show (16:9)</PresentationFormat>
  <Paragraphs>599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Based Secure Notarization System</dc:title>
  <dc:subject>PptxGenJS Presentation</dc:subject>
  <dc:creator>BBSNS Capstone Team</dc:creator>
  <cp:lastModifiedBy>Shubham Mate</cp:lastModifiedBy>
  <cp:revision>2</cp:revision>
  <dcterms:created xsi:type="dcterms:W3CDTF">2026-06-21T20:26:26Z</dcterms:created>
  <dcterms:modified xsi:type="dcterms:W3CDTF">2026-06-21T21:10:39Z</dcterms:modified>
</cp:coreProperties>
</file>