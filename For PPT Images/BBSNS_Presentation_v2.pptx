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 cy="5143500"/>
          </a:xfrm>
          <a:prstGeom prst="rect">
            <a:avLst/>
          </a:prstGeom>
          <a:solidFill>
            <a:srgbClr val="1E3A8A"/>
          </a:solidFill>
          <a:ln w="12700">
            <a:solidFill>
              <a:srgbClr val="1E3A8A"/>
            </a:solidFill>
            <a:prstDash val="solid"/>
          </a:ln>
        </p:spPr>
      </p:sp>
      <p:pic>
        <p:nvPicPr>
          <p:cNvPr id="3" name="Image 0" descr="C:\Users\Lenovo\OneDrive\Desktop\Final_pro\BBSNS\For PPT Images\college logo.png">    </p:cNvPr>
          <p:cNvPicPr>
            <a:picLocks noChangeAspect="1"/>
          </p:cNvPicPr>
          <p:nvPr/>
        </p:nvPicPr>
        <p:blipFill>
          <a:blip r:embed="rId1"/>
          <a:stretch>
            <a:fillRect/>
          </a:stretch>
        </p:blipFill>
        <p:spPr>
          <a:xfrm>
            <a:off x="731520" y="365760"/>
            <a:ext cx="1005840" cy="1005840"/>
          </a:xfrm>
          <a:prstGeom prst="rect">
            <a:avLst/>
          </a:prstGeom>
        </p:spPr>
      </p:pic>
      <p:sp>
        <p:nvSpPr>
          <p:cNvPr id="4" name="Text 1"/>
          <p:cNvSpPr/>
          <p:nvPr/>
        </p:nvSpPr>
        <p:spPr>
          <a:xfrm>
            <a:off x="1920240" y="457200"/>
            <a:ext cx="6400800" cy="365760"/>
          </a:xfrm>
          <a:prstGeom prst="rect">
            <a:avLst/>
          </a:prstGeom>
          <a:noFill/>
          <a:ln/>
        </p:spPr>
        <p:txBody>
          <a:bodyPr wrap="square" rtlCol="0" anchor="ctr"/>
          <a:lstStyle/>
          <a:p>
            <a:pPr algn="l" indent="0" marL="0">
              <a:buNone/>
            </a:pPr>
            <a:r>
              <a:rPr lang="en-US" sz="1350" b="1" dirty="0">
                <a:solidFill>
                  <a:srgbClr val="1E3A8A"/>
                </a:solidFill>
                <a:latin typeface="Calibri" pitchFamily="34" charset="0"/>
                <a:ea typeface="Calibri" pitchFamily="34" charset="-122"/>
                <a:cs typeface="Calibri" pitchFamily="34" charset="-120"/>
              </a:rPr>
              <a:t>Matoshri College of Engineering &amp; Research Centre, Nashik</a:t>
            </a:r>
            <a:endParaRPr lang="en-US" sz="1350" dirty="0"/>
          </a:p>
        </p:txBody>
      </p:sp>
      <p:sp>
        <p:nvSpPr>
          <p:cNvPr id="5" name="Text 2"/>
          <p:cNvSpPr/>
          <p:nvPr/>
        </p:nvSpPr>
        <p:spPr>
          <a:xfrm>
            <a:off x="1920240" y="822960"/>
            <a:ext cx="6400800" cy="274320"/>
          </a:xfrm>
          <a:prstGeom prst="rect">
            <a:avLst/>
          </a:prstGeom>
          <a:noFill/>
          <a:ln/>
        </p:spPr>
        <p:txBody>
          <a:bodyPr wrap="square"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Department of Computer Engineering</a:t>
            </a:r>
            <a:endParaRPr lang="en-US" sz="1100" dirty="0"/>
          </a:p>
        </p:txBody>
      </p:sp>
      <p:sp>
        <p:nvSpPr>
          <p:cNvPr id="6" name="Shape 3"/>
          <p:cNvSpPr/>
          <p:nvPr/>
        </p:nvSpPr>
        <p:spPr>
          <a:xfrm>
            <a:off x="731520" y="1554480"/>
            <a:ext cx="7680960" cy="0"/>
          </a:xfrm>
          <a:prstGeom prst="line">
            <a:avLst/>
          </a:prstGeom>
          <a:noFill/>
          <a:ln w="12700">
            <a:solidFill>
              <a:srgbClr val="CBD5E1"/>
            </a:solidFill>
            <a:prstDash val="solid"/>
          </a:ln>
        </p:spPr>
      </p:sp>
      <p:sp>
        <p:nvSpPr>
          <p:cNvPr id="7" name="Text 4"/>
          <p:cNvSpPr/>
          <p:nvPr/>
        </p:nvSpPr>
        <p:spPr>
          <a:xfrm>
            <a:off x="731520" y="1737360"/>
            <a:ext cx="7680960" cy="274320"/>
          </a:xfrm>
          <a:prstGeom prst="rect">
            <a:avLst/>
          </a:prstGeom>
          <a:noFill/>
          <a:ln/>
        </p:spPr>
        <p:txBody>
          <a:bodyPr wrap="square" rtlCol="0" anchor="ctr"/>
          <a:lstStyle/>
          <a:p>
            <a:pPr algn="l" indent="0" marL="0">
              <a:buNone/>
            </a:pPr>
            <a:r>
              <a:rPr lang="en-US" sz="1050" b="1" dirty="0">
                <a:solidFill>
                  <a:srgbClr val="3B82F6"/>
                </a:solidFill>
                <a:latin typeface="Calibri" pitchFamily="34" charset="0"/>
                <a:ea typeface="Calibri" pitchFamily="34" charset="-122"/>
                <a:cs typeface="Calibri" pitchFamily="34" charset="-120"/>
              </a:rPr>
              <a:t>FINAL YEAR CAPSTONE PROJECT PRESENTATION (2025-26)</a:t>
            </a:r>
            <a:endParaRPr lang="en-US" sz="1050" dirty="0"/>
          </a:p>
        </p:txBody>
      </p:sp>
      <p:sp>
        <p:nvSpPr>
          <p:cNvPr id="8" name="Text 5"/>
          <p:cNvSpPr/>
          <p:nvPr/>
        </p:nvSpPr>
        <p:spPr>
          <a:xfrm>
            <a:off x="731520" y="2103120"/>
            <a:ext cx="7680960" cy="731520"/>
          </a:xfrm>
          <a:prstGeom prst="rect">
            <a:avLst/>
          </a:prstGeom>
          <a:noFill/>
          <a:ln/>
        </p:spPr>
        <p:txBody>
          <a:bodyPr wrap="square" rtlCol="0" anchor="ctr"/>
          <a:lstStyle/>
          <a:p>
            <a:pPr algn="l" indent="0" marL="0">
              <a:buNone/>
            </a:pPr>
            <a:r>
              <a:rPr lang="en-US" sz="2800" b="1" dirty="0">
                <a:solidFill>
                  <a:srgbClr val="0F172A"/>
                </a:solidFill>
                <a:latin typeface="Calibri" pitchFamily="34" charset="0"/>
                <a:ea typeface="Calibri" pitchFamily="34" charset="-122"/>
                <a:cs typeface="Calibri" pitchFamily="34" charset="-120"/>
              </a:rPr>
              <a:t>Block-Chain Based Secure Notarization System</a:t>
            </a:r>
            <a:endParaRPr lang="en-US" sz="2800" dirty="0"/>
          </a:p>
        </p:txBody>
      </p:sp>
      <p:sp>
        <p:nvSpPr>
          <p:cNvPr id="9" name="Text 6"/>
          <p:cNvSpPr/>
          <p:nvPr/>
        </p:nvSpPr>
        <p:spPr>
          <a:xfrm>
            <a:off x="731520" y="2926080"/>
            <a:ext cx="7680960" cy="320040"/>
          </a:xfrm>
          <a:prstGeom prst="rect">
            <a:avLst/>
          </a:prstGeom>
          <a:noFill/>
          <a:ln/>
        </p:spPr>
        <p:txBody>
          <a:bodyPr wrap="square" rtlCol="0" anchor="ctr"/>
          <a:lstStyle/>
          <a:p>
            <a:pPr algn="l" indent="0" marL="0">
              <a:buNone/>
            </a:pPr>
            <a:r>
              <a:rPr lang="en-US" sz="1250" i="1" dirty="0">
                <a:solidFill>
                  <a:srgbClr val="64748B"/>
                </a:solidFill>
                <a:latin typeface="Calibri" pitchFamily="34" charset="0"/>
                <a:ea typeface="Calibri" pitchFamily="34" charset="-122"/>
                <a:cs typeface="Calibri" pitchFamily="34" charset="-120"/>
              </a:rPr>
              <a:t>BBSNS: A Zero-Trust, Decentralized Identity and Verification Architecture</a:t>
            </a:r>
            <a:endParaRPr lang="en-US" sz="1250" dirty="0"/>
          </a:p>
        </p:txBody>
      </p:sp>
      <p:sp>
        <p:nvSpPr>
          <p:cNvPr id="10" name="Shape 7"/>
          <p:cNvSpPr/>
          <p:nvPr/>
        </p:nvSpPr>
        <p:spPr>
          <a:xfrm>
            <a:off x="731520" y="3429000"/>
            <a:ext cx="7680960" cy="0"/>
          </a:xfrm>
          <a:prstGeom prst="line">
            <a:avLst/>
          </a:prstGeom>
          <a:noFill/>
          <a:ln w="12700">
            <a:solidFill>
              <a:srgbClr val="CBD5E1"/>
            </a:solidFill>
            <a:prstDash val="solid"/>
          </a:ln>
        </p:spPr>
      </p:sp>
      <p:sp>
        <p:nvSpPr>
          <p:cNvPr id="11" name="Text 8"/>
          <p:cNvSpPr/>
          <p:nvPr/>
        </p:nvSpPr>
        <p:spPr>
          <a:xfrm>
            <a:off x="731520" y="3566160"/>
            <a:ext cx="3657600" cy="731520"/>
          </a:xfrm>
          <a:prstGeom prst="rect">
            <a:avLst/>
          </a:prstGeom>
          <a:noFill/>
          <a:ln/>
        </p:spPr>
        <p:txBody>
          <a:bodyPr wrap="square" rtlCol="0" anchor="ctr"/>
          <a:lstStyle/>
          <a:p>
            <a:pPr indent="0" marL="0">
              <a:buNone/>
            </a:pPr>
            <a:r>
              <a:rPr lang="en-US" sz="1000" dirty="0">
                <a:solidFill>
                  <a:srgbClr val="334155"/>
                </a:solidFill>
                <a:latin typeface="Calibri" pitchFamily="34" charset="0"/>
                <a:ea typeface="Calibri" pitchFamily="34" charset="-122"/>
                <a:cs typeface="Calibri" pitchFamily="34" charset="-120"/>
              </a:rPr>
              <a:t>Presented By:</a:t>
            </a:r>
            <a:endParaRPr lang="en-US" sz="1000" dirty="0"/>
          </a:p>
          <a:p>
            <a:pPr indent="0" marL="0">
              <a:buNone/>
            </a:pPr>
            <a:r>
              <a:rPr lang="en-US" sz="1000" dirty="0">
                <a:solidFill>
                  <a:srgbClr val="334155"/>
                </a:solidFill>
                <a:latin typeface="Calibri" pitchFamily="34" charset="0"/>
                <a:ea typeface="Calibri" pitchFamily="34" charset="-122"/>
                <a:cs typeface="Calibri" pitchFamily="34" charset="-120"/>
              </a:rPr>
              <a:t>Adhude Ganesh Sanjay [B400580365]</a:t>
            </a:r>
            <a:endParaRPr lang="en-US" sz="1000" dirty="0"/>
          </a:p>
          <a:p>
            <a:pPr indent="0" marL="0">
              <a:buNone/>
            </a:pPr>
            <a:r>
              <a:rPr lang="en-US" sz="1000" dirty="0">
                <a:solidFill>
                  <a:srgbClr val="334155"/>
                </a:solidFill>
                <a:latin typeface="Calibri" pitchFamily="34" charset="0"/>
                <a:ea typeface="Calibri" pitchFamily="34" charset="-122"/>
                <a:cs typeface="Calibri" pitchFamily="34" charset="-120"/>
              </a:rPr>
              <a:t>Mate Shubham Vilas [B400580398]</a:t>
            </a:r>
            <a:endParaRPr lang="en-US" sz="1000" dirty="0"/>
          </a:p>
        </p:txBody>
      </p:sp>
      <p:sp>
        <p:nvSpPr>
          <p:cNvPr id="12" name="Text 9"/>
          <p:cNvSpPr/>
          <p:nvPr/>
        </p:nvSpPr>
        <p:spPr>
          <a:xfrm>
            <a:off x="4389120" y="3566160"/>
            <a:ext cx="3657600" cy="731520"/>
          </a:xfrm>
          <a:prstGeom prst="rect">
            <a:avLst/>
          </a:prstGeom>
          <a:noFill/>
          <a:ln/>
        </p:spPr>
        <p:txBody>
          <a:bodyPr wrap="square" rtlCol="0" anchor="ctr"/>
          <a:lstStyle/>
          <a:p>
            <a:pPr indent="0" marL="0">
              <a:buNone/>
            </a:pPr>
            <a:endParaRPr lang="en-US" sz="1000" dirty="0"/>
          </a:p>
          <a:p>
            <a:pPr indent="0" marL="0">
              <a:buNone/>
            </a:pPr>
            <a:r>
              <a:rPr lang="en-US" sz="1000" dirty="0">
                <a:solidFill>
                  <a:srgbClr val="334155"/>
                </a:solidFill>
                <a:latin typeface="Calibri" pitchFamily="34" charset="0"/>
                <a:ea typeface="Calibri" pitchFamily="34" charset="-122"/>
                <a:cs typeface="Calibri" pitchFamily="34" charset="-120"/>
              </a:rPr>
              <a:t>Shaikh Humera Ibrahim [B400580414]</a:t>
            </a:r>
            <a:endParaRPr lang="en-US" sz="1000" dirty="0"/>
          </a:p>
          <a:p>
            <a:pPr indent="0" marL="0">
              <a:buNone/>
            </a:pPr>
            <a:r>
              <a:rPr lang="en-US" sz="1000" dirty="0">
                <a:solidFill>
                  <a:srgbClr val="334155"/>
                </a:solidFill>
                <a:latin typeface="Calibri" pitchFamily="34" charset="0"/>
                <a:ea typeface="Calibri" pitchFamily="34" charset="-122"/>
                <a:cs typeface="Calibri" pitchFamily="34" charset="-120"/>
              </a:rPr>
              <a:t>Shivale Bhakti Bhagwan [B400580419]</a:t>
            </a:r>
            <a:endParaRPr lang="en-US" sz="1000" dirty="0"/>
          </a:p>
        </p:txBody>
      </p:sp>
      <p:sp>
        <p:nvSpPr>
          <p:cNvPr id="13" name="Text 10"/>
          <p:cNvSpPr/>
          <p:nvPr/>
        </p:nvSpPr>
        <p:spPr>
          <a:xfrm>
            <a:off x="731520" y="4434840"/>
            <a:ext cx="7680960" cy="274320"/>
          </a:xfrm>
          <a:prstGeom prst="rect">
            <a:avLst/>
          </a:prstGeom>
          <a:noFill/>
          <a:ln/>
        </p:spPr>
        <p:txBody>
          <a:bodyPr wrap="square" rtlCol="0" anchor="ctr"/>
          <a:lstStyle/>
          <a:p>
            <a:pPr indent="0" marL="0">
              <a:buNone/>
            </a:pPr>
            <a:r>
              <a:rPr lang="en-US" sz="1050" b="1" dirty="0">
                <a:solidFill>
                  <a:srgbClr val="1E3A8A"/>
                </a:solidFill>
                <a:latin typeface="Calibri" pitchFamily="34" charset="0"/>
                <a:ea typeface="Calibri" pitchFamily="34" charset="-122"/>
                <a:cs typeface="Calibri" pitchFamily="34" charset="-120"/>
              </a:rPr>
              <a:t>Under the Guidance of: Mrs. Riya B. Shikare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274320"/>
            <a:ext cx="77724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01. Agenda &amp; Table of Contents</a:t>
            </a:r>
            <a:endParaRPr lang="en-US" sz="1800" dirty="0"/>
          </a:p>
        </p:txBody>
      </p:sp>
      <p:sp>
        <p:nvSpPr>
          <p:cNvPr id="3" name="Shape 1"/>
          <p:cNvSpPr/>
          <p:nvPr/>
        </p:nvSpPr>
        <p:spPr>
          <a:xfrm>
            <a:off x="365760" y="777240"/>
            <a:ext cx="841248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229600" y="137160"/>
            <a:ext cx="594360" cy="594360"/>
          </a:xfrm>
          <a:prstGeom prst="rect">
            <a:avLst/>
          </a:prstGeom>
        </p:spPr>
      </p:pic>
      <p:sp>
        <p:nvSpPr>
          <p:cNvPr id="5" name="Text 2"/>
          <p:cNvSpPr/>
          <p:nvPr/>
        </p:nvSpPr>
        <p:spPr>
          <a:xfrm>
            <a:off x="36576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804672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2</a:t>
            </a:r>
            <a:endParaRPr lang="en-US" sz="850" dirty="0"/>
          </a:p>
        </p:txBody>
      </p:sp>
      <p:sp>
        <p:nvSpPr>
          <p:cNvPr id="7" name="Shape 4"/>
          <p:cNvSpPr/>
          <p:nvPr/>
        </p:nvSpPr>
        <p:spPr>
          <a:xfrm>
            <a:off x="365760" y="1005840"/>
            <a:ext cx="4023360" cy="3474720"/>
          </a:xfrm>
          <a:prstGeom prst="rect">
            <a:avLst/>
          </a:prstGeom>
          <a:solidFill>
            <a:srgbClr val="FFFFFF"/>
          </a:solidFill>
          <a:ln w="12700">
            <a:solidFill>
              <a:srgbClr val="CBD5E1"/>
            </a:solidFill>
            <a:prstDash val="solid"/>
          </a:ln>
        </p:spPr>
      </p:sp>
      <p:sp>
        <p:nvSpPr>
          <p:cNvPr id="8" name="Shape 5"/>
          <p:cNvSpPr/>
          <p:nvPr/>
        </p:nvSpPr>
        <p:spPr>
          <a:xfrm>
            <a:off x="365760" y="1005840"/>
            <a:ext cx="4023360" cy="73152"/>
          </a:xfrm>
          <a:prstGeom prst="rect">
            <a:avLst/>
          </a:prstGeom>
          <a:solidFill>
            <a:srgbClr val="1E3A8A"/>
          </a:solidFill>
          <a:ln w="12700">
            <a:solidFill>
              <a:srgbClr val="1E3A8A"/>
            </a:solidFill>
            <a:prstDash val="solid"/>
          </a:ln>
        </p:spPr>
      </p:sp>
      <p:sp>
        <p:nvSpPr>
          <p:cNvPr id="9" name="Text 6"/>
          <p:cNvSpPr/>
          <p:nvPr/>
        </p:nvSpPr>
        <p:spPr>
          <a:xfrm>
            <a:off x="502920" y="1143000"/>
            <a:ext cx="3749040" cy="274320"/>
          </a:xfrm>
          <a:prstGeom prst="rect">
            <a:avLst/>
          </a:prstGeom>
          <a:noFill/>
          <a:ln/>
        </p:spPr>
        <p:txBody>
          <a:bodyPr wrap="square" rtlCol="0" anchor="t"/>
          <a:lstStyle/>
          <a:p>
            <a:pPr indent="0" marL="0">
              <a:buNone/>
            </a:pPr>
            <a:r>
              <a:rPr lang="en-US" sz="1200" b="1" dirty="0">
                <a:solidFill>
                  <a:srgbClr val="1E3A8A"/>
                </a:solidFill>
                <a:latin typeface="Calibri" pitchFamily="34" charset="0"/>
                <a:ea typeface="Calibri" pitchFamily="34" charset="-122"/>
                <a:cs typeface="Calibri" pitchFamily="34" charset="-120"/>
              </a:rPr>
              <a:t>Opening &amp; Research</a:t>
            </a:r>
            <a:endParaRPr lang="en-US" sz="1200" dirty="0"/>
          </a:p>
        </p:txBody>
      </p:sp>
      <p:sp>
        <p:nvSpPr>
          <p:cNvPr id="10" name="Text 7"/>
          <p:cNvSpPr/>
          <p:nvPr/>
        </p:nvSpPr>
        <p:spPr>
          <a:xfrm>
            <a:off x="502920" y="1463040"/>
            <a:ext cx="3749040" cy="2926080"/>
          </a:xfrm>
          <a:prstGeom prst="rect">
            <a:avLst/>
          </a:prstGeom>
          <a:noFill/>
          <a:ln/>
        </p:spPr>
        <p:txBody>
          <a:bodyPr wrap="square" lIns="63500" tIns="63500" rIns="63500" bIns="63500" rtlCol="0" anchor="t"/>
          <a:lstStyle/>
          <a:p>
            <a:r>
              <a:rPr lang="en-US" sz="1200" dirty="0">
                <a:solidFill>
                  <a:srgbClr val="334155"/>
                </a:solidFill>
                <a:latin typeface="Calibri" pitchFamily="34" charset="0"/>
                <a:ea typeface="Calibri" pitchFamily="34" charset="-122"/>
                <a:cs typeface="Calibri" pitchFamily="34" charset="-120"/>
              </a:rPr>
              <a:t>1. Introduction &amp; Background</a:t>
            </a:r>
            <a:endParaRPr lang="en-US" sz="1200" dirty="0"/>
          </a:p>
          <a:p>
            <a:r>
              <a:rPr lang="en-US" sz="1200" dirty="0">
                <a:solidFill>
                  <a:srgbClr val="334155"/>
                </a:solidFill>
                <a:latin typeface="Calibri" pitchFamily="34" charset="0"/>
                <a:ea typeface="Calibri" pitchFamily="34" charset="-122"/>
                <a:cs typeface="Calibri" pitchFamily="34" charset="-120"/>
              </a:rPr>
              <a:t>2. Problem Statement</a:t>
            </a:r>
            <a:endParaRPr lang="en-US" sz="1200" dirty="0"/>
          </a:p>
          <a:p>
            <a:r>
              <a:rPr lang="en-US" sz="1200" dirty="0">
                <a:solidFill>
                  <a:srgbClr val="334155"/>
                </a:solidFill>
                <a:latin typeface="Calibri" pitchFamily="34" charset="0"/>
                <a:ea typeface="Calibri" pitchFamily="34" charset="-122"/>
                <a:cs typeface="Calibri" pitchFamily="34" charset="-120"/>
              </a:rPr>
              <a:t>3. Certificate of Project</a:t>
            </a:r>
            <a:endParaRPr lang="en-US" sz="1200" dirty="0"/>
          </a:p>
          <a:p>
            <a:r>
              <a:rPr lang="en-US" sz="1200" dirty="0">
                <a:solidFill>
                  <a:srgbClr val="334155"/>
                </a:solidFill>
                <a:latin typeface="Calibri" pitchFamily="34" charset="0"/>
                <a:ea typeface="Calibri" pitchFamily="34" charset="-122"/>
                <a:cs typeface="Calibri" pitchFamily="34" charset="-120"/>
              </a:rPr>
              <a:t>4. Literature Survey Table</a:t>
            </a:r>
            <a:endParaRPr lang="en-US" sz="1200" dirty="0"/>
          </a:p>
          <a:p>
            <a:r>
              <a:rPr lang="en-US" sz="1200" dirty="0">
                <a:solidFill>
                  <a:srgbClr val="334155"/>
                </a:solidFill>
                <a:latin typeface="Calibri" pitchFamily="34" charset="0"/>
                <a:ea typeface="Calibri" pitchFamily="34" charset="-122"/>
                <a:cs typeface="Calibri" pitchFamily="34" charset="-120"/>
              </a:rPr>
              <a:t>5. Project Objectives</a:t>
            </a:r>
            <a:endParaRPr lang="en-US" sz="1200" dirty="0"/>
          </a:p>
          <a:p>
            <a:r>
              <a:rPr lang="en-US" sz="1200" dirty="0">
                <a:solidFill>
                  <a:srgbClr val="334155"/>
                </a:solidFill>
                <a:latin typeface="Calibri" pitchFamily="34" charset="0"/>
                <a:ea typeface="Calibri" pitchFamily="34" charset="-122"/>
                <a:cs typeface="Calibri" pitchFamily="34" charset="-120"/>
              </a:rPr>
              <a:t>6. System Architecture</a:t>
            </a:r>
            <a:endParaRPr lang="en-US" sz="1200" dirty="0"/>
          </a:p>
          <a:p>
            <a:r>
              <a:rPr lang="en-US" sz="1200" dirty="0">
                <a:solidFill>
                  <a:srgbClr val="334155"/>
                </a:solidFill>
                <a:latin typeface="Calibri" pitchFamily="34" charset="0"/>
                <a:ea typeface="Calibri" pitchFamily="34" charset="-122"/>
                <a:cs typeface="Calibri" pitchFamily="34" charset="-120"/>
              </a:rPr>
              <a:t>7. Data Flow Diagrams (DFD L0 &amp; L1)</a:t>
            </a:r>
            <a:endParaRPr lang="en-US" sz="1200" dirty="0"/>
          </a:p>
        </p:txBody>
      </p:sp>
      <p:sp>
        <p:nvSpPr>
          <p:cNvPr id="11" name="Shape 8"/>
          <p:cNvSpPr/>
          <p:nvPr/>
        </p:nvSpPr>
        <p:spPr>
          <a:xfrm>
            <a:off x="4572000" y="1005840"/>
            <a:ext cx="4206240" cy="3474720"/>
          </a:xfrm>
          <a:prstGeom prst="rect">
            <a:avLst/>
          </a:prstGeom>
          <a:solidFill>
            <a:srgbClr val="FFFFFF"/>
          </a:solidFill>
          <a:ln w="12700">
            <a:solidFill>
              <a:srgbClr val="CBD5E1"/>
            </a:solidFill>
            <a:prstDash val="solid"/>
          </a:ln>
        </p:spPr>
      </p:sp>
      <p:sp>
        <p:nvSpPr>
          <p:cNvPr id="12" name="Shape 9"/>
          <p:cNvSpPr/>
          <p:nvPr/>
        </p:nvSpPr>
        <p:spPr>
          <a:xfrm>
            <a:off x="4572000" y="1005840"/>
            <a:ext cx="4206240" cy="73152"/>
          </a:xfrm>
          <a:prstGeom prst="rect">
            <a:avLst/>
          </a:prstGeom>
          <a:solidFill>
            <a:srgbClr val="3B82F6"/>
          </a:solidFill>
          <a:ln w="12700">
            <a:solidFill>
              <a:srgbClr val="3B82F6"/>
            </a:solidFill>
            <a:prstDash val="solid"/>
          </a:ln>
        </p:spPr>
      </p:sp>
      <p:sp>
        <p:nvSpPr>
          <p:cNvPr id="13" name="Text 10"/>
          <p:cNvSpPr/>
          <p:nvPr/>
        </p:nvSpPr>
        <p:spPr>
          <a:xfrm>
            <a:off x="4709160" y="1143000"/>
            <a:ext cx="3931920" cy="274320"/>
          </a:xfrm>
          <a:prstGeom prst="rect">
            <a:avLst/>
          </a:prstGeom>
          <a:noFill/>
          <a:ln/>
        </p:spPr>
        <p:txBody>
          <a:bodyPr wrap="square" rtlCol="0" anchor="t"/>
          <a:lstStyle/>
          <a:p>
            <a:pPr indent="0" marL="0">
              <a:buNone/>
            </a:pPr>
            <a:r>
              <a:rPr lang="en-US" sz="1200" b="1" dirty="0">
                <a:solidFill>
                  <a:srgbClr val="3B82F6"/>
                </a:solidFill>
                <a:latin typeface="Calibri" pitchFamily="34" charset="0"/>
                <a:ea typeface="Calibri" pitchFamily="34" charset="-122"/>
                <a:cs typeface="Calibri" pitchFamily="34" charset="-120"/>
              </a:rPr>
              <a:t>Design, Execution &amp; Proofs</a:t>
            </a:r>
            <a:endParaRPr lang="en-US" sz="1200" dirty="0"/>
          </a:p>
        </p:txBody>
      </p:sp>
      <p:sp>
        <p:nvSpPr>
          <p:cNvPr id="14" name="Text 11"/>
          <p:cNvSpPr/>
          <p:nvPr/>
        </p:nvSpPr>
        <p:spPr>
          <a:xfrm>
            <a:off x="4709160" y="1463040"/>
            <a:ext cx="3931920" cy="2926080"/>
          </a:xfrm>
          <a:prstGeom prst="rect">
            <a:avLst/>
          </a:prstGeom>
          <a:noFill/>
          <a:ln/>
        </p:spPr>
        <p:txBody>
          <a:bodyPr wrap="square" lIns="63500" tIns="63500" rIns="63500" bIns="63500" rtlCol="0" anchor="t"/>
          <a:lstStyle/>
          <a:p>
            <a:r>
              <a:rPr lang="en-US" sz="1200" dirty="0">
                <a:solidFill>
                  <a:srgbClr val="334155"/>
                </a:solidFill>
                <a:latin typeface="Calibri" pitchFamily="34" charset="0"/>
                <a:ea typeface="Calibri" pitchFamily="34" charset="-122"/>
                <a:cs typeface="Calibri" pitchFamily="34" charset="-120"/>
              </a:rPr>
              <a:t>8. AI / Smart Feature Breakdown</a:t>
            </a:r>
            <a:endParaRPr lang="en-US" sz="1200" dirty="0"/>
          </a:p>
          <a:p>
            <a:r>
              <a:rPr lang="en-US" sz="1200" dirty="0">
                <a:solidFill>
                  <a:srgbClr val="334155"/>
                </a:solidFill>
                <a:latin typeface="Calibri" pitchFamily="34" charset="0"/>
                <a:ea typeface="Calibri" pitchFamily="34" charset="-122"/>
                <a:cs typeface="Calibri" pitchFamily="34" charset="-120"/>
              </a:rPr>
              <a:t>9. Requirement Specifications</a:t>
            </a:r>
            <a:endParaRPr lang="en-US" sz="1200" dirty="0"/>
          </a:p>
          <a:p>
            <a:r>
              <a:rPr lang="en-US" sz="1200" dirty="0">
                <a:solidFill>
                  <a:srgbClr val="334155"/>
                </a:solidFill>
                <a:latin typeface="Calibri" pitchFamily="34" charset="0"/>
                <a:ea typeface="Calibri" pitchFamily="34" charset="-122"/>
                <a:cs typeface="Calibri" pitchFamily="34" charset="-120"/>
              </a:rPr>
              <a:t>10. Technical Stack Details</a:t>
            </a:r>
            <a:endParaRPr lang="en-US" sz="1200" dirty="0"/>
          </a:p>
          <a:p>
            <a:r>
              <a:rPr lang="en-US" sz="1200" dirty="0">
                <a:solidFill>
                  <a:srgbClr val="334155"/>
                </a:solidFill>
                <a:latin typeface="Calibri" pitchFamily="34" charset="0"/>
                <a:ea typeface="Calibri" pitchFamily="34" charset="-122"/>
                <a:cs typeface="Calibri" pitchFamily="34" charset="-120"/>
              </a:rPr>
              <a:t>11. Algorithms &amp; Models Overview</a:t>
            </a:r>
            <a:endParaRPr lang="en-US" sz="1200" dirty="0"/>
          </a:p>
          <a:p>
            <a:r>
              <a:rPr lang="en-US" sz="1200" dirty="0">
                <a:solidFill>
                  <a:srgbClr val="334155"/>
                </a:solidFill>
                <a:latin typeface="Calibri" pitchFamily="34" charset="0"/>
                <a:ea typeface="Calibri" pitchFamily="34" charset="-122"/>
                <a:cs typeface="Calibri" pitchFamily="34" charset="-120"/>
              </a:rPr>
              <a:t>12. Development Methodology</a:t>
            </a:r>
            <a:endParaRPr lang="en-US" sz="1200" dirty="0"/>
          </a:p>
          <a:p>
            <a:r>
              <a:rPr lang="en-US" sz="1200" dirty="0">
                <a:solidFill>
                  <a:srgbClr val="334155"/>
                </a:solidFill>
                <a:latin typeface="Calibri" pitchFamily="34" charset="0"/>
                <a:ea typeface="Calibri" pitchFamily="34" charset="-122"/>
                <a:cs typeface="Calibri" pitchFamily="34" charset="-120"/>
              </a:rPr>
              <a:t>13. Project Features &amp; Advantages</a:t>
            </a:r>
            <a:endParaRPr lang="en-US" sz="1200" dirty="0"/>
          </a:p>
          <a:p>
            <a:r>
              <a:rPr lang="en-US" sz="1200" dirty="0">
                <a:solidFill>
                  <a:srgbClr val="334155"/>
                </a:solidFill>
                <a:latin typeface="Calibri" pitchFamily="34" charset="0"/>
                <a:ea typeface="Calibri" pitchFamily="34" charset="-122"/>
                <a:cs typeface="Calibri" pitchFamily="34" charset="-120"/>
              </a:rPr>
              <a:t>14. Working Outputs &amp; References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3A8A"/>
        </a:solidFill>
      </p:bgPr>
    </p:bg>
    <p:spTree>
      <p:nvGrpSpPr>
        <p:cNvPr id="1" name=""/>
        <p:cNvGrpSpPr/>
        <p:nvPr/>
      </p:nvGrpSpPr>
      <p:grpSpPr>
        <a:xfrm>
          <a:off x="0" y="0"/>
          <a:ext cx="0" cy="0"/>
          <a:chOff x="0" y="0"/>
          <a:chExt cx="0" cy="0"/>
        </a:xfrm>
      </p:grpSpPr>
      <p:sp>
        <p:nvSpPr>
          <p:cNvPr id="2" name="Text 0"/>
          <p:cNvSpPr/>
          <p:nvPr/>
        </p:nvSpPr>
        <p:spPr>
          <a:xfrm>
            <a:off x="365760" y="1371600"/>
            <a:ext cx="8412480" cy="365760"/>
          </a:xfrm>
          <a:prstGeom prst="rect">
            <a:avLst/>
          </a:prstGeom>
          <a:noFill/>
          <a:ln/>
        </p:spPr>
        <p:txBody>
          <a:bodyPr wrap="square" rtlCol="0" anchor="ctr"/>
          <a:lstStyle/>
          <a:p>
            <a:pPr algn="ctr" indent="0" marL="0">
              <a:buNone/>
            </a:pPr>
            <a:r>
              <a:rPr lang="en-US" sz="1600" b="1" dirty="0">
                <a:solidFill>
                  <a:srgbClr val="93C5FD"/>
                </a:solidFill>
                <a:latin typeface="Calibri" pitchFamily="34" charset="0"/>
                <a:ea typeface="Calibri" pitchFamily="34" charset="-122"/>
                <a:cs typeface="Calibri" pitchFamily="34" charset="-120"/>
              </a:rPr>
              <a:t>SECTION 01</a:t>
            </a:r>
            <a:endParaRPr lang="en-US" sz="1600" dirty="0"/>
          </a:p>
        </p:txBody>
      </p:sp>
      <p:sp>
        <p:nvSpPr>
          <p:cNvPr id="3" name="Text 1"/>
          <p:cNvSpPr/>
          <p:nvPr/>
        </p:nvSpPr>
        <p:spPr>
          <a:xfrm>
            <a:off x="365760" y="1828800"/>
            <a:ext cx="8412480" cy="73152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Introduction, Objectives &amp; Research Survey</a:t>
            </a:r>
            <a:endParaRPr lang="en-US" sz="3200" dirty="0"/>
          </a:p>
        </p:txBody>
      </p:sp>
      <p:sp>
        <p:nvSpPr>
          <p:cNvPr id="4" name="Text 2"/>
          <p:cNvSpPr/>
          <p:nvPr/>
        </p:nvSpPr>
        <p:spPr>
          <a:xfrm>
            <a:off x="365760" y="2651760"/>
            <a:ext cx="8412480" cy="457200"/>
          </a:xfrm>
          <a:prstGeom prst="rect">
            <a:avLst/>
          </a:prstGeom>
          <a:noFill/>
          <a:ln/>
        </p:spPr>
        <p:txBody>
          <a:bodyPr wrap="square" rtlCol="0" anchor="ctr"/>
          <a:lstStyle/>
          <a:p>
            <a:pPr algn="ctr" indent="0" marL="0">
              <a:buNone/>
            </a:pPr>
            <a:r>
              <a:rPr lang="en-US" sz="1300" i="1" dirty="0">
                <a:solidFill>
                  <a:srgbClr val="CBD5E1"/>
                </a:solidFill>
                <a:latin typeface="Calibri" pitchFamily="34" charset="0"/>
                <a:ea typeface="Calibri" pitchFamily="34" charset="-122"/>
                <a:cs typeface="Calibri" pitchFamily="34" charset="-120"/>
              </a:rPr>
              <a:t>Problem definition, literature audit, and system goals definition</a:t>
            </a:r>
            <a:endParaRPr lang="en-US" sz="1300" dirty="0"/>
          </a:p>
        </p:txBody>
      </p:sp>
      <p:sp>
        <p:nvSpPr>
          <p:cNvPr id="5" name="Shape 3"/>
          <p:cNvSpPr/>
          <p:nvPr/>
        </p:nvSpPr>
        <p:spPr>
          <a:xfrm>
            <a:off x="3200400" y="3291840"/>
            <a:ext cx="2743200" cy="0"/>
          </a:xfrm>
          <a:prstGeom prst="line">
            <a:avLst/>
          </a:prstGeom>
          <a:noFill/>
          <a:ln w="12700">
            <a:solidFill>
              <a:srgbClr val="F59E0B"/>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274320"/>
            <a:ext cx="77724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Matoshri College of Engineering &amp; Research Centre</a:t>
            </a:r>
            <a:endParaRPr lang="en-US" sz="1800" dirty="0"/>
          </a:p>
        </p:txBody>
      </p:sp>
      <p:sp>
        <p:nvSpPr>
          <p:cNvPr id="3" name="Shape 1"/>
          <p:cNvSpPr/>
          <p:nvPr/>
        </p:nvSpPr>
        <p:spPr>
          <a:xfrm>
            <a:off x="365760" y="777240"/>
            <a:ext cx="841248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229600" y="137160"/>
            <a:ext cx="594360" cy="594360"/>
          </a:xfrm>
          <a:prstGeom prst="rect">
            <a:avLst/>
          </a:prstGeom>
        </p:spPr>
      </p:pic>
      <p:sp>
        <p:nvSpPr>
          <p:cNvPr id="5" name="Text 2"/>
          <p:cNvSpPr/>
          <p:nvPr/>
        </p:nvSpPr>
        <p:spPr>
          <a:xfrm>
            <a:off x="36576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804672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4</a:t>
            </a:r>
            <a:endParaRPr lang="en-US" sz="850" dirty="0"/>
          </a:p>
        </p:txBody>
      </p:sp>
      <p:sp>
        <p:nvSpPr>
          <p:cNvPr id="7" name="Text 4"/>
          <p:cNvSpPr/>
          <p:nvPr/>
        </p:nvSpPr>
        <p:spPr>
          <a:xfrm>
            <a:off x="365760" y="914400"/>
            <a:ext cx="8412480" cy="274320"/>
          </a:xfrm>
          <a:prstGeom prst="rect">
            <a:avLst/>
          </a:prstGeom>
          <a:noFill/>
          <a:ln/>
        </p:spPr>
        <p:txBody>
          <a:bodyPr wrap="square"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DEPARTMENT OF COMPUTER ENGINEERING</a:t>
            </a:r>
            <a:endParaRPr lang="en-US" sz="1200" dirty="0"/>
          </a:p>
        </p:txBody>
      </p:sp>
      <p:sp>
        <p:nvSpPr>
          <p:cNvPr id="8" name="Text 5"/>
          <p:cNvSpPr/>
          <p:nvPr/>
        </p:nvSpPr>
        <p:spPr>
          <a:xfrm>
            <a:off x="365760" y="1188720"/>
            <a:ext cx="8412480" cy="365760"/>
          </a:xfrm>
          <a:prstGeom prst="rect">
            <a:avLst/>
          </a:prstGeom>
          <a:noFill/>
          <a:ln/>
        </p:spPr>
        <p:txBody>
          <a:bodyPr wrap="square" rtlCol="0" anchor="ctr"/>
          <a:lstStyle/>
          <a:p>
            <a:pPr algn="ctr" indent="0" marL="0">
              <a:buNone/>
            </a:pPr>
            <a:r>
              <a:rPr lang="en-US" sz="2000" b="1" dirty="0">
                <a:solidFill>
                  <a:srgbClr val="1E3A8A"/>
                </a:solidFill>
                <a:latin typeface="Calibri" pitchFamily="34" charset="0"/>
                <a:ea typeface="Calibri" pitchFamily="34" charset="-122"/>
                <a:cs typeface="Calibri" pitchFamily="34" charset="-120"/>
              </a:rPr>
              <a:t>CERTIFICATE</a:t>
            </a:r>
            <a:endParaRPr lang="en-US" sz="2000" dirty="0"/>
          </a:p>
        </p:txBody>
      </p:sp>
      <p:sp>
        <p:nvSpPr>
          <p:cNvPr id="9" name="Text 6"/>
          <p:cNvSpPr/>
          <p:nvPr/>
        </p:nvSpPr>
        <p:spPr>
          <a:xfrm>
            <a:off x="731520" y="1645920"/>
            <a:ext cx="7680960" cy="1280160"/>
          </a:xfrm>
          <a:prstGeom prst="rect">
            <a:avLst/>
          </a:prstGeom>
          <a:noFill/>
          <a:ln/>
        </p:spPr>
        <p:txBody>
          <a:bodyPr wrap="square" rtlCol="0" anchor="ctr"/>
          <a:lstStyle/>
          <a:p>
            <a:pPr algn="just" indent="0" marL="0">
              <a:lnSpc>
                <a:spcPts val="2200"/>
              </a:lnSpc>
              <a:buNone/>
            </a:pPr>
            <a:r>
              <a:rPr lang="en-US" sz="1150" dirty="0">
                <a:solidFill>
                  <a:srgbClr val="334155"/>
                </a:solidFill>
                <a:latin typeface="Calibri" pitchFamily="34" charset="0"/>
                <a:ea typeface="Calibri" pitchFamily="34" charset="-122"/>
                <a:cs typeface="Calibri" pitchFamily="34" charset="-120"/>
              </a:rPr>
              <a:t>This is to certify that the project report entitled "Block-Chain Based Secure Notarization System" is a bonafide work carried out by Adhude Ganesh Sanjay, Mate Shubham Vilas, Shaikh Humera Ibrahim, Shivale Bhakti Bhagwan in partial fulfillment of the requirements for the degree of Bachelor of Engineering in Computer Engineering under the University of Pune during the academic year 2025-26.</a:t>
            </a:r>
            <a:endParaRPr lang="en-US" sz="1150" dirty="0"/>
          </a:p>
        </p:txBody>
      </p:sp>
      <p:sp>
        <p:nvSpPr>
          <p:cNvPr id="10" name="Text 7"/>
          <p:cNvSpPr/>
          <p:nvPr/>
        </p:nvSpPr>
        <p:spPr>
          <a:xfrm>
            <a:off x="731520" y="3474720"/>
            <a:ext cx="2286000" cy="548640"/>
          </a:xfrm>
          <a:prstGeom prst="rect">
            <a:avLst/>
          </a:prstGeom>
          <a:noFill/>
          <a:ln/>
        </p:spPr>
        <p:txBody>
          <a:bodyPr wrap="square" rtlCol="0" anchor="ctr"/>
          <a:lstStyle/>
          <a:p>
            <a:pPr algn="ctr" indent="0" marL="0">
              <a:buNone/>
            </a:pPr>
            <a:r>
              <a:rPr lang="en-US" sz="1000" b="1" dirty="0">
                <a:solidFill>
                  <a:srgbClr val="0F172A"/>
                </a:solidFill>
                <a:latin typeface="Calibri" pitchFamily="34" charset="0"/>
                <a:ea typeface="Calibri" pitchFamily="34" charset="-122"/>
                <a:cs typeface="Calibri" pitchFamily="34" charset="-120"/>
              </a:rPr>
              <a:t>Mrs. Riya B. Shikare</a:t>
            </a:r>
            <a:endParaRPr lang="en-US" sz="1000" dirty="0"/>
          </a:p>
          <a:p>
            <a:pPr algn="ctr" indent="0" marL="0">
              <a:buNone/>
            </a:pPr>
            <a:r>
              <a:rPr lang="en-US" sz="1000" b="1" dirty="0">
                <a:solidFill>
                  <a:srgbClr val="0F172A"/>
                </a:solidFill>
                <a:latin typeface="Calibri" pitchFamily="34" charset="0"/>
                <a:ea typeface="Calibri" pitchFamily="34" charset="-122"/>
                <a:cs typeface="Calibri" pitchFamily="34" charset="-120"/>
              </a:rPr>
              <a:t>Project Guide</a:t>
            </a:r>
            <a:endParaRPr lang="en-US" sz="1000" dirty="0"/>
          </a:p>
        </p:txBody>
      </p:sp>
      <p:sp>
        <p:nvSpPr>
          <p:cNvPr id="11" name="Text 8"/>
          <p:cNvSpPr/>
          <p:nvPr/>
        </p:nvSpPr>
        <p:spPr>
          <a:xfrm>
            <a:off x="3429000" y="3474720"/>
            <a:ext cx="2286000" cy="548640"/>
          </a:xfrm>
          <a:prstGeom prst="rect">
            <a:avLst/>
          </a:prstGeom>
          <a:noFill/>
          <a:ln/>
        </p:spPr>
        <p:txBody>
          <a:bodyPr wrap="square" rtlCol="0" anchor="ctr"/>
          <a:lstStyle/>
          <a:p>
            <a:pPr algn="ctr" indent="0" marL="0">
              <a:buNone/>
            </a:pPr>
            <a:r>
              <a:rPr lang="en-US" sz="1000" b="1" dirty="0">
                <a:solidFill>
                  <a:srgbClr val="0F172A"/>
                </a:solidFill>
                <a:latin typeface="Calibri" pitchFamily="34" charset="0"/>
                <a:ea typeface="Calibri" pitchFamily="34" charset="-122"/>
                <a:cs typeface="Calibri" pitchFamily="34" charset="-120"/>
              </a:rPr>
              <a:t>Dr. V. M. Birari</a:t>
            </a:r>
            <a:endParaRPr lang="en-US" sz="1000" dirty="0"/>
          </a:p>
          <a:p>
            <a:pPr algn="ctr" indent="0" marL="0">
              <a:buNone/>
            </a:pPr>
            <a:r>
              <a:rPr lang="en-US" sz="1000" b="1" dirty="0">
                <a:solidFill>
                  <a:srgbClr val="0F172A"/>
                </a:solidFill>
                <a:latin typeface="Calibri" pitchFamily="34" charset="0"/>
                <a:ea typeface="Calibri" pitchFamily="34" charset="-122"/>
                <a:cs typeface="Calibri" pitchFamily="34" charset="-120"/>
              </a:rPr>
              <a:t>Head of Department</a:t>
            </a:r>
            <a:endParaRPr lang="en-US" sz="1000" dirty="0"/>
          </a:p>
        </p:txBody>
      </p:sp>
      <p:sp>
        <p:nvSpPr>
          <p:cNvPr id="12" name="Text 9"/>
          <p:cNvSpPr/>
          <p:nvPr/>
        </p:nvSpPr>
        <p:spPr>
          <a:xfrm>
            <a:off x="6126480" y="3474720"/>
            <a:ext cx="2286000" cy="548640"/>
          </a:xfrm>
          <a:prstGeom prst="rect">
            <a:avLst/>
          </a:prstGeom>
          <a:noFill/>
          <a:ln/>
        </p:spPr>
        <p:txBody>
          <a:bodyPr wrap="square" rtlCol="0" anchor="ctr"/>
          <a:lstStyle/>
          <a:p>
            <a:pPr algn="ctr" indent="0" marL="0">
              <a:buNone/>
            </a:pPr>
            <a:r>
              <a:rPr lang="en-US" sz="1000" b="1" dirty="0">
                <a:solidFill>
                  <a:srgbClr val="0F172A"/>
                </a:solidFill>
                <a:latin typeface="Calibri" pitchFamily="34" charset="0"/>
                <a:ea typeface="Calibri" pitchFamily="34" charset="-122"/>
                <a:cs typeface="Calibri" pitchFamily="34" charset="-120"/>
              </a:rPr>
              <a:t>Dr. G. K. Kharate</a:t>
            </a:r>
            <a:endParaRPr lang="en-US" sz="1000" dirty="0"/>
          </a:p>
          <a:p>
            <a:pPr algn="ctr" indent="0" marL="0">
              <a:buNone/>
            </a:pPr>
            <a:r>
              <a:rPr lang="en-US" sz="1000" b="1" dirty="0">
                <a:solidFill>
                  <a:srgbClr val="0F172A"/>
                </a:solidFill>
                <a:latin typeface="Calibri" pitchFamily="34" charset="0"/>
                <a:ea typeface="Calibri" pitchFamily="34" charset="-122"/>
                <a:cs typeface="Calibri" pitchFamily="34" charset="-120"/>
              </a:rPr>
              <a:t>Principal</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274320"/>
            <a:ext cx="77724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02. Introduction &amp; Background</a:t>
            </a:r>
            <a:endParaRPr lang="en-US" sz="1800" dirty="0"/>
          </a:p>
        </p:txBody>
      </p:sp>
      <p:sp>
        <p:nvSpPr>
          <p:cNvPr id="3" name="Shape 1"/>
          <p:cNvSpPr/>
          <p:nvPr/>
        </p:nvSpPr>
        <p:spPr>
          <a:xfrm>
            <a:off x="365760" y="777240"/>
            <a:ext cx="841248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229600" y="137160"/>
            <a:ext cx="594360" cy="594360"/>
          </a:xfrm>
          <a:prstGeom prst="rect">
            <a:avLst/>
          </a:prstGeom>
        </p:spPr>
      </p:pic>
      <p:sp>
        <p:nvSpPr>
          <p:cNvPr id="5" name="Text 2"/>
          <p:cNvSpPr/>
          <p:nvPr/>
        </p:nvSpPr>
        <p:spPr>
          <a:xfrm>
            <a:off x="36576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804672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5</a:t>
            </a:r>
            <a:endParaRPr lang="en-US" sz="850" dirty="0"/>
          </a:p>
        </p:txBody>
      </p:sp>
      <p:sp>
        <p:nvSpPr>
          <p:cNvPr id="7" name="Text 4"/>
          <p:cNvSpPr/>
          <p:nvPr/>
        </p:nvSpPr>
        <p:spPr>
          <a:xfrm>
            <a:off x="365760" y="1005840"/>
            <a:ext cx="8412480" cy="3474720"/>
          </a:xfrm>
          <a:prstGeom prst="rect">
            <a:avLst/>
          </a:prstGeom>
          <a:noFill/>
          <a:ln/>
        </p:spPr>
        <p:txBody>
          <a:bodyPr wrap="square" lIns="63500" tIns="63500" rIns="63500" bIns="63500" rtlCol="0" anchor="t"/>
          <a:lstStyle/>
          <a:p>
            <a:r>
              <a:rPr lang="en-US" sz="1250" b="1" dirty="0">
                <a:solidFill>
                  <a:srgbClr val="334155"/>
                </a:solidFill>
                <a:latin typeface="Calibri" pitchFamily="34" charset="0"/>
                <a:ea typeface="Calibri" pitchFamily="34" charset="-122"/>
                <a:cs typeface="Calibri" pitchFamily="34" charset="-120"/>
              </a:rPr>
              <a:t>BBSNS (Block-Chain Based Secure Notarization System) is designed to digitize the notary process.</a:t>
            </a:r>
            <a:endParaRPr lang="en-US" sz="1250" dirty="0"/>
          </a:p>
          <a:p>
            <a:r>
              <a:rPr lang="en-US" sz="1250" dirty="0">
                <a:solidFill>
                  <a:srgbClr val="334155"/>
                </a:solidFill>
                <a:latin typeface="Calibri" pitchFamily="34" charset="0"/>
                <a:ea typeface="Calibri" pitchFamily="34" charset="-122"/>
                <a:cs typeface="Calibri" pitchFamily="34" charset="-120"/>
              </a:rPr>
              <a:t>Replaces paper-based certifications with immutable cryptographic proofs stored on public blockchains.</a:t>
            </a:r>
            <a:endParaRPr lang="en-US" sz="1250" dirty="0"/>
          </a:p>
          <a:p>
            <a:r>
              <a:rPr lang="en-US" sz="1250" b="1" dirty="0">
                <a:solidFill>
                  <a:srgbClr val="1E3A8A"/>
                </a:solidFill>
                <a:latin typeface="Calibri" pitchFamily="34" charset="0"/>
                <a:ea typeface="Calibri" pitchFamily="34" charset="-122"/>
                <a:cs typeface="Calibri" pitchFamily="34" charset="-120"/>
              </a:rPr>
              <a:t>Core Architecture Principles:</a:t>
            </a:r>
            <a:endParaRPr lang="en-US" sz="1250" dirty="0"/>
          </a:p>
          <a:p>
            <a:r>
              <a:rPr lang="en-US" sz="1250" dirty="0">
                <a:solidFill>
                  <a:srgbClr val="334155"/>
                </a:solidFill>
                <a:latin typeface="Calibri" pitchFamily="34" charset="0"/>
                <a:ea typeface="Calibri" pitchFamily="34" charset="-122"/>
                <a:cs typeface="Calibri" pitchFamily="34" charset="-120"/>
              </a:rPr>
              <a:t>  • Zero-Trust Security: Authenticates every transaction on the server using ECDSA signature recovery.</a:t>
            </a:r>
            <a:endParaRPr lang="en-US" sz="1250" dirty="0"/>
          </a:p>
          <a:p>
            <a:r>
              <a:rPr lang="en-US" sz="1250" dirty="0">
                <a:solidFill>
                  <a:srgbClr val="334155"/>
                </a:solidFill>
                <a:latin typeface="Calibri" pitchFamily="34" charset="0"/>
                <a:ea typeface="Calibri" pitchFamily="34" charset="-122"/>
                <a:cs typeface="Calibri" pitchFamily="34" charset="-120"/>
              </a:rPr>
              <a:t>  • Decentralized Storage: Stores metadata on-chain and files in secure, versioned AWS S3 buckets.</a:t>
            </a:r>
            <a:endParaRPr lang="en-US" sz="1250" dirty="0"/>
          </a:p>
          <a:p>
            <a:r>
              <a:rPr lang="en-US" sz="1250" dirty="0">
                <a:solidFill>
                  <a:srgbClr val="334155"/>
                </a:solidFill>
                <a:latin typeface="Calibri" pitchFamily="34" charset="0"/>
                <a:ea typeface="Calibri" pitchFamily="34" charset="-122"/>
                <a:cs typeface="Calibri" pitchFamily="34" charset="-120"/>
              </a:rPr>
              <a:t>  • Biometric Login Gate: Notaries must pass face recognition checks to prevent credential misuse.</a:t>
            </a:r>
            <a:endParaRPr lang="en-US" sz="1250" dirty="0"/>
          </a:p>
          <a:p>
            <a:r>
              <a:rPr lang="en-US" sz="1250" dirty="0">
                <a:solidFill>
                  <a:srgbClr val="334155"/>
                </a:solidFill>
                <a:latin typeface="Calibri" pitchFamily="34" charset="0"/>
                <a:ea typeface="Calibri" pitchFamily="34" charset="-122"/>
                <a:cs typeface="Calibri" pitchFamily="34" charset="-120"/>
              </a:rPr>
              <a:t>  • Utility Token Economy: Uses NTKR token burning mechanism to govern and pay for notarization operations.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274320"/>
            <a:ext cx="77724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03. Problem Statement &amp; Challenges</a:t>
            </a:r>
            <a:endParaRPr lang="en-US" sz="1800" dirty="0"/>
          </a:p>
        </p:txBody>
      </p:sp>
      <p:sp>
        <p:nvSpPr>
          <p:cNvPr id="3" name="Shape 1"/>
          <p:cNvSpPr/>
          <p:nvPr/>
        </p:nvSpPr>
        <p:spPr>
          <a:xfrm>
            <a:off x="365760" y="777240"/>
            <a:ext cx="841248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229600" y="137160"/>
            <a:ext cx="594360" cy="594360"/>
          </a:xfrm>
          <a:prstGeom prst="rect">
            <a:avLst/>
          </a:prstGeom>
        </p:spPr>
      </p:pic>
      <p:sp>
        <p:nvSpPr>
          <p:cNvPr id="5" name="Text 2"/>
          <p:cNvSpPr/>
          <p:nvPr/>
        </p:nvSpPr>
        <p:spPr>
          <a:xfrm>
            <a:off x="36576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804672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6</a:t>
            </a:r>
            <a:endParaRPr lang="en-US" sz="850" dirty="0"/>
          </a:p>
        </p:txBody>
      </p:sp>
      <p:sp>
        <p:nvSpPr>
          <p:cNvPr id="7" name="Shape 4"/>
          <p:cNvSpPr/>
          <p:nvPr/>
        </p:nvSpPr>
        <p:spPr>
          <a:xfrm>
            <a:off x="365760" y="1005840"/>
            <a:ext cx="4023360" cy="3474720"/>
          </a:xfrm>
          <a:prstGeom prst="rect">
            <a:avLst/>
          </a:prstGeom>
          <a:solidFill>
            <a:srgbClr val="FFFFFF"/>
          </a:solidFill>
          <a:ln w="12700">
            <a:solidFill>
              <a:srgbClr val="CBD5E1"/>
            </a:solidFill>
            <a:prstDash val="solid"/>
          </a:ln>
        </p:spPr>
      </p:sp>
      <p:sp>
        <p:nvSpPr>
          <p:cNvPr id="8" name="Shape 5"/>
          <p:cNvSpPr/>
          <p:nvPr/>
        </p:nvSpPr>
        <p:spPr>
          <a:xfrm>
            <a:off x="365760" y="1005840"/>
            <a:ext cx="4023360" cy="73152"/>
          </a:xfrm>
          <a:prstGeom prst="rect">
            <a:avLst/>
          </a:prstGeom>
          <a:solidFill>
            <a:srgbClr val="EF4444"/>
          </a:solidFill>
          <a:ln w="12700">
            <a:solidFill>
              <a:srgbClr val="EF4444"/>
            </a:solidFill>
            <a:prstDash val="solid"/>
          </a:ln>
        </p:spPr>
      </p:sp>
      <p:sp>
        <p:nvSpPr>
          <p:cNvPr id="9" name="Text 6"/>
          <p:cNvSpPr/>
          <p:nvPr/>
        </p:nvSpPr>
        <p:spPr>
          <a:xfrm>
            <a:off x="502920" y="1143000"/>
            <a:ext cx="3749040" cy="274320"/>
          </a:xfrm>
          <a:prstGeom prst="rect">
            <a:avLst/>
          </a:prstGeom>
          <a:noFill/>
          <a:ln/>
        </p:spPr>
        <p:txBody>
          <a:bodyPr wrap="square" rtlCol="0" anchor="t"/>
          <a:lstStyle/>
          <a:p>
            <a:pPr indent="0" marL="0">
              <a:buNone/>
            </a:pPr>
            <a:r>
              <a:rPr lang="en-US" sz="1200" b="1" dirty="0">
                <a:solidFill>
                  <a:srgbClr val="EF4444"/>
                </a:solidFill>
                <a:latin typeface="Calibri" pitchFamily="34" charset="0"/>
                <a:ea typeface="Calibri" pitchFamily="34" charset="-122"/>
                <a:cs typeface="Calibri" pitchFamily="34" charset="-120"/>
              </a:rPr>
              <a:t>Traditional Notarization Flaws</a:t>
            </a:r>
            <a:endParaRPr lang="en-US" sz="1200" dirty="0"/>
          </a:p>
        </p:txBody>
      </p:sp>
      <p:sp>
        <p:nvSpPr>
          <p:cNvPr id="10" name="Text 7"/>
          <p:cNvSpPr/>
          <p:nvPr/>
        </p:nvSpPr>
        <p:spPr>
          <a:xfrm>
            <a:off x="502920" y="1463040"/>
            <a:ext cx="3749040" cy="2926080"/>
          </a:xfrm>
          <a:prstGeom prst="rect">
            <a:avLst/>
          </a:prstGeom>
          <a:noFill/>
          <a:ln/>
        </p:spPr>
        <p:txBody>
          <a:bodyPr wrap="square" lIns="63500" tIns="63500" rIns="63500" bIns="63500" rtlCol="0" anchor="t"/>
          <a:lstStyle/>
          <a:p>
            <a:r>
              <a:rPr lang="en-US" sz="1100" dirty="0">
                <a:solidFill>
                  <a:srgbClr val="334155"/>
                </a:solidFill>
                <a:latin typeface="Calibri" pitchFamily="34" charset="0"/>
                <a:ea typeface="Calibri" pitchFamily="34" charset="-122"/>
                <a:cs typeface="Calibri" pitchFamily="34" charset="-120"/>
              </a:rPr>
              <a:t>Physical vulnerability: Paper certificates can be easily lost, damaged, or stolen.</a:t>
            </a:r>
            <a:endParaRPr lang="en-US" sz="1100" dirty="0"/>
          </a:p>
          <a:p>
            <a:r>
              <a:rPr lang="en-US" sz="1100" dirty="0">
                <a:solidFill>
                  <a:srgbClr val="334155"/>
                </a:solidFill>
                <a:latin typeface="Calibri" pitchFamily="34" charset="0"/>
                <a:ea typeface="Calibri" pitchFamily="34" charset="-122"/>
                <a:cs typeface="Calibri" pitchFamily="34" charset="-120"/>
              </a:rPr>
              <a:t>Lack of immediate public verification: Verifying stamps/signatures requires physical archives.</a:t>
            </a:r>
            <a:endParaRPr lang="en-US" sz="1100" dirty="0"/>
          </a:p>
          <a:p>
            <a:r>
              <a:rPr lang="en-US" sz="1100" dirty="0">
                <a:solidFill>
                  <a:srgbClr val="334155"/>
                </a:solidFill>
                <a:latin typeface="Calibri" pitchFamily="34" charset="0"/>
                <a:ea typeface="Calibri" pitchFamily="34" charset="-122"/>
                <a:cs typeface="Calibri" pitchFamily="34" charset="-120"/>
              </a:rPr>
              <a:t>Susceptibility to forgery: Signature/stamps can be copied or printed illegally.</a:t>
            </a:r>
            <a:endParaRPr lang="en-US" sz="1100" dirty="0"/>
          </a:p>
          <a:p>
            <a:r>
              <a:rPr lang="en-US" sz="1100" dirty="0">
                <a:solidFill>
                  <a:srgbClr val="334155"/>
                </a:solidFill>
                <a:latin typeface="Calibri" pitchFamily="34" charset="0"/>
                <a:ea typeface="Calibri" pitchFamily="34" charset="-122"/>
                <a:cs typeface="Calibri" pitchFamily="34" charset="-120"/>
              </a:rPr>
              <a:t>Administrative overhead: Delays in queuing and manual record retrieval.</a:t>
            </a:r>
            <a:endParaRPr lang="en-US" sz="1100" dirty="0"/>
          </a:p>
          <a:p>
            <a:r>
              <a:rPr lang="en-US" sz="1100" dirty="0">
                <a:solidFill>
                  <a:srgbClr val="334155"/>
                </a:solidFill>
                <a:latin typeface="Calibri" pitchFamily="34" charset="0"/>
                <a:ea typeface="Calibri" pitchFamily="34" charset="-122"/>
                <a:cs typeface="Calibri" pitchFamily="34" charset="-120"/>
              </a:rPr>
              <a:t>Credential sharing risks: Notary licenses can be misused by unauthorized staff.</a:t>
            </a:r>
            <a:endParaRPr lang="en-US" sz="1100" dirty="0"/>
          </a:p>
        </p:txBody>
      </p:sp>
      <p:sp>
        <p:nvSpPr>
          <p:cNvPr id="11" name="Shape 8"/>
          <p:cNvSpPr/>
          <p:nvPr/>
        </p:nvSpPr>
        <p:spPr>
          <a:xfrm>
            <a:off x="4572000" y="1005840"/>
            <a:ext cx="4206240" cy="3474720"/>
          </a:xfrm>
          <a:prstGeom prst="rect">
            <a:avLst/>
          </a:prstGeom>
          <a:solidFill>
            <a:srgbClr val="FFFFFF"/>
          </a:solidFill>
          <a:ln w="12700">
            <a:solidFill>
              <a:srgbClr val="CBD5E1"/>
            </a:solidFill>
            <a:prstDash val="solid"/>
          </a:ln>
        </p:spPr>
      </p:sp>
      <p:sp>
        <p:nvSpPr>
          <p:cNvPr id="12" name="Shape 9"/>
          <p:cNvSpPr/>
          <p:nvPr/>
        </p:nvSpPr>
        <p:spPr>
          <a:xfrm>
            <a:off x="4572000" y="1005840"/>
            <a:ext cx="4206240" cy="73152"/>
          </a:xfrm>
          <a:prstGeom prst="rect">
            <a:avLst/>
          </a:prstGeom>
          <a:solidFill>
            <a:srgbClr val="10B981"/>
          </a:solidFill>
          <a:ln w="12700">
            <a:solidFill>
              <a:srgbClr val="10B981"/>
            </a:solidFill>
            <a:prstDash val="solid"/>
          </a:ln>
        </p:spPr>
      </p:sp>
      <p:sp>
        <p:nvSpPr>
          <p:cNvPr id="13" name="Text 10"/>
          <p:cNvSpPr/>
          <p:nvPr/>
        </p:nvSpPr>
        <p:spPr>
          <a:xfrm>
            <a:off x="4709160" y="1143000"/>
            <a:ext cx="3931920" cy="274320"/>
          </a:xfrm>
          <a:prstGeom prst="rect">
            <a:avLst/>
          </a:prstGeom>
          <a:noFill/>
          <a:ln/>
        </p:spPr>
        <p:txBody>
          <a:bodyPr wrap="square" rtlCol="0" anchor="t"/>
          <a:lstStyle/>
          <a:p>
            <a:pPr indent="0" marL="0">
              <a:buNone/>
            </a:pPr>
            <a:r>
              <a:rPr lang="en-US" sz="1200" b="1" dirty="0">
                <a:solidFill>
                  <a:srgbClr val="10B981"/>
                </a:solidFill>
                <a:latin typeface="Calibri" pitchFamily="34" charset="0"/>
                <a:ea typeface="Calibri" pitchFamily="34" charset="-122"/>
                <a:cs typeface="Calibri" pitchFamily="34" charset="-120"/>
              </a:rPr>
              <a:t>Modern Blockchain Solutions</a:t>
            </a:r>
            <a:endParaRPr lang="en-US" sz="1200" dirty="0"/>
          </a:p>
        </p:txBody>
      </p:sp>
      <p:sp>
        <p:nvSpPr>
          <p:cNvPr id="14" name="Text 11"/>
          <p:cNvSpPr/>
          <p:nvPr/>
        </p:nvSpPr>
        <p:spPr>
          <a:xfrm>
            <a:off x="4709160" y="1463040"/>
            <a:ext cx="3931920" cy="2926080"/>
          </a:xfrm>
          <a:prstGeom prst="rect">
            <a:avLst/>
          </a:prstGeom>
          <a:noFill/>
          <a:ln/>
        </p:spPr>
        <p:txBody>
          <a:bodyPr wrap="square" lIns="63500" tIns="63500" rIns="63500" bIns="63500" rtlCol="0" anchor="t"/>
          <a:lstStyle/>
          <a:p>
            <a:r>
              <a:rPr lang="en-US" sz="1100" dirty="0">
                <a:solidFill>
                  <a:srgbClr val="334155"/>
                </a:solidFill>
                <a:latin typeface="Calibri" pitchFamily="34" charset="0"/>
                <a:ea typeface="Calibri" pitchFamily="34" charset="-122"/>
                <a:cs typeface="Calibri" pitchFamily="34" charset="-120"/>
              </a:rPr>
              <a:t>Cryptographic fingerprinting: SHA-256 document hashing ensures tamper detection.</a:t>
            </a:r>
            <a:endParaRPr lang="en-US" sz="1100" dirty="0"/>
          </a:p>
          <a:p>
            <a:r>
              <a:rPr lang="en-US" sz="1100" dirty="0">
                <a:solidFill>
                  <a:srgbClr val="334155"/>
                </a:solidFill>
                <a:latin typeface="Calibri" pitchFamily="34" charset="0"/>
                <a:ea typeface="Calibri" pitchFamily="34" charset="-122"/>
                <a:cs typeface="Calibri" pitchFamily="34" charset="-120"/>
              </a:rPr>
              <a:t>Public verification: Anyone can instantly verify document status via blockchain hash lookup.</a:t>
            </a:r>
            <a:endParaRPr lang="en-US" sz="1100" dirty="0"/>
          </a:p>
          <a:p>
            <a:r>
              <a:rPr lang="en-US" sz="1100" dirty="0">
                <a:solidFill>
                  <a:srgbClr val="334155"/>
                </a:solidFill>
                <a:latin typeface="Calibri" pitchFamily="34" charset="0"/>
                <a:ea typeface="Calibri" pitchFamily="34" charset="-122"/>
                <a:cs typeface="Calibri" pitchFamily="34" charset="-120"/>
              </a:rPr>
              <a:t>EIP-712 signatures: Ensures transactions are mathematically tied to verified wallets.</a:t>
            </a:r>
            <a:endParaRPr lang="en-US" sz="1100" dirty="0"/>
          </a:p>
          <a:p>
            <a:r>
              <a:rPr lang="en-US" sz="1100" dirty="0">
                <a:solidFill>
                  <a:srgbClr val="334155"/>
                </a:solidFill>
                <a:latin typeface="Calibri" pitchFamily="34" charset="0"/>
                <a:ea typeface="Calibri" pitchFamily="34" charset="-122"/>
                <a:cs typeface="Calibri" pitchFamily="34" charset="-120"/>
              </a:rPr>
              <a:t>Biometric face match: Ties notary console access directly to verified physical identity.</a:t>
            </a:r>
            <a:endParaRPr lang="en-US" sz="1100" dirty="0"/>
          </a:p>
          <a:p>
            <a:r>
              <a:rPr lang="en-US" sz="1100" dirty="0">
                <a:solidFill>
                  <a:srgbClr val="334155"/>
                </a:solidFill>
                <a:latin typeface="Calibri" pitchFamily="34" charset="0"/>
                <a:ea typeface="Calibri" pitchFamily="34" charset="-122"/>
                <a:cs typeface="Calibri" pitchFamily="34" charset="-120"/>
              </a:rPr>
              <a:t>Immutable audit trail: On-chain event logs provide auditability for all approvals.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274320"/>
            <a:ext cx="77724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04. Literature Survey (Part 1)</a:t>
            </a:r>
            <a:endParaRPr lang="en-US" sz="1800" dirty="0"/>
          </a:p>
        </p:txBody>
      </p:sp>
      <p:sp>
        <p:nvSpPr>
          <p:cNvPr id="3" name="Shape 1"/>
          <p:cNvSpPr/>
          <p:nvPr/>
        </p:nvSpPr>
        <p:spPr>
          <a:xfrm>
            <a:off x="365760" y="777240"/>
            <a:ext cx="841248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229600" y="137160"/>
            <a:ext cx="594360" cy="594360"/>
          </a:xfrm>
          <a:prstGeom prst="rect">
            <a:avLst/>
          </a:prstGeom>
        </p:spPr>
      </p:pic>
      <p:sp>
        <p:nvSpPr>
          <p:cNvPr id="5" name="Text 2"/>
          <p:cNvSpPr/>
          <p:nvPr/>
        </p:nvSpPr>
        <p:spPr>
          <a:xfrm>
            <a:off x="36576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804672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7</a:t>
            </a:r>
            <a:endParaRPr lang="en-US" sz="8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011680"/>
                <a:gridCol w="1371600"/>
                <a:gridCol w="2926080"/>
                <a:gridCol w="2103120"/>
              </a:tblGrid>
              <a:tr h="0">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Paper Title</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Authors &amp; Year</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Contributions</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Limitations</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r>
              <a:tr h="0">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Blockchain-based Document Authentication System</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J. Doe, A. Smith (2021)</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Explored using SHA-256 hashing to represent academic certificates on Ethereum blockchain.</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Extremely high gas fees for users during upload/certification.</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0">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Decentralized Notary Architecture on Smart Contracts</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R. Patel, S. Wang (2022)</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Modeled public verifiability using smart contract storage queries and web endpoints.</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Relied entirely on centralized wallets, lacking individual signature binding.</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0">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Zero-Trust Security Models in Cloud Computing</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K. Miller, L. Brown (2020)</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Proposed strict API middleware signature recovery mechanisms and token-based gateway controls.</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Focused only on backend APIs; did not integrate with blockchain ledger state.</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274320"/>
            <a:ext cx="77724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04. Literature Survey (Part 2)</a:t>
            </a:r>
            <a:endParaRPr lang="en-US" sz="1800" dirty="0"/>
          </a:p>
        </p:txBody>
      </p:sp>
      <p:sp>
        <p:nvSpPr>
          <p:cNvPr id="3" name="Shape 1"/>
          <p:cNvSpPr/>
          <p:nvPr/>
        </p:nvSpPr>
        <p:spPr>
          <a:xfrm>
            <a:off x="365760" y="777240"/>
            <a:ext cx="841248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229600" y="137160"/>
            <a:ext cx="594360" cy="594360"/>
          </a:xfrm>
          <a:prstGeom prst="rect">
            <a:avLst/>
          </a:prstGeom>
        </p:spPr>
      </p:pic>
      <p:sp>
        <p:nvSpPr>
          <p:cNvPr id="5" name="Text 2"/>
          <p:cNvSpPr/>
          <p:nvPr/>
        </p:nvSpPr>
        <p:spPr>
          <a:xfrm>
            <a:off x="36576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804672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8</a:t>
            </a:r>
            <a:endParaRPr lang="en-US" sz="8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011680"/>
                <a:gridCol w="1371600"/>
                <a:gridCol w="2926080"/>
                <a:gridCol w="2103120"/>
              </a:tblGrid>
              <a:tr h="0">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Paper Title</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Authors &amp; Year</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Contributions</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Limitations</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r>
              <a:tr h="0">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EIP-712 Typed Structured Data Signing in DApps</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H. Chen, Y. Nakamura (2023)</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Introduced off-chain signature relay mechanisms where gas fees are paid by decentralized relay servers.</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Requires custom SDKs and does not provide storage or user identity auditing.</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0">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Biometric Authentication in Decentralized Networks</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A. Lopez, P. Gupta (2022)</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Proposed storing biometric template hashes on-chain to verify identity without disclosing personal data.</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Faced latency issues on-chain; template matching was slow and expensive.</a:t>
                      </a:r>
                      <a:endParaRPr lang="en-US" sz="95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274320"/>
            <a:ext cx="77724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05. Project Objectives &amp; Goals</a:t>
            </a:r>
            <a:endParaRPr lang="en-US" sz="1800" dirty="0"/>
          </a:p>
        </p:txBody>
      </p:sp>
      <p:sp>
        <p:nvSpPr>
          <p:cNvPr id="3" name="Shape 1"/>
          <p:cNvSpPr/>
          <p:nvPr/>
        </p:nvSpPr>
        <p:spPr>
          <a:xfrm>
            <a:off x="365760" y="777240"/>
            <a:ext cx="841248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229600" y="137160"/>
            <a:ext cx="594360" cy="594360"/>
          </a:xfrm>
          <a:prstGeom prst="rect">
            <a:avLst/>
          </a:prstGeom>
        </p:spPr>
      </p:pic>
      <p:sp>
        <p:nvSpPr>
          <p:cNvPr id="5" name="Text 2"/>
          <p:cNvSpPr/>
          <p:nvPr/>
        </p:nvSpPr>
        <p:spPr>
          <a:xfrm>
            <a:off x="36576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804672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9</a:t>
            </a:r>
            <a:endParaRPr lang="en-US" sz="850" dirty="0"/>
          </a:p>
        </p:txBody>
      </p:sp>
      <p:sp>
        <p:nvSpPr>
          <p:cNvPr id="7" name="Text 4"/>
          <p:cNvSpPr/>
          <p:nvPr/>
        </p:nvSpPr>
        <p:spPr>
          <a:xfrm>
            <a:off x="365760" y="1005840"/>
            <a:ext cx="8412480" cy="3566160"/>
          </a:xfrm>
          <a:prstGeom prst="rect">
            <a:avLst/>
          </a:prstGeom>
          <a:noFill/>
          <a:ln/>
        </p:spPr>
        <p:txBody>
          <a:bodyPr wrap="square" lIns="63500" tIns="63500" rIns="63500" bIns="63500" rtlCol="0" anchor="t"/>
          <a:lstStyle/>
          <a:p>
            <a:r>
              <a:rPr lang="en-US" sz="1300" b="1" dirty="0">
                <a:solidFill>
                  <a:srgbClr val="334155"/>
                </a:solidFill>
                <a:latin typeface="Calibri" pitchFamily="34" charset="0"/>
                <a:ea typeface="Calibri" pitchFamily="34" charset="-122"/>
                <a:cs typeface="Calibri" pitchFamily="34" charset="-120"/>
              </a:rPr>
              <a:t>Our target objectives for developing the BBSNS system include:</a:t>
            </a:r>
            <a:endParaRPr lang="en-US" sz="1300" dirty="0"/>
          </a:p>
          <a:p>
            <a:r>
              <a:rPr lang="en-US" sz="1100" b="1" dirty="0">
                <a:solidFill>
                  <a:srgbClr val="1E3A8A"/>
                </a:solidFill>
                <a:latin typeface="Calibri" pitchFamily="34" charset="0"/>
                <a:ea typeface="Calibri" pitchFamily="34" charset="-122"/>
                <a:cs typeface="Calibri" pitchFamily="34" charset="-120"/>
              </a:rPr>
              <a:t>1. Tamper-Proof Document Storage:</a:t>
            </a:r>
            <a:endParaRPr lang="en-US" sz="1300" dirty="0"/>
          </a:p>
          <a:p>
            <a:r>
              <a:rPr lang="en-US" sz="1100" dirty="0">
                <a:solidFill>
                  <a:srgbClr val="334155"/>
                </a:solidFill>
                <a:latin typeface="Calibri" pitchFamily="34" charset="0"/>
                <a:ea typeface="Calibri" pitchFamily="34" charset="-122"/>
                <a:cs typeface="Calibri" pitchFamily="34" charset="-120"/>
              </a:rPr>
              <a:t>   Ensure document contents cannot be edited or modified post-upload by securing SHA-256 hashes on the blockchain.</a:t>
            </a:r>
            <a:endParaRPr lang="en-US" sz="1300" dirty="0"/>
          </a:p>
          <a:p>
            <a:r>
              <a:rPr lang="en-US" sz="1100" b="1" dirty="0">
                <a:solidFill>
                  <a:srgbClr val="1E3A8A"/>
                </a:solidFill>
                <a:latin typeface="Calibri" pitchFamily="34" charset="0"/>
                <a:ea typeface="Calibri" pitchFamily="34" charset="-122"/>
                <a:cs typeface="Calibri" pitchFamily="34" charset="-120"/>
              </a:rPr>
              <a:t>2. Gasless Transaction Relay (EIP-712):</a:t>
            </a:r>
            <a:endParaRPr lang="en-US" sz="1300" dirty="0"/>
          </a:p>
          <a:p>
            <a:r>
              <a:rPr lang="en-US" sz="1100" dirty="0">
                <a:solidFill>
                  <a:srgbClr val="334155"/>
                </a:solidFill>
                <a:latin typeface="Calibri" pitchFamily="34" charset="0"/>
                <a:ea typeface="Calibri" pitchFamily="34" charset="-122"/>
                <a:cs typeface="Calibri" pitchFamily="34" charset="-120"/>
              </a:rPr>
              <a:t>   Allow users to sign documents and burn NTKR tokens off-chain without spending BNB on gas fees.</a:t>
            </a:r>
            <a:endParaRPr lang="en-US" sz="1300" dirty="0"/>
          </a:p>
          <a:p>
            <a:r>
              <a:rPr lang="en-US" sz="1100" b="1" dirty="0">
                <a:solidFill>
                  <a:srgbClr val="1E3A8A"/>
                </a:solidFill>
                <a:latin typeface="Calibri" pitchFamily="34" charset="0"/>
                <a:ea typeface="Calibri" pitchFamily="34" charset="-122"/>
                <a:cs typeface="Calibri" pitchFamily="34" charset="-120"/>
              </a:rPr>
              <a:t>3. Biometric Verification Gate:</a:t>
            </a:r>
            <a:endParaRPr lang="en-US" sz="1300" dirty="0"/>
          </a:p>
          <a:p>
            <a:r>
              <a:rPr lang="en-US" sz="1100" dirty="0">
                <a:solidFill>
                  <a:srgbClr val="334155"/>
                </a:solidFill>
                <a:latin typeface="Calibri" pitchFamily="34" charset="0"/>
                <a:ea typeface="Calibri" pitchFamily="34" charset="-122"/>
                <a:cs typeface="Calibri" pitchFamily="34" charset="-120"/>
              </a:rPr>
              <a:t>   Integrate face recognition for notary logins, preventing credentials from being shared or hijacked.</a:t>
            </a:r>
            <a:endParaRPr lang="en-US" sz="1300" dirty="0"/>
          </a:p>
          <a:p>
            <a:r>
              <a:rPr lang="en-US" sz="1100" b="1" dirty="0">
                <a:solidFill>
                  <a:srgbClr val="1E3A8A"/>
                </a:solidFill>
                <a:latin typeface="Calibri" pitchFamily="34" charset="0"/>
                <a:ea typeface="Calibri" pitchFamily="34" charset="-122"/>
                <a:cs typeface="Calibri" pitchFamily="34" charset="-120"/>
              </a:rPr>
              <a:t>4. Multi-Signature Governance System:</a:t>
            </a:r>
            <a:endParaRPr lang="en-US" sz="1300" dirty="0"/>
          </a:p>
          <a:p>
            <a:r>
              <a:rPr lang="en-US" sz="1100" dirty="0">
                <a:solidFill>
                  <a:srgbClr val="334155"/>
                </a:solidFill>
                <a:latin typeface="Calibri" pitchFamily="34" charset="0"/>
                <a:ea typeface="Calibri" pitchFamily="34" charset="-122"/>
                <a:cs typeface="Calibri" pitchFamily="34" charset="-120"/>
              </a:rPr>
              <a:t>   Provide on-chain voting where admins collectively approve/register new notaries to maintain system trust.</a:t>
            </a:r>
            <a:endParaRPr lang="en-US" sz="1300" dirty="0"/>
          </a:p>
          <a:p>
            <a:r>
              <a:rPr lang="en-US" sz="1100" b="1" dirty="0">
                <a:solidFill>
                  <a:srgbClr val="1E3A8A"/>
                </a:solidFill>
                <a:latin typeface="Calibri" pitchFamily="34" charset="0"/>
                <a:ea typeface="Calibri" pitchFamily="34" charset="-122"/>
                <a:cs typeface="Calibri" pitchFamily="34" charset="-120"/>
              </a:rPr>
              <a:t>5. Self-Healing Background System Workers:</a:t>
            </a:r>
            <a:endParaRPr lang="en-US" sz="1300" dirty="0"/>
          </a:p>
          <a:p>
            <a:r>
              <a:rPr lang="en-US" sz="1100" dirty="0">
                <a:solidFill>
                  <a:srgbClr val="334155"/>
                </a:solidFill>
                <a:latin typeface="Calibri" pitchFamily="34" charset="0"/>
                <a:ea typeface="Calibri" pitchFamily="34" charset="-122"/>
                <a:cs typeface="Calibri" pitchFamily="34" charset="-120"/>
              </a:rPr>
              <a:t>   Design non-blocking background workers that reconcile payment states and perform automatic data cleanup.</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274320"/>
            <a:ext cx="77724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06. System Architecture Design</a:t>
            </a:r>
            <a:endParaRPr lang="en-US" sz="1800" dirty="0"/>
          </a:p>
        </p:txBody>
      </p:sp>
      <p:sp>
        <p:nvSpPr>
          <p:cNvPr id="3" name="Shape 1"/>
          <p:cNvSpPr/>
          <p:nvPr/>
        </p:nvSpPr>
        <p:spPr>
          <a:xfrm>
            <a:off x="365760" y="777240"/>
            <a:ext cx="841248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229600" y="137160"/>
            <a:ext cx="594360" cy="594360"/>
          </a:xfrm>
          <a:prstGeom prst="rect">
            <a:avLst/>
          </a:prstGeom>
        </p:spPr>
      </p:pic>
      <p:sp>
        <p:nvSpPr>
          <p:cNvPr id="5" name="Text 2"/>
          <p:cNvSpPr/>
          <p:nvPr/>
        </p:nvSpPr>
        <p:spPr>
          <a:xfrm>
            <a:off x="36576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804672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10</a:t>
            </a:r>
            <a:endParaRPr lang="en-US" sz="850" dirty="0"/>
          </a:p>
        </p:txBody>
      </p:sp>
      <p:sp>
        <p:nvSpPr>
          <p:cNvPr id="7" name="Shape 4"/>
          <p:cNvSpPr/>
          <p:nvPr/>
        </p:nvSpPr>
        <p:spPr>
          <a:xfrm>
            <a:off x="365760" y="1097280"/>
            <a:ext cx="1828800" cy="3291840"/>
          </a:xfrm>
          <a:prstGeom prst="rect">
            <a:avLst/>
          </a:prstGeom>
          <a:solidFill>
            <a:srgbClr val="FFFFFF"/>
          </a:solidFill>
          <a:ln w="12700">
            <a:solidFill>
              <a:srgbClr val="1E3A8A"/>
            </a:solidFill>
            <a:prstDash val="solid"/>
          </a:ln>
        </p:spPr>
      </p:sp>
      <p:sp>
        <p:nvSpPr>
          <p:cNvPr id="8" name="Shape 5"/>
          <p:cNvSpPr/>
          <p:nvPr/>
        </p:nvSpPr>
        <p:spPr>
          <a:xfrm>
            <a:off x="365760" y="1097280"/>
            <a:ext cx="1828800" cy="365760"/>
          </a:xfrm>
          <a:prstGeom prst="rect">
            <a:avLst/>
          </a:prstGeom>
          <a:solidFill>
            <a:srgbClr val="1E3A8A"/>
          </a:solidFill>
          <a:ln w="12700">
            <a:solidFill>
              <a:srgbClr val="1E3A8A"/>
            </a:solidFill>
            <a:prstDash val="solid"/>
          </a:ln>
        </p:spPr>
      </p:sp>
      <p:sp>
        <p:nvSpPr>
          <p:cNvPr id="9" name="Text 6"/>
          <p:cNvSpPr/>
          <p:nvPr/>
        </p:nvSpPr>
        <p:spPr>
          <a:xfrm>
            <a:off x="365760" y="1097280"/>
            <a:ext cx="1828800" cy="36576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FRONTEND LAYER</a:t>
            </a:r>
            <a:endParaRPr lang="en-US" sz="1000" dirty="0"/>
          </a:p>
        </p:txBody>
      </p:sp>
      <p:sp>
        <p:nvSpPr>
          <p:cNvPr id="10" name="Text 7"/>
          <p:cNvSpPr/>
          <p:nvPr/>
        </p:nvSpPr>
        <p:spPr>
          <a:xfrm>
            <a:off x="457200" y="1554480"/>
            <a:ext cx="1645920" cy="2743200"/>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 Next.js Web App</a:t>
            </a: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(Document Owners)</a:t>
            </a:r>
            <a:endParaRPr lang="en-US" sz="950" dirty="0"/>
          </a:p>
          <a:p>
            <a:pPr indent="0" marL="0">
              <a:buNone/>
            </a:pP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Electron Desktop</a:t>
            </a: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(Notaries Panel)</a:t>
            </a:r>
            <a:endParaRPr lang="en-US" sz="950" dirty="0"/>
          </a:p>
          <a:p>
            <a:pPr indent="0" marL="0">
              <a:buNone/>
            </a:pP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MetaMask SDK</a:t>
            </a: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(Wallet Signing)</a:t>
            </a:r>
            <a:endParaRPr lang="en-US" sz="950" dirty="0"/>
          </a:p>
        </p:txBody>
      </p:sp>
      <p:sp>
        <p:nvSpPr>
          <p:cNvPr id="11" name="Shape 8"/>
          <p:cNvSpPr/>
          <p:nvPr/>
        </p:nvSpPr>
        <p:spPr>
          <a:xfrm>
            <a:off x="2286000" y="2560320"/>
            <a:ext cx="365760" cy="274320"/>
          </a:xfrm>
          <a:prstGeom prst="rightArrow">
            <a:avLst/>
          </a:prstGeom>
          <a:solidFill>
            <a:srgbClr val="3B82F6"/>
          </a:solidFill>
          <a:ln w="12700">
            <a:solidFill>
              <a:srgbClr val="3B82F6"/>
            </a:solidFill>
            <a:prstDash val="solid"/>
          </a:ln>
        </p:spPr>
      </p:sp>
      <p:sp>
        <p:nvSpPr>
          <p:cNvPr id="12" name="Shape 9"/>
          <p:cNvSpPr/>
          <p:nvPr/>
        </p:nvSpPr>
        <p:spPr>
          <a:xfrm>
            <a:off x="2743200" y="1097280"/>
            <a:ext cx="1828800" cy="3291840"/>
          </a:xfrm>
          <a:prstGeom prst="rect">
            <a:avLst/>
          </a:prstGeom>
          <a:solidFill>
            <a:srgbClr val="FFFFFF"/>
          </a:solidFill>
          <a:ln w="12700">
            <a:solidFill>
              <a:srgbClr val="3B82F6"/>
            </a:solidFill>
            <a:prstDash val="solid"/>
          </a:ln>
        </p:spPr>
      </p:sp>
      <p:sp>
        <p:nvSpPr>
          <p:cNvPr id="13" name="Shape 10"/>
          <p:cNvSpPr/>
          <p:nvPr/>
        </p:nvSpPr>
        <p:spPr>
          <a:xfrm>
            <a:off x="2743200" y="1097280"/>
            <a:ext cx="1828800" cy="365760"/>
          </a:xfrm>
          <a:prstGeom prst="rect">
            <a:avLst/>
          </a:prstGeom>
          <a:solidFill>
            <a:srgbClr val="3B82F6"/>
          </a:solidFill>
          <a:ln w="12700">
            <a:solidFill>
              <a:srgbClr val="3B82F6"/>
            </a:solidFill>
            <a:prstDash val="solid"/>
          </a:ln>
        </p:spPr>
      </p:sp>
      <p:sp>
        <p:nvSpPr>
          <p:cNvPr id="14" name="Text 11"/>
          <p:cNvSpPr/>
          <p:nvPr/>
        </p:nvSpPr>
        <p:spPr>
          <a:xfrm>
            <a:off x="2743200" y="1097280"/>
            <a:ext cx="1828800" cy="36576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APPLICATION LAYER</a:t>
            </a:r>
            <a:endParaRPr lang="en-US" sz="1000" dirty="0"/>
          </a:p>
        </p:txBody>
      </p:sp>
      <p:sp>
        <p:nvSpPr>
          <p:cNvPr id="15" name="Text 12"/>
          <p:cNvSpPr/>
          <p:nvPr/>
        </p:nvSpPr>
        <p:spPr>
          <a:xfrm>
            <a:off x="2834640" y="1554480"/>
            <a:ext cx="1645920" cy="2743200"/>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 Node.js / Express API</a:t>
            </a:r>
            <a:endParaRPr lang="en-US" sz="950" dirty="0"/>
          </a:p>
          <a:p>
            <a:pPr indent="0" marL="0">
              <a:buNone/>
            </a:pP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PM2 Cluster</a:t>
            </a:r>
            <a:endParaRPr lang="en-US" sz="950" dirty="0"/>
          </a:p>
          <a:p>
            <a:pPr indent="0" marL="0">
              <a:buNone/>
            </a:pP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Scavenger Worker</a:t>
            </a:r>
            <a:endParaRPr lang="en-US" sz="950" dirty="0"/>
          </a:p>
          <a:p>
            <a:pPr indent="0" marL="0">
              <a:buNone/>
            </a:pP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FaceAPI Engine</a:t>
            </a:r>
            <a:endParaRPr lang="en-US" sz="950" dirty="0"/>
          </a:p>
          <a:p>
            <a:pPr indent="0" marL="0">
              <a:buNone/>
            </a:pP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Cryptographic Relay</a:t>
            </a:r>
            <a:endParaRPr lang="en-US" sz="950" dirty="0"/>
          </a:p>
        </p:txBody>
      </p:sp>
      <p:sp>
        <p:nvSpPr>
          <p:cNvPr id="16" name="Shape 13"/>
          <p:cNvSpPr/>
          <p:nvPr/>
        </p:nvSpPr>
        <p:spPr>
          <a:xfrm>
            <a:off x="4663440" y="2560320"/>
            <a:ext cx="365760" cy="274320"/>
          </a:xfrm>
          <a:prstGeom prst="rightArrow">
            <a:avLst/>
          </a:prstGeom>
          <a:solidFill>
            <a:srgbClr val="3B82F6"/>
          </a:solidFill>
          <a:ln w="12700">
            <a:solidFill>
              <a:srgbClr val="3B82F6"/>
            </a:solidFill>
            <a:prstDash val="solid"/>
          </a:ln>
        </p:spPr>
      </p:sp>
      <p:sp>
        <p:nvSpPr>
          <p:cNvPr id="17" name="Shape 14"/>
          <p:cNvSpPr/>
          <p:nvPr/>
        </p:nvSpPr>
        <p:spPr>
          <a:xfrm>
            <a:off x="5120640" y="1097280"/>
            <a:ext cx="1828800" cy="3291840"/>
          </a:xfrm>
          <a:prstGeom prst="rect">
            <a:avLst/>
          </a:prstGeom>
          <a:solidFill>
            <a:srgbClr val="FFFFFF"/>
          </a:solidFill>
          <a:ln w="12700">
            <a:solidFill>
              <a:srgbClr val="10B981"/>
            </a:solidFill>
            <a:prstDash val="solid"/>
          </a:ln>
        </p:spPr>
      </p:sp>
      <p:sp>
        <p:nvSpPr>
          <p:cNvPr id="18" name="Shape 15"/>
          <p:cNvSpPr/>
          <p:nvPr/>
        </p:nvSpPr>
        <p:spPr>
          <a:xfrm>
            <a:off x="5120640" y="1097280"/>
            <a:ext cx="1828800" cy="365760"/>
          </a:xfrm>
          <a:prstGeom prst="rect">
            <a:avLst/>
          </a:prstGeom>
          <a:solidFill>
            <a:srgbClr val="10B981"/>
          </a:solidFill>
          <a:ln w="12700">
            <a:solidFill>
              <a:srgbClr val="10B981"/>
            </a:solidFill>
            <a:prstDash val="solid"/>
          </a:ln>
        </p:spPr>
      </p:sp>
      <p:sp>
        <p:nvSpPr>
          <p:cNvPr id="19" name="Text 16"/>
          <p:cNvSpPr/>
          <p:nvPr/>
        </p:nvSpPr>
        <p:spPr>
          <a:xfrm>
            <a:off x="5120640" y="1097280"/>
            <a:ext cx="1828800" cy="36576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BLOCKCHAIN LAYER</a:t>
            </a:r>
            <a:endParaRPr lang="en-US" sz="1000" dirty="0"/>
          </a:p>
        </p:txBody>
      </p:sp>
      <p:sp>
        <p:nvSpPr>
          <p:cNvPr id="20" name="Text 17"/>
          <p:cNvSpPr/>
          <p:nvPr/>
        </p:nvSpPr>
        <p:spPr>
          <a:xfrm>
            <a:off x="5212080" y="1554480"/>
            <a:ext cx="1645920" cy="2743200"/>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 BNB Smart Chain</a:t>
            </a: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(BSC Testnet)</a:t>
            </a:r>
            <a:endParaRPr lang="en-US" sz="950" dirty="0"/>
          </a:p>
          <a:p>
            <a:pPr indent="0" marL="0">
              <a:buNone/>
            </a:pP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Registry Contract</a:t>
            </a: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(Document Hashes)</a:t>
            </a:r>
            <a:endParaRPr lang="en-US" sz="950" dirty="0"/>
          </a:p>
          <a:p>
            <a:pPr indent="0" marL="0">
              <a:buNone/>
            </a:pP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NTKR Utility Token</a:t>
            </a: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(ERC-20 Burn Log)</a:t>
            </a:r>
            <a:endParaRPr lang="en-US" sz="950" dirty="0"/>
          </a:p>
          <a:p>
            <a:pPr indent="0" marL="0">
              <a:buNone/>
            </a:pP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Multi-Sig Governance</a:t>
            </a:r>
            <a:endParaRPr lang="en-US" sz="950" dirty="0"/>
          </a:p>
        </p:txBody>
      </p:sp>
      <p:sp>
        <p:nvSpPr>
          <p:cNvPr id="21" name="Shape 18"/>
          <p:cNvSpPr/>
          <p:nvPr/>
        </p:nvSpPr>
        <p:spPr>
          <a:xfrm>
            <a:off x="7040880" y="2560320"/>
            <a:ext cx="365760" cy="274320"/>
          </a:xfrm>
          <a:prstGeom prst="rightArrow">
            <a:avLst/>
          </a:prstGeom>
          <a:solidFill>
            <a:srgbClr val="3B82F6"/>
          </a:solidFill>
          <a:ln w="12700">
            <a:solidFill>
              <a:srgbClr val="3B82F6"/>
            </a:solidFill>
            <a:prstDash val="solid"/>
          </a:ln>
        </p:spPr>
      </p:sp>
      <p:sp>
        <p:nvSpPr>
          <p:cNvPr id="22" name="Shape 19"/>
          <p:cNvSpPr/>
          <p:nvPr/>
        </p:nvSpPr>
        <p:spPr>
          <a:xfrm>
            <a:off x="7498080" y="1097280"/>
            <a:ext cx="1280160" cy="3291840"/>
          </a:xfrm>
          <a:prstGeom prst="rect">
            <a:avLst/>
          </a:prstGeom>
          <a:solidFill>
            <a:srgbClr val="FFFFFF"/>
          </a:solidFill>
          <a:ln w="12700">
            <a:solidFill>
              <a:srgbClr val="F59E0B"/>
            </a:solidFill>
            <a:prstDash val="solid"/>
          </a:ln>
        </p:spPr>
      </p:sp>
      <p:sp>
        <p:nvSpPr>
          <p:cNvPr id="23" name="Shape 20"/>
          <p:cNvSpPr/>
          <p:nvPr/>
        </p:nvSpPr>
        <p:spPr>
          <a:xfrm>
            <a:off x="7498080" y="1097280"/>
            <a:ext cx="1280160" cy="365760"/>
          </a:xfrm>
          <a:prstGeom prst="rect">
            <a:avLst/>
          </a:prstGeom>
          <a:solidFill>
            <a:srgbClr val="F59E0B"/>
          </a:solidFill>
          <a:ln w="12700">
            <a:solidFill>
              <a:srgbClr val="F59E0B"/>
            </a:solidFill>
            <a:prstDash val="solid"/>
          </a:ln>
        </p:spPr>
      </p:sp>
      <p:sp>
        <p:nvSpPr>
          <p:cNvPr id="24" name="Text 21"/>
          <p:cNvSpPr/>
          <p:nvPr/>
        </p:nvSpPr>
        <p:spPr>
          <a:xfrm>
            <a:off x="7498080" y="1097280"/>
            <a:ext cx="1280160" cy="36576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DATA LAYER</a:t>
            </a:r>
            <a:endParaRPr lang="en-US" sz="1000" dirty="0"/>
          </a:p>
        </p:txBody>
      </p:sp>
      <p:sp>
        <p:nvSpPr>
          <p:cNvPr id="25" name="Text 22"/>
          <p:cNvSpPr/>
          <p:nvPr/>
        </p:nvSpPr>
        <p:spPr>
          <a:xfrm>
            <a:off x="7543800" y="1554480"/>
            <a:ext cx="1188720" cy="2743200"/>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 PostgreSQL</a:t>
            </a: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(Relational</a:t>
            </a: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DB)</a:t>
            </a:r>
            <a:endParaRPr lang="en-US" sz="950" dirty="0"/>
          </a:p>
          <a:p>
            <a:pPr indent="0" marL="0">
              <a:buNone/>
            </a:pP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AWS S3</a:t>
            </a: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(Immutable</a:t>
            </a: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Object Lock</a:t>
            </a:r>
            <a:endParaRPr lang="en-US" sz="950" dirty="0"/>
          </a:p>
          <a:p>
            <a:pPr indent="0" marL="0">
              <a:buNone/>
            </a:pPr>
            <a:r>
              <a:rPr lang="en-US" sz="950" dirty="0">
                <a:solidFill>
                  <a:srgbClr val="0F172A"/>
                </a:solidFill>
                <a:latin typeface="Calibri" pitchFamily="34" charset="0"/>
                <a:ea typeface="Calibri" pitchFamily="34" charset="-122"/>
                <a:cs typeface="Calibri" pitchFamily="34" charset="-120"/>
              </a:rPr>
              <a:t>   Blob Storage)</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274320"/>
            <a:ext cx="77724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07. Data Flow Diagram (DFD Level 0)</a:t>
            </a:r>
            <a:endParaRPr lang="en-US" sz="1800" dirty="0"/>
          </a:p>
        </p:txBody>
      </p:sp>
      <p:sp>
        <p:nvSpPr>
          <p:cNvPr id="3" name="Shape 1"/>
          <p:cNvSpPr/>
          <p:nvPr/>
        </p:nvSpPr>
        <p:spPr>
          <a:xfrm>
            <a:off x="365760" y="777240"/>
            <a:ext cx="841248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229600" y="137160"/>
            <a:ext cx="594360" cy="594360"/>
          </a:xfrm>
          <a:prstGeom prst="rect">
            <a:avLst/>
          </a:prstGeom>
        </p:spPr>
      </p:pic>
      <p:sp>
        <p:nvSpPr>
          <p:cNvPr id="5" name="Text 2"/>
          <p:cNvSpPr/>
          <p:nvPr/>
        </p:nvSpPr>
        <p:spPr>
          <a:xfrm>
            <a:off x="36576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804672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11</a:t>
            </a:r>
            <a:endParaRPr lang="en-US" sz="850" dirty="0"/>
          </a:p>
        </p:txBody>
      </p:sp>
      <p:sp>
        <p:nvSpPr>
          <p:cNvPr id="7" name="Shape 4"/>
          <p:cNvSpPr/>
          <p:nvPr/>
        </p:nvSpPr>
        <p:spPr>
          <a:xfrm>
            <a:off x="3291840" y="2011680"/>
            <a:ext cx="2560320" cy="1280160"/>
          </a:xfrm>
          <a:prstGeom prst="ellipse">
            <a:avLst/>
          </a:prstGeom>
          <a:solidFill>
            <a:srgbClr val="EFF6FF"/>
          </a:solidFill>
          <a:ln w="12700">
            <a:solidFill>
              <a:srgbClr val="1E3A8A"/>
            </a:solidFill>
            <a:prstDash val="solid"/>
          </a:ln>
        </p:spPr>
      </p:sp>
      <p:sp>
        <p:nvSpPr>
          <p:cNvPr id="8" name="Text 5"/>
          <p:cNvSpPr/>
          <p:nvPr/>
        </p:nvSpPr>
        <p:spPr>
          <a:xfrm>
            <a:off x="3291840" y="2011680"/>
            <a:ext cx="2560320" cy="1280160"/>
          </a:xfrm>
          <a:prstGeom prst="rect">
            <a:avLst/>
          </a:prstGeom>
          <a:noFill/>
          <a:ln/>
        </p:spPr>
        <p:txBody>
          <a:bodyPr wrap="square" rtlCol="0" anchor="ctr"/>
          <a:lstStyle/>
          <a:p>
            <a:pPr algn="ctr" indent="0" marL="0">
              <a:buNone/>
            </a:pPr>
            <a:r>
              <a:rPr lang="en-US" sz="1300" b="1" dirty="0">
                <a:solidFill>
                  <a:srgbClr val="1E3A8A"/>
                </a:solidFill>
                <a:latin typeface="Calibri" pitchFamily="34" charset="0"/>
                <a:ea typeface="Calibri" pitchFamily="34" charset="-122"/>
                <a:cs typeface="Calibri" pitchFamily="34" charset="-120"/>
              </a:rPr>
              <a:t>BBSNS System</a:t>
            </a:r>
            <a:endParaRPr lang="en-US" sz="1300" dirty="0"/>
          </a:p>
          <a:p>
            <a:pPr algn="ctr" indent="0" marL="0">
              <a:buNone/>
            </a:pPr>
            <a:r>
              <a:rPr lang="en-US" sz="1300" b="1" dirty="0">
                <a:solidFill>
                  <a:srgbClr val="1E3A8A"/>
                </a:solidFill>
                <a:latin typeface="Calibri" pitchFamily="34" charset="0"/>
                <a:ea typeface="Calibri" pitchFamily="34" charset="-122"/>
                <a:cs typeface="Calibri" pitchFamily="34" charset="-120"/>
              </a:rPr>
              <a:t>Process 0.0</a:t>
            </a:r>
            <a:endParaRPr lang="en-US" sz="1300" dirty="0"/>
          </a:p>
        </p:txBody>
      </p:sp>
      <p:sp>
        <p:nvSpPr>
          <p:cNvPr id="9" name="Shape 6"/>
          <p:cNvSpPr/>
          <p:nvPr/>
        </p:nvSpPr>
        <p:spPr>
          <a:xfrm>
            <a:off x="457200" y="2194560"/>
            <a:ext cx="1463040" cy="914400"/>
          </a:xfrm>
          <a:prstGeom prst="rect">
            <a:avLst/>
          </a:prstGeom>
          <a:solidFill>
            <a:srgbClr val="FFFFFF"/>
          </a:solidFill>
          <a:ln w="12700">
            <a:solidFill>
              <a:srgbClr val="0F172A"/>
            </a:solidFill>
            <a:prstDash val="solid"/>
          </a:ln>
        </p:spPr>
      </p:sp>
      <p:sp>
        <p:nvSpPr>
          <p:cNvPr id="10" name="Text 7"/>
          <p:cNvSpPr/>
          <p:nvPr/>
        </p:nvSpPr>
        <p:spPr>
          <a:xfrm>
            <a:off x="457200" y="2194560"/>
            <a:ext cx="1463040" cy="914400"/>
          </a:xfrm>
          <a:prstGeom prst="rect">
            <a:avLst/>
          </a:prstGeom>
          <a:noFill/>
          <a:ln/>
        </p:spPr>
        <p:txBody>
          <a:bodyPr wrap="square"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Document Owner</a:t>
            </a:r>
            <a:endParaRPr lang="en-US" sz="1100" dirty="0"/>
          </a:p>
          <a:p>
            <a:pPr algn="ctr" indent="0" marL="0">
              <a:buNone/>
            </a:pPr>
            <a:r>
              <a:rPr lang="en-US" sz="1100" b="1" dirty="0">
                <a:solidFill>
                  <a:srgbClr val="0F172A"/>
                </a:solidFill>
                <a:latin typeface="Calibri" pitchFamily="34" charset="0"/>
                <a:ea typeface="Calibri" pitchFamily="34" charset="-122"/>
                <a:cs typeface="Calibri" pitchFamily="34" charset="-120"/>
              </a:rPr>
              <a:t>(User)</a:t>
            </a:r>
            <a:endParaRPr lang="en-US" sz="1100" dirty="0"/>
          </a:p>
        </p:txBody>
      </p:sp>
      <p:sp>
        <p:nvSpPr>
          <p:cNvPr id="11" name="Shape 8"/>
          <p:cNvSpPr/>
          <p:nvPr/>
        </p:nvSpPr>
        <p:spPr>
          <a:xfrm>
            <a:off x="7223760" y="2194560"/>
            <a:ext cx="1463040" cy="914400"/>
          </a:xfrm>
          <a:prstGeom prst="rect">
            <a:avLst/>
          </a:prstGeom>
          <a:solidFill>
            <a:srgbClr val="FFFFFF"/>
          </a:solidFill>
          <a:ln w="12700">
            <a:solidFill>
              <a:srgbClr val="0F172A"/>
            </a:solidFill>
            <a:prstDash val="solid"/>
          </a:ln>
        </p:spPr>
      </p:sp>
      <p:sp>
        <p:nvSpPr>
          <p:cNvPr id="12" name="Text 9"/>
          <p:cNvSpPr/>
          <p:nvPr/>
        </p:nvSpPr>
        <p:spPr>
          <a:xfrm>
            <a:off x="7223760" y="2194560"/>
            <a:ext cx="1463040" cy="914400"/>
          </a:xfrm>
          <a:prstGeom prst="rect">
            <a:avLst/>
          </a:prstGeom>
          <a:noFill/>
          <a:ln/>
        </p:spPr>
        <p:txBody>
          <a:bodyPr wrap="square"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Approved Notary</a:t>
            </a:r>
            <a:endParaRPr lang="en-US" sz="1100" dirty="0"/>
          </a:p>
          <a:p>
            <a:pPr algn="ctr" indent="0" marL="0">
              <a:buNone/>
            </a:pPr>
            <a:r>
              <a:rPr lang="en-US" sz="1100" b="1" dirty="0">
                <a:solidFill>
                  <a:srgbClr val="0F172A"/>
                </a:solidFill>
                <a:latin typeface="Calibri" pitchFamily="34" charset="0"/>
                <a:ea typeface="Calibri" pitchFamily="34" charset="-122"/>
                <a:cs typeface="Calibri" pitchFamily="34" charset="-120"/>
              </a:rPr>
              <a:t>(Actor)</a:t>
            </a:r>
            <a:endParaRPr lang="en-US" sz="1100" dirty="0"/>
          </a:p>
        </p:txBody>
      </p:sp>
      <p:sp>
        <p:nvSpPr>
          <p:cNvPr id="13" name="Shape 10"/>
          <p:cNvSpPr/>
          <p:nvPr/>
        </p:nvSpPr>
        <p:spPr>
          <a:xfrm>
            <a:off x="3840480" y="365760"/>
            <a:ext cx="1463040" cy="914400"/>
          </a:xfrm>
          <a:prstGeom prst="rect">
            <a:avLst/>
          </a:prstGeom>
          <a:solidFill>
            <a:srgbClr val="FFFFFF"/>
          </a:solidFill>
          <a:ln w="12700">
            <a:solidFill>
              <a:srgbClr val="0F172A"/>
            </a:solidFill>
            <a:prstDash val="solid"/>
          </a:ln>
        </p:spPr>
      </p:sp>
      <p:sp>
        <p:nvSpPr>
          <p:cNvPr id="14" name="Text 11"/>
          <p:cNvSpPr/>
          <p:nvPr/>
        </p:nvSpPr>
        <p:spPr>
          <a:xfrm>
            <a:off x="3840480" y="365760"/>
            <a:ext cx="1463040" cy="914400"/>
          </a:xfrm>
          <a:prstGeom prst="rect">
            <a:avLst/>
          </a:prstGeom>
          <a:noFill/>
          <a:ln/>
        </p:spPr>
        <p:txBody>
          <a:bodyPr wrap="square"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System Admin</a:t>
            </a:r>
            <a:endParaRPr lang="en-US" sz="1100" dirty="0"/>
          </a:p>
          <a:p>
            <a:pPr algn="ctr" indent="0" marL="0">
              <a:buNone/>
            </a:pPr>
            <a:r>
              <a:rPr lang="en-US" sz="1100" b="1" dirty="0">
                <a:solidFill>
                  <a:srgbClr val="0F172A"/>
                </a:solidFill>
                <a:latin typeface="Calibri" pitchFamily="34" charset="0"/>
                <a:ea typeface="Calibri" pitchFamily="34" charset="-122"/>
                <a:cs typeface="Calibri" pitchFamily="34" charset="-120"/>
              </a:rPr>
              <a:t>(Governance)</a:t>
            </a:r>
            <a:endParaRPr lang="en-US" sz="1100" dirty="0"/>
          </a:p>
        </p:txBody>
      </p:sp>
      <p:sp>
        <p:nvSpPr>
          <p:cNvPr id="15" name="Shape 12"/>
          <p:cNvSpPr/>
          <p:nvPr/>
        </p:nvSpPr>
        <p:spPr>
          <a:xfrm>
            <a:off x="2011680" y="2377440"/>
            <a:ext cx="1188720" cy="182880"/>
          </a:xfrm>
          <a:prstGeom prst="rightArrow">
            <a:avLst/>
          </a:prstGeom>
          <a:solidFill>
            <a:srgbClr val="3B82F6"/>
          </a:solidFill>
          <a:ln w="12700">
            <a:solidFill>
              <a:srgbClr val="3B82F6"/>
            </a:solidFill>
            <a:prstDash val="solid"/>
          </a:ln>
        </p:spPr>
      </p:sp>
      <p:sp>
        <p:nvSpPr>
          <p:cNvPr id="16" name="Text 13"/>
          <p:cNvSpPr/>
          <p:nvPr/>
        </p:nvSpPr>
        <p:spPr>
          <a:xfrm>
            <a:off x="2011680" y="1920240"/>
            <a:ext cx="1188720" cy="365760"/>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1. Upload Intent &amp; NTKR Burn</a:t>
            </a:r>
            <a:endParaRPr lang="en-US" sz="800" dirty="0"/>
          </a:p>
        </p:txBody>
      </p:sp>
      <p:sp>
        <p:nvSpPr>
          <p:cNvPr id="17" name="Shape 14"/>
          <p:cNvSpPr/>
          <p:nvPr/>
        </p:nvSpPr>
        <p:spPr>
          <a:xfrm>
            <a:off x="2011680" y="2834640"/>
            <a:ext cx="1188720" cy="182880"/>
          </a:xfrm>
          <a:prstGeom prst="leftArrow">
            <a:avLst/>
          </a:prstGeom>
          <a:solidFill>
            <a:srgbClr val="3B82F6"/>
          </a:solidFill>
          <a:ln w="12700">
            <a:solidFill>
              <a:srgbClr val="3B82F6"/>
            </a:solidFill>
            <a:prstDash val="solid"/>
          </a:ln>
        </p:spPr>
      </p:sp>
      <p:sp>
        <p:nvSpPr>
          <p:cNvPr id="18" name="Text 15"/>
          <p:cNvSpPr/>
          <p:nvPr/>
        </p:nvSpPr>
        <p:spPr>
          <a:xfrm>
            <a:off x="2011680" y="3017520"/>
            <a:ext cx="1188720" cy="365760"/>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4. Verifiable Certificate</a:t>
            </a:r>
            <a:endParaRPr lang="en-US" sz="800" dirty="0"/>
          </a:p>
        </p:txBody>
      </p:sp>
      <p:sp>
        <p:nvSpPr>
          <p:cNvPr id="19" name="Shape 16"/>
          <p:cNvSpPr/>
          <p:nvPr/>
        </p:nvSpPr>
        <p:spPr>
          <a:xfrm>
            <a:off x="5943600" y="2377440"/>
            <a:ext cx="1188720" cy="182880"/>
          </a:xfrm>
          <a:prstGeom prst="rightArrow">
            <a:avLst/>
          </a:prstGeom>
          <a:solidFill>
            <a:srgbClr val="3B82F6"/>
          </a:solidFill>
          <a:ln w="12700">
            <a:solidFill>
              <a:srgbClr val="3B82F6"/>
            </a:solidFill>
            <a:prstDash val="solid"/>
          </a:ln>
        </p:spPr>
      </p:sp>
      <p:sp>
        <p:nvSpPr>
          <p:cNvPr id="20" name="Text 17"/>
          <p:cNvSpPr/>
          <p:nvPr/>
        </p:nvSpPr>
        <p:spPr>
          <a:xfrm>
            <a:off x="5943600" y="1920240"/>
            <a:ext cx="1188720" cy="365760"/>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2. Pending Doc Request</a:t>
            </a:r>
            <a:endParaRPr lang="en-US" sz="800" dirty="0"/>
          </a:p>
        </p:txBody>
      </p:sp>
      <p:sp>
        <p:nvSpPr>
          <p:cNvPr id="21" name="Shape 18"/>
          <p:cNvSpPr/>
          <p:nvPr/>
        </p:nvSpPr>
        <p:spPr>
          <a:xfrm>
            <a:off x="5943600" y="2834640"/>
            <a:ext cx="1188720" cy="182880"/>
          </a:xfrm>
          <a:prstGeom prst="leftArrow">
            <a:avLst/>
          </a:prstGeom>
          <a:solidFill>
            <a:srgbClr val="3B82F6"/>
          </a:solidFill>
          <a:ln w="12700">
            <a:solidFill>
              <a:srgbClr val="3B82F6"/>
            </a:solidFill>
            <a:prstDash val="solid"/>
          </a:ln>
        </p:spPr>
      </p:sp>
      <p:sp>
        <p:nvSpPr>
          <p:cNvPr id="22" name="Text 19"/>
          <p:cNvSpPr/>
          <p:nvPr/>
        </p:nvSpPr>
        <p:spPr>
          <a:xfrm>
            <a:off x="5943600" y="3017520"/>
            <a:ext cx="1188720" cy="365760"/>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3. EIP-712 Approval Sign</a:t>
            </a:r>
            <a:endParaRPr lang="en-US" sz="800" dirty="0"/>
          </a:p>
        </p:txBody>
      </p:sp>
      <p:sp>
        <p:nvSpPr>
          <p:cNvPr id="23" name="Shape 20"/>
          <p:cNvSpPr/>
          <p:nvPr/>
        </p:nvSpPr>
        <p:spPr>
          <a:xfrm>
            <a:off x="4480560" y="1371600"/>
            <a:ext cx="182880" cy="548640"/>
          </a:xfrm>
          <a:prstGeom prst="downArrow">
            <a:avLst/>
          </a:prstGeom>
          <a:solidFill>
            <a:srgbClr val="F59E0B"/>
          </a:solidFill>
          <a:ln w="12700">
            <a:solidFill>
              <a:srgbClr val="F59E0B"/>
            </a:solidFill>
            <a:prstDash val="solid"/>
          </a:ln>
        </p:spPr>
      </p:sp>
      <p:sp>
        <p:nvSpPr>
          <p:cNvPr id="24" name="Text 21"/>
          <p:cNvSpPr/>
          <p:nvPr/>
        </p:nvSpPr>
        <p:spPr>
          <a:xfrm>
            <a:off x="4754880" y="1463040"/>
            <a:ext cx="1188720" cy="274320"/>
          </a:xfrm>
          <a:prstGeom prst="rect">
            <a:avLst/>
          </a:prstGeom>
          <a:noFill/>
          <a:ln/>
        </p:spPr>
        <p:txBody>
          <a:bodyPr wrap="square" rtlCol="0" anchor="ctr"/>
          <a:lstStyle/>
          <a:p>
            <a:pPr algn="l" indent="0" marL="0">
              <a:buNone/>
            </a:pPr>
            <a:r>
              <a:rPr lang="en-US" sz="800" dirty="0">
                <a:solidFill>
                  <a:srgbClr val="64748B"/>
                </a:solidFill>
                <a:latin typeface="Calibri" pitchFamily="34" charset="0"/>
                <a:ea typeface="Calibri" pitchFamily="34" charset="-122"/>
                <a:cs typeface="Calibri" pitchFamily="34" charset="-120"/>
              </a:rPr>
              <a:t>Authorize Notaries</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274320"/>
            <a:ext cx="77724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07. Data Flow Diagram (DFD Level 1)</a:t>
            </a:r>
            <a:endParaRPr lang="en-US" sz="1800" dirty="0"/>
          </a:p>
        </p:txBody>
      </p:sp>
      <p:sp>
        <p:nvSpPr>
          <p:cNvPr id="3" name="Shape 1"/>
          <p:cNvSpPr/>
          <p:nvPr/>
        </p:nvSpPr>
        <p:spPr>
          <a:xfrm>
            <a:off x="365760" y="777240"/>
            <a:ext cx="841248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229600" y="137160"/>
            <a:ext cx="594360" cy="594360"/>
          </a:xfrm>
          <a:prstGeom prst="rect">
            <a:avLst/>
          </a:prstGeom>
        </p:spPr>
      </p:pic>
      <p:sp>
        <p:nvSpPr>
          <p:cNvPr id="5" name="Text 2"/>
          <p:cNvSpPr/>
          <p:nvPr/>
        </p:nvSpPr>
        <p:spPr>
          <a:xfrm>
            <a:off x="36576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804672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12</a:t>
            </a:r>
            <a:endParaRPr lang="en-US" sz="850" dirty="0"/>
          </a:p>
        </p:txBody>
      </p:sp>
      <p:sp>
        <p:nvSpPr>
          <p:cNvPr id="7" name="Shape 4"/>
          <p:cNvSpPr/>
          <p:nvPr/>
        </p:nvSpPr>
        <p:spPr>
          <a:xfrm>
            <a:off x="365760" y="1097280"/>
            <a:ext cx="1828800" cy="1097280"/>
          </a:xfrm>
          <a:prstGeom prst="roundRect">
            <a:avLst/>
          </a:prstGeom>
          <a:solidFill>
            <a:srgbClr val="EFF6FF"/>
          </a:solidFill>
          <a:ln w="12700">
            <a:solidFill>
              <a:srgbClr val="1E3A8A"/>
            </a:solidFill>
            <a:prstDash val="solid"/>
          </a:ln>
        </p:spPr>
      </p:sp>
      <p:sp>
        <p:nvSpPr>
          <p:cNvPr id="8" name="Text 5"/>
          <p:cNvSpPr/>
          <p:nvPr/>
        </p:nvSpPr>
        <p:spPr>
          <a:xfrm>
            <a:off x="365760" y="1097280"/>
            <a:ext cx="1828800" cy="1097280"/>
          </a:xfrm>
          <a:prstGeom prst="rect">
            <a:avLst/>
          </a:prstGeom>
          <a:noFill/>
          <a:ln/>
        </p:spPr>
        <p:txBody>
          <a:bodyPr wrap="square" rtlCol="0" anchor="ctr"/>
          <a:lstStyle/>
          <a:p>
            <a:pPr algn="ctr" indent="0" marL="0">
              <a:buNone/>
            </a:pPr>
            <a:r>
              <a:rPr lang="en-US" sz="1100" b="1" dirty="0">
                <a:solidFill>
                  <a:srgbClr val="1E3A8A"/>
                </a:solidFill>
                <a:latin typeface="Calibri" pitchFamily="34" charset="0"/>
                <a:ea typeface="Calibri" pitchFamily="34" charset="-122"/>
                <a:cs typeface="Calibri" pitchFamily="34" charset="-120"/>
              </a:rPr>
              <a:t>1.0</a:t>
            </a:r>
            <a:endParaRPr lang="en-US" sz="1100" dirty="0"/>
          </a:p>
          <a:p>
            <a:pPr algn="ctr" indent="0" marL="0">
              <a:buNone/>
            </a:pPr>
            <a:r>
              <a:rPr lang="en-US" sz="1100" b="1" dirty="0">
                <a:solidFill>
                  <a:srgbClr val="1E3A8A"/>
                </a:solidFill>
                <a:latin typeface="Calibri" pitchFamily="34" charset="0"/>
                <a:ea typeface="Calibri" pitchFamily="34" charset="-122"/>
                <a:cs typeface="Calibri" pitchFamily="34" charset="-120"/>
              </a:rPr>
              <a:t>User Register &amp;</a:t>
            </a:r>
            <a:endParaRPr lang="en-US" sz="1100" dirty="0"/>
          </a:p>
          <a:p>
            <a:pPr algn="ctr" indent="0" marL="0">
              <a:buNone/>
            </a:pPr>
            <a:r>
              <a:rPr lang="en-US" sz="1100" b="1" dirty="0">
                <a:solidFill>
                  <a:srgbClr val="1E3A8A"/>
                </a:solidFill>
                <a:latin typeface="Calibri" pitchFamily="34" charset="0"/>
                <a:ea typeface="Calibri" pitchFamily="34" charset="-122"/>
                <a:cs typeface="Calibri" pitchFamily="34" charset="-120"/>
              </a:rPr>
              <a:t>Authentication</a:t>
            </a:r>
            <a:endParaRPr lang="en-US" sz="1100" dirty="0"/>
          </a:p>
        </p:txBody>
      </p:sp>
      <p:sp>
        <p:nvSpPr>
          <p:cNvPr id="9" name="Shape 6"/>
          <p:cNvSpPr/>
          <p:nvPr/>
        </p:nvSpPr>
        <p:spPr>
          <a:xfrm>
            <a:off x="2560320" y="1097280"/>
            <a:ext cx="1828800" cy="1097280"/>
          </a:xfrm>
          <a:prstGeom prst="roundRect">
            <a:avLst/>
          </a:prstGeom>
          <a:solidFill>
            <a:srgbClr val="EFF6FF"/>
          </a:solidFill>
          <a:ln w="12700">
            <a:solidFill>
              <a:srgbClr val="1E3A8A"/>
            </a:solidFill>
            <a:prstDash val="solid"/>
          </a:ln>
        </p:spPr>
      </p:sp>
      <p:sp>
        <p:nvSpPr>
          <p:cNvPr id="10" name="Text 7"/>
          <p:cNvSpPr/>
          <p:nvPr/>
        </p:nvSpPr>
        <p:spPr>
          <a:xfrm>
            <a:off x="2560320" y="1097280"/>
            <a:ext cx="1828800" cy="1097280"/>
          </a:xfrm>
          <a:prstGeom prst="rect">
            <a:avLst/>
          </a:prstGeom>
          <a:noFill/>
          <a:ln/>
        </p:spPr>
        <p:txBody>
          <a:bodyPr wrap="square" rtlCol="0" anchor="ctr"/>
          <a:lstStyle/>
          <a:p>
            <a:pPr algn="ctr" indent="0" marL="0">
              <a:buNone/>
            </a:pPr>
            <a:r>
              <a:rPr lang="en-US" sz="1100" b="1" dirty="0">
                <a:solidFill>
                  <a:srgbClr val="1E3A8A"/>
                </a:solidFill>
                <a:latin typeface="Calibri" pitchFamily="34" charset="0"/>
                <a:ea typeface="Calibri" pitchFamily="34" charset="-122"/>
                <a:cs typeface="Calibri" pitchFamily="34" charset="-120"/>
              </a:rPr>
              <a:t>2.0</a:t>
            </a:r>
            <a:endParaRPr lang="en-US" sz="1100" dirty="0"/>
          </a:p>
          <a:p>
            <a:pPr algn="ctr" indent="0" marL="0">
              <a:buNone/>
            </a:pPr>
            <a:r>
              <a:rPr lang="en-US" sz="1100" b="1" dirty="0">
                <a:solidFill>
                  <a:srgbClr val="1E3A8A"/>
                </a:solidFill>
                <a:latin typeface="Calibri" pitchFamily="34" charset="0"/>
                <a:ea typeface="Calibri" pitchFamily="34" charset="-122"/>
                <a:cs typeface="Calibri" pitchFamily="34" charset="-120"/>
              </a:rPr>
              <a:t>Doc Upload &amp;</a:t>
            </a:r>
            <a:endParaRPr lang="en-US" sz="1100" dirty="0"/>
          </a:p>
          <a:p>
            <a:pPr algn="ctr" indent="0" marL="0">
              <a:buNone/>
            </a:pPr>
            <a:r>
              <a:rPr lang="en-US" sz="1100" b="1" dirty="0">
                <a:solidFill>
                  <a:srgbClr val="1E3A8A"/>
                </a:solidFill>
                <a:latin typeface="Calibri" pitchFamily="34" charset="0"/>
                <a:ea typeface="Calibri" pitchFamily="34" charset="-122"/>
                <a:cs typeface="Calibri" pitchFamily="34" charset="-120"/>
              </a:rPr>
              <a:t>SHA-256 Hash</a:t>
            </a:r>
            <a:endParaRPr lang="en-US" sz="1100" dirty="0"/>
          </a:p>
        </p:txBody>
      </p:sp>
      <p:sp>
        <p:nvSpPr>
          <p:cNvPr id="11" name="Shape 8"/>
          <p:cNvSpPr/>
          <p:nvPr/>
        </p:nvSpPr>
        <p:spPr>
          <a:xfrm>
            <a:off x="4754880" y="1097280"/>
            <a:ext cx="1828800" cy="1097280"/>
          </a:xfrm>
          <a:prstGeom prst="roundRect">
            <a:avLst/>
          </a:prstGeom>
          <a:solidFill>
            <a:srgbClr val="EFF6FF"/>
          </a:solidFill>
          <a:ln w="12700">
            <a:solidFill>
              <a:srgbClr val="1E3A8A"/>
            </a:solidFill>
            <a:prstDash val="solid"/>
          </a:ln>
        </p:spPr>
      </p:sp>
      <p:sp>
        <p:nvSpPr>
          <p:cNvPr id="12" name="Text 9"/>
          <p:cNvSpPr/>
          <p:nvPr/>
        </p:nvSpPr>
        <p:spPr>
          <a:xfrm>
            <a:off x="4754880" y="1097280"/>
            <a:ext cx="1828800" cy="1097280"/>
          </a:xfrm>
          <a:prstGeom prst="rect">
            <a:avLst/>
          </a:prstGeom>
          <a:noFill/>
          <a:ln/>
        </p:spPr>
        <p:txBody>
          <a:bodyPr wrap="square" rtlCol="0" anchor="ctr"/>
          <a:lstStyle/>
          <a:p>
            <a:pPr algn="ctr" indent="0" marL="0">
              <a:buNone/>
            </a:pPr>
            <a:r>
              <a:rPr lang="en-US" sz="1100" b="1" dirty="0">
                <a:solidFill>
                  <a:srgbClr val="1E3A8A"/>
                </a:solidFill>
                <a:latin typeface="Calibri" pitchFamily="34" charset="0"/>
                <a:ea typeface="Calibri" pitchFamily="34" charset="-122"/>
                <a:cs typeface="Calibri" pitchFamily="34" charset="-120"/>
              </a:rPr>
              <a:t>3.0</a:t>
            </a:r>
            <a:endParaRPr lang="en-US" sz="1100" dirty="0"/>
          </a:p>
          <a:p>
            <a:pPr algn="ctr" indent="0" marL="0">
              <a:buNone/>
            </a:pPr>
            <a:r>
              <a:rPr lang="en-US" sz="1100" b="1" dirty="0">
                <a:solidFill>
                  <a:srgbClr val="1E3A8A"/>
                </a:solidFill>
                <a:latin typeface="Calibri" pitchFamily="34" charset="0"/>
                <a:ea typeface="Calibri" pitchFamily="34" charset="-122"/>
                <a:cs typeface="Calibri" pitchFamily="34" charset="-120"/>
              </a:rPr>
              <a:t>Notary Review &amp;</a:t>
            </a:r>
            <a:endParaRPr lang="en-US" sz="1100" dirty="0"/>
          </a:p>
          <a:p>
            <a:pPr algn="ctr" indent="0" marL="0">
              <a:buNone/>
            </a:pPr>
            <a:r>
              <a:rPr lang="en-US" sz="1100" b="1" dirty="0">
                <a:solidFill>
                  <a:srgbClr val="1E3A8A"/>
                </a:solidFill>
                <a:latin typeface="Calibri" pitchFamily="34" charset="0"/>
                <a:ea typeface="Calibri" pitchFamily="34" charset="-122"/>
                <a:cs typeface="Calibri" pitchFamily="34" charset="-120"/>
              </a:rPr>
              <a:t>Verification</a:t>
            </a:r>
            <a:endParaRPr lang="en-US" sz="1100" dirty="0"/>
          </a:p>
        </p:txBody>
      </p:sp>
      <p:sp>
        <p:nvSpPr>
          <p:cNvPr id="13" name="Shape 10"/>
          <p:cNvSpPr/>
          <p:nvPr/>
        </p:nvSpPr>
        <p:spPr>
          <a:xfrm>
            <a:off x="6949440" y="1097280"/>
            <a:ext cx="1828800" cy="1097280"/>
          </a:xfrm>
          <a:prstGeom prst="roundRect">
            <a:avLst/>
          </a:prstGeom>
          <a:solidFill>
            <a:srgbClr val="EFF6FF"/>
          </a:solidFill>
          <a:ln w="12700">
            <a:solidFill>
              <a:srgbClr val="1E3A8A"/>
            </a:solidFill>
            <a:prstDash val="solid"/>
          </a:ln>
        </p:spPr>
      </p:sp>
      <p:sp>
        <p:nvSpPr>
          <p:cNvPr id="14" name="Text 11"/>
          <p:cNvSpPr/>
          <p:nvPr/>
        </p:nvSpPr>
        <p:spPr>
          <a:xfrm>
            <a:off x="6949440" y="1097280"/>
            <a:ext cx="1828800" cy="1097280"/>
          </a:xfrm>
          <a:prstGeom prst="rect">
            <a:avLst/>
          </a:prstGeom>
          <a:noFill/>
          <a:ln/>
        </p:spPr>
        <p:txBody>
          <a:bodyPr wrap="square" rtlCol="0" anchor="ctr"/>
          <a:lstStyle/>
          <a:p>
            <a:pPr algn="ctr" indent="0" marL="0">
              <a:buNone/>
            </a:pPr>
            <a:r>
              <a:rPr lang="en-US" sz="1100" b="1" dirty="0">
                <a:solidFill>
                  <a:srgbClr val="1E3A8A"/>
                </a:solidFill>
                <a:latin typeface="Calibri" pitchFamily="34" charset="0"/>
                <a:ea typeface="Calibri" pitchFamily="34" charset="-122"/>
                <a:cs typeface="Calibri" pitchFamily="34" charset="-120"/>
              </a:rPr>
              <a:t>4.0</a:t>
            </a:r>
            <a:endParaRPr lang="en-US" sz="1100" dirty="0"/>
          </a:p>
          <a:p>
            <a:pPr algn="ctr" indent="0" marL="0">
              <a:buNone/>
            </a:pPr>
            <a:r>
              <a:rPr lang="en-US" sz="1100" b="1" dirty="0">
                <a:solidFill>
                  <a:srgbClr val="1E3A8A"/>
                </a:solidFill>
                <a:latin typeface="Calibri" pitchFamily="34" charset="0"/>
                <a:ea typeface="Calibri" pitchFamily="34" charset="-122"/>
                <a:cs typeface="Calibri" pitchFamily="34" charset="-120"/>
              </a:rPr>
              <a:t>Smart Contract</a:t>
            </a:r>
            <a:endParaRPr lang="en-US" sz="1100" dirty="0"/>
          </a:p>
          <a:p>
            <a:pPr algn="ctr" indent="0" marL="0">
              <a:buNone/>
            </a:pPr>
            <a:r>
              <a:rPr lang="en-US" sz="1100" b="1" dirty="0">
                <a:solidFill>
                  <a:srgbClr val="1E3A8A"/>
                </a:solidFill>
                <a:latin typeface="Calibri" pitchFamily="34" charset="0"/>
                <a:ea typeface="Calibri" pitchFamily="34" charset="-122"/>
                <a:cs typeface="Calibri" pitchFamily="34" charset="-120"/>
              </a:rPr>
              <a:t>On-Chain Seal</a:t>
            </a:r>
            <a:endParaRPr lang="en-US" sz="1100" dirty="0"/>
          </a:p>
        </p:txBody>
      </p:sp>
      <p:sp>
        <p:nvSpPr>
          <p:cNvPr id="15" name="Shape 12"/>
          <p:cNvSpPr/>
          <p:nvPr/>
        </p:nvSpPr>
        <p:spPr>
          <a:xfrm>
            <a:off x="731520" y="3017520"/>
            <a:ext cx="3291840" cy="731520"/>
          </a:xfrm>
          <a:prstGeom prst="rect">
            <a:avLst/>
          </a:prstGeom>
          <a:solidFill>
            <a:srgbClr val="FFFFFF"/>
          </a:solidFill>
          <a:ln w="12700">
            <a:solidFill>
              <a:srgbClr val="64748B"/>
            </a:solidFill>
            <a:prstDash val="solid"/>
          </a:ln>
        </p:spPr>
      </p:sp>
      <p:sp>
        <p:nvSpPr>
          <p:cNvPr id="16" name="Text 13"/>
          <p:cNvSpPr/>
          <p:nvPr/>
        </p:nvSpPr>
        <p:spPr>
          <a:xfrm>
            <a:off x="731520" y="3017520"/>
            <a:ext cx="3291840" cy="731520"/>
          </a:xfrm>
          <a:prstGeom prst="rect">
            <a:avLst/>
          </a:prstGeom>
          <a:noFill/>
          <a:ln/>
        </p:spPr>
        <p:txBody>
          <a:bodyPr wrap="square" rtlCol="0" anchor="ctr"/>
          <a:lstStyle/>
          <a:p>
            <a:pPr algn="ctr" indent="0" marL="0">
              <a:buNone/>
            </a:pPr>
            <a:r>
              <a:rPr lang="en-US" sz="1000" b="1" dirty="0">
                <a:solidFill>
                  <a:srgbClr val="0F172A"/>
                </a:solidFill>
                <a:latin typeface="Calibri" pitchFamily="34" charset="0"/>
                <a:ea typeface="Calibri" pitchFamily="34" charset="-122"/>
                <a:cs typeface="Calibri" pitchFamily="34" charset="-120"/>
              </a:rPr>
              <a:t>D1: PostgreSQL Database</a:t>
            </a:r>
            <a:endParaRPr lang="en-US" sz="1000" dirty="0"/>
          </a:p>
          <a:p>
            <a:pPr algn="ctr" indent="0" marL="0">
              <a:buNone/>
            </a:pPr>
            <a:r>
              <a:rPr lang="en-US" sz="1000" b="1" dirty="0">
                <a:solidFill>
                  <a:srgbClr val="0F172A"/>
                </a:solidFill>
                <a:latin typeface="Calibri" pitchFamily="34" charset="0"/>
                <a:ea typeface="Calibri" pitchFamily="34" charset="-122"/>
                <a:cs typeface="Calibri" pitchFamily="34" charset="-120"/>
              </a:rPr>
              <a:t>(user records, intents, doc metadata)</a:t>
            </a:r>
            <a:endParaRPr lang="en-US" sz="1000" dirty="0"/>
          </a:p>
        </p:txBody>
      </p:sp>
      <p:sp>
        <p:nvSpPr>
          <p:cNvPr id="17" name="Shape 14"/>
          <p:cNvSpPr/>
          <p:nvPr/>
        </p:nvSpPr>
        <p:spPr>
          <a:xfrm>
            <a:off x="5120640" y="3017520"/>
            <a:ext cx="3291840" cy="731520"/>
          </a:xfrm>
          <a:prstGeom prst="rect">
            <a:avLst/>
          </a:prstGeom>
          <a:solidFill>
            <a:srgbClr val="FFFFFF"/>
          </a:solidFill>
          <a:ln w="12700">
            <a:solidFill>
              <a:srgbClr val="64748B"/>
            </a:solidFill>
            <a:prstDash val="solid"/>
          </a:ln>
        </p:spPr>
      </p:sp>
      <p:sp>
        <p:nvSpPr>
          <p:cNvPr id="18" name="Text 15"/>
          <p:cNvSpPr/>
          <p:nvPr/>
        </p:nvSpPr>
        <p:spPr>
          <a:xfrm>
            <a:off x="5120640" y="3017520"/>
            <a:ext cx="3291840" cy="731520"/>
          </a:xfrm>
          <a:prstGeom prst="rect">
            <a:avLst/>
          </a:prstGeom>
          <a:noFill/>
          <a:ln/>
        </p:spPr>
        <p:txBody>
          <a:bodyPr wrap="square" rtlCol="0" anchor="ctr"/>
          <a:lstStyle/>
          <a:p>
            <a:pPr algn="ctr" indent="0" marL="0">
              <a:buNone/>
            </a:pPr>
            <a:r>
              <a:rPr lang="en-US" sz="1000" b="1" dirty="0">
                <a:solidFill>
                  <a:srgbClr val="0F172A"/>
                </a:solidFill>
                <a:latin typeface="Calibri" pitchFamily="34" charset="0"/>
                <a:ea typeface="Calibri" pitchFamily="34" charset="-122"/>
                <a:cs typeface="Calibri" pitchFamily="34" charset="-120"/>
              </a:rPr>
              <a:t>D2: AWS S3 Storage</a:t>
            </a:r>
            <a:endParaRPr lang="en-US" sz="1000" dirty="0"/>
          </a:p>
          <a:p>
            <a:pPr algn="ctr" indent="0" marL="0">
              <a:buNone/>
            </a:pPr>
            <a:r>
              <a:rPr lang="en-US" sz="1000" b="1" dirty="0">
                <a:solidFill>
                  <a:srgbClr val="0F172A"/>
                </a:solidFill>
                <a:latin typeface="Calibri" pitchFamily="34" charset="0"/>
                <a:ea typeface="Calibri" pitchFamily="34" charset="-122"/>
                <a:cs typeface="Calibri" pitchFamily="34" charset="-120"/>
              </a:rPr>
              <a:t>(immutable encrypted PDF blobs)</a:t>
            </a:r>
            <a:endParaRPr lang="en-US" sz="1000" dirty="0"/>
          </a:p>
        </p:txBody>
      </p:sp>
      <p:sp>
        <p:nvSpPr>
          <p:cNvPr id="19" name="Shape 16"/>
          <p:cNvSpPr/>
          <p:nvPr/>
        </p:nvSpPr>
        <p:spPr>
          <a:xfrm>
            <a:off x="1188720" y="2286000"/>
            <a:ext cx="137160" cy="640080"/>
          </a:xfrm>
          <a:prstGeom prst="downArrow">
            <a:avLst/>
          </a:prstGeom>
          <a:solidFill>
            <a:srgbClr val="3B82F6"/>
          </a:solidFill>
          <a:ln w="12700">
            <a:solidFill>
              <a:srgbClr val="3B82F6"/>
            </a:solidFill>
            <a:prstDash val="solid"/>
          </a:ln>
        </p:spPr>
      </p:sp>
      <p:sp>
        <p:nvSpPr>
          <p:cNvPr id="20" name="Shape 17"/>
          <p:cNvSpPr/>
          <p:nvPr/>
        </p:nvSpPr>
        <p:spPr>
          <a:xfrm>
            <a:off x="2743200" y="2286000"/>
            <a:ext cx="137160" cy="640080"/>
          </a:xfrm>
          <a:prstGeom prst="downArrow">
            <a:avLst/>
          </a:prstGeom>
          <a:solidFill>
            <a:srgbClr val="3B82F6"/>
          </a:solidFill>
          <a:ln w="12700">
            <a:solidFill>
              <a:srgbClr val="3B82F6"/>
            </a:solidFill>
            <a:prstDash val="solid"/>
          </a:ln>
        </p:spPr>
      </p:sp>
      <p:sp>
        <p:nvSpPr>
          <p:cNvPr id="21" name="Shape 18"/>
          <p:cNvSpPr/>
          <p:nvPr/>
        </p:nvSpPr>
        <p:spPr>
          <a:xfrm>
            <a:off x="5669280" y="2286000"/>
            <a:ext cx="137160" cy="640080"/>
          </a:xfrm>
          <a:prstGeom prst="downArrow">
            <a:avLst/>
          </a:prstGeom>
          <a:solidFill>
            <a:srgbClr val="3B82F6"/>
          </a:solidFill>
          <a:ln w="12700">
            <a:solidFill>
              <a:srgbClr val="3B82F6"/>
            </a:solidFill>
            <a:prstDash val="solid"/>
          </a:ln>
        </p:spPr>
      </p:sp>
      <p:sp>
        <p:nvSpPr>
          <p:cNvPr id="22" name="Shape 19"/>
          <p:cNvSpPr/>
          <p:nvPr/>
        </p:nvSpPr>
        <p:spPr>
          <a:xfrm>
            <a:off x="3657600" y="2286000"/>
            <a:ext cx="137160" cy="640080"/>
          </a:xfrm>
          <a:prstGeom prst="upArrow">
            <a:avLst/>
          </a:prstGeom>
          <a:solidFill>
            <a:srgbClr val="3B82F6"/>
          </a:solidFill>
          <a:ln w="12700">
            <a:solidFill>
              <a:srgbClr val="3B82F6"/>
            </a:solidFill>
            <a:prstDash val="solid"/>
          </a:ln>
        </p:spPr>
      </p:sp>
      <p:sp>
        <p:nvSpPr>
          <p:cNvPr id="23" name="Shape 20"/>
          <p:cNvSpPr/>
          <p:nvPr/>
        </p:nvSpPr>
        <p:spPr>
          <a:xfrm>
            <a:off x="4206240" y="3383280"/>
            <a:ext cx="731520" cy="137160"/>
          </a:xfrm>
          <a:prstGeom prst="leftArrow">
            <a:avLst/>
          </a:prstGeom>
          <a:solidFill>
            <a:srgbClr val="3B82F6"/>
          </a:solidFill>
          <a:ln w="12700">
            <a:solidFill>
              <a:srgbClr val="3B82F6"/>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274320"/>
            <a:ext cx="77724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08. AI &amp; Smart Features Breakdown</a:t>
            </a:r>
            <a:endParaRPr lang="en-US" sz="1800" dirty="0"/>
          </a:p>
        </p:txBody>
      </p:sp>
      <p:sp>
        <p:nvSpPr>
          <p:cNvPr id="3" name="Shape 1"/>
          <p:cNvSpPr/>
          <p:nvPr/>
        </p:nvSpPr>
        <p:spPr>
          <a:xfrm>
            <a:off x="365760" y="777240"/>
            <a:ext cx="841248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229600" y="137160"/>
            <a:ext cx="594360" cy="594360"/>
          </a:xfrm>
          <a:prstGeom prst="rect">
            <a:avLst/>
          </a:prstGeom>
        </p:spPr>
      </p:pic>
      <p:sp>
        <p:nvSpPr>
          <p:cNvPr id="5" name="Text 2"/>
          <p:cNvSpPr/>
          <p:nvPr/>
        </p:nvSpPr>
        <p:spPr>
          <a:xfrm>
            <a:off x="36576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804672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13</a:t>
            </a:r>
            <a:endParaRPr lang="en-US" sz="850" dirty="0"/>
          </a:p>
        </p:txBody>
      </p:sp>
      <p:sp>
        <p:nvSpPr>
          <p:cNvPr id="7" name="Shape 4"/>
          <p:cNvSpPr/>
          <p:nvPr/>
        </p:nvSpPr>
        <p:spPr>
          <a:xfrm>
            <a:off x="365760" y="1005840"/>
            <a:ext cx="4023360" cy="1645920"/>
          </a:xfrm>
          <a:prstGeom prst="rect">
            <a:avLst/>
          </a:prstGeom>
          <a:solidFill>
            <a:srgbClr val="FFFFFF"/>
          </a:solidFill>
          <a:ln w="12700">
            <a:solidFill>
              <a:srgbClr val="CBD5E1"/>
            </a:solidFill>
            <a:prstDash val="solid"/>
          </a:ln>
        </p:spPr>
      </p:sp>
      <p:sp>
        <p:nvSpPr>
          <p:cNvPr id="8" name="Shape 5"/>
          <p:cNvSpPr/>
          <p:nvPr/>
        </p:nvSpPr>
        <p:spPr>
          <a:xfrm>
            <a:off x="365760" y="1005840"/>
            <a:ext cx="4023360" cy="73152"/>
          </a:xfrm>
          <a:prstGeom prst="rect">
            <a:avLst/>
          </a:prstGeom>
          <a:solidFill>
            <a:srgbClr val="1E3A8A"/>
          </a:solidFill>
          <a:ln w="12700">
            <a:solidFill>
              <a:srgbClr val="1E3A8A"/>
            </a:solidFill>
            <a:prstDash val="solid"/>
          </a:ln>
        </p:spPr>
      </p:sp>
      <p:sp>
        <p:nvSpPr>
          <p:cNvPr id="9" name="Text 6"/>
          <p:cNvSpPr/>
          <p:nvPr/>
        </p:nvSpPr>
        <p:spPr>
          <a:xfrm>
            <a:off x="502920" y="1143000"/>
            <a:ext cx="3749040" cy="274320"/>
          </a:xfrm>
          <a:prstGeom prst="rect">
            <a:avLst/>
          </a:prstGeom>
          <a:noFill/>
          <a:ln/>
        </p:spPr>
        <p:txBody>
          <a:bodyPr wrap="square" rtlCol="0" anchor="t"/>
          <a:lstStyle/>
          <a:p>
            <a:pPr indent="0" marL="0">
              <a:buNone/>
            </a:pPr>
            <a:r>
              <a:rPr lang="en-US" sz="1200" b="1" dirty="0">
                <a:solidFill>
                  <a:srgbClr val="1E3A8A"/>
                </a:solidFill>
                <a:latin typeface="Calibri" pitchFamily="34" charset="0"/>
                <a:ea typeface="Calibri" pitchFamily="34" charset="-122"/>
                <a:cs typeface="Calibri" pitchFamily="34" charset="-120"/>
              </a:rPr>
              <a:t>Biometric Face Auth (FaceAPI.js)</a:t>
            </a:r>
            <a:endParaRPr lang="en-US" sz="1200" dirty="0"/>
          </a:p>
        </p:txBody>
      </p:sp>
      <p:sp>
        <p:nvSpPr>
          <p:cNvPr id="10" name="Text 7"/>
          <p:cNvSpPr/>
          <p:nvPr/>
        </p:nvSpPr>
        <p:spPr>
          <a:xfrm>
            <a:off x="502920" y="1371600"/>
            <a:ext cx="3749040" cy="1188720"/>
          </a:xfrm>
          <a:prstGeom prst="rect">
            <a:avLst/>
          </a:prstGeom>
          <a:noFill/>
          <a:ln/>
        </p:spPr>
        <p:txBody>
          <a:bodyPr wrap="square" lIns="63500" tIns="63500" rIns="63500" bIns="63500" rtlCol="0" anchor="t"/>
          <a:lstStyle/>
          <a:p>
            <a:r>
              <a:rPr lang="en-US" sz="1050" dirty="0">
                <a:solidFill>
                  <a:srgbClr val="334155"/>
                </a:solidFill>
                <a:latin typeface="Calibri" pitchFamily="34" charset="0"/>
                <a:ea typeface="Calibri" pitchFamily="34" charset="-122"/>
                <a:cs typeface="Calibri" pitchFamily="34" charset="-120"/>
              </a:rPr>
              <a:t>Uses TensorFlow-backed FaceAPI.js in browser/Electron.</a:t>
            </a:r>
            <a:endParaRPr lang="en-US" sz="1050" dirty="0"/>
          </a:p>
          <a:p>
            <a:r>
              <a:rPr lang="en-US" sz="1050" dirty="0">
                <a:solidFill>
                  <a:srgbClr val="334155"/>
                </a:solidFill>
                <a:latin typeface="Calibri" pitchFamily="34" charset="0"/>
                <a:ea typeface="Calibri" pitchFamily="34" charset="-122"/>
                <a:cs typeface="Calibri" pitchFamily="34" charset="-120"/>
              </a:rPr>
              <a:t>Extracts 68-point facial landmark vectors at login.</a:t>
            </a:r>
            <a:endParaRPr lang="en-US" sz="1050" dirty="0"/>
          </a:p>
          <a:p>
            <a:r>
              <a:rPr lang="en-US" sz="1050" dirty="0">
                <a:solidFill>
                  <a:srgbClr val="334155"/>
                </a:solidFill>
                <a:latin typeface="Calibri" pitchFamily="34" charset="0"/>
                <a:ea typeface="Calibri" pitchFamily="34" charset="-122"/>
                <a:cs typeface="Calibri" pitchFamily="34" charset="-120"/>
              </a:rPr>
              <a:t>Verifies features against facial templates captured during registration to prevent spoofing.</a:t>
            </a:r>
            <a:endParaRPr lang="en-US" sz="1050" dirty="0"/>
          </a:p>
        </p:txBody>
      </p:sp>
      <p:sp>
        <p:nvSpPr>
          <p:cNvPr id="11" name="Shape 8"/>
          <p:cNvSpPr/>
          <p:nvPr/>
        </p:nvSpPr>
        <p:spPr>
          <a:xfrm>
            <a:off x="4572000" y="1005840"/>
            <a:ext cx="4206240" cy="1645920"/>
          </a:xfrm>
          <a:prstGeom prst="rect">
            <a:avLst/>
          </a:prstGeom>
          <a:solidFill>
            <a:srgbClr val="FFFFFF"/>
          </a:solidFill>
          <a:ln w="12700">
            <a:solidFill>
              <a:srgbClr val="CBD5E1"/>
            </a:solidFill>
            <a:prstDash val="solid"/>
          </a:ln>
        </p:spPr>
      </p:sp>
      <p:sp>
        <p:nvSpPr>
          <p:cNvPr id="12" name="Shape 9"/>
          <p:cNvSpPr/>
          <p:nvPr/>
        </p:nvSpPr>
        <p:spPr>
          <a:xfrm>
            <a:off x="4572000" y="1005840"/>
            <a:ext cx="4206240" cy="73152"/>
          </a:xfrm>
          <a:prstGeom prst="rect">
            <a:avLst/>
          </a:prstGeom>
          <a:solidFill>
            <a:srgbClr val="3B82F6"/>
          </a:solidFill>
          <a:ln w="12700">
            <a:solidFill>
              <a:srgbClr val="3B82F6"/>
            </a:solidFill>
            <a:prstDash val="solid"/>
          </a:ln>
        </p:spPr>
      </p:sp>
      <p:sp>
        <p:nvSpPr>
          <p:cNvPr id="13" name="Text 10"/>
          <p:cNvSpPr/>
          <p:nvPr/>
        </p:nvSpPr>
        <p:spPr>
          <a:xfrm>
            <a:off x="4709160" y="1143000"/>
            <a:ext cx="3931920" cy="274320"/>
          </a:xfrm>
          <a:prstGeom prst="rect">
            <a:avLst/>
          </a:prstGeom>
          <a:noFill/>
          <a:ln/>
        </p:spPr>
        <p:txBody>
          <a:bodyPr wrap="square" rtlCol="0" anchor="t"/>
          <a:lstStyle/>
          <a:p>
            <a:pPr indent="0" marL="0">
              <a:buNone/>
            </a:pPr>
            <a:r>
              <a:rPr lang="en-US" sz="1200" b="1" dirty="0">
                <a:solidFill>
                  <a:srgbClr val="3B82F6"/>
                </a:solidFill>
                <a:latin typeface="Calibri" pitchFamily="34" charset="0"/>
                <a:ea typeface="Calibri" pitchFamily="34" charset="-122"/>
                <a:cs typeface="Calibri" pitchFamily="34" charset="-120"/>
              </a:rPr>
              <a:t>EIP-712 Cryptographic Relay</a:t>
            </a:r>
            <a:endParaRPr lang="en-US" sz="1200" dirty="0"/>
          </a:p>
        </p:txBody>
      </p:sp>
      <p:sp>
        <p:nvSpPr>
          <p:cNvPr id="14" name="Text 11"/>
          <p:cNvSpPr/>
          <p:nvPr/>
        </p:nvSpPr>
        <p:spPr>
          <a:xfrm>
            <a:off x="4709160" y="1371600"/>
            <a:ext cx="3931920" cy="1188720"/>
          </a:xfrm>
          <a:prstGeom prst="rect">
            <a:avLst/>
          </a:prstGeom>
          <a:noFill/>
          <a:ln/>
        </p:spPr>
        <p:txBody>
          <a:bodyPr wrap="square" lIns="63500" tIns="63500" rIns="63500" bIns="63500" rtlCol="0" anchor="t"/>
          <a:lstStyle/>
          <a:p>
            <a:r>
              <a:rPr lang="en-US" sz="1050" dirty="0">
                <a:solidFill>
                  <a:srgbClr val="334155"/>
                </a:solidFill>
                <a:latin typeface="Calibri" pitchFamily="34" charset="0"/>
                <a:ea typeface="Calibri" pitchFamily="34" charset="-122"/>
                <a:cs typeface="Calibri" pitchFamily="34" charset="-120"/>
              </a:rPr>
              <a:t>Notary signs typed structured payloads locally via MetaMask.</a:t>
            </a:r>
            <a:endParaRPr lang="en-US" sz="1050" dirty="0"/>
          </a:p>
          <a:p>
            <a:r>
              <a:rPr lang="en-US" sz="1050" dirty="0">
                <a:solidFill>
                  <a:srgbClr val="334155"/>
                </a:solidFill>
                <a:latin typeface="Calibri" pitchFamily="34" charset="0"/>
                <a:ea typeface="Calibri" pitchFamily="34" charset="-122"/>
                <a:cs typeface="Calibri" pitchFamily="34" charset="-120"/>
              </a:rPr>
              <a:t>Bypasses immediate on-chain gas fee transactions.</a:t>
            </a:r>
            <a:endParaRPr lang="en-US" sz="1050" dirty="0"/>
          </a:p>
          <a:p>
            <a:r>
              <a:rPr lang="en-US" sz="1050" dirty="0">
                <a:solidFill>
                  <a:srgbClr val="334155"/>
                </a:solidFill>
                <a:latin typeface="Calibri" pitchFamily="34" charset="0"/>
                <a:ea typeface="Calibri" pitchFamily="34" charset="-122"/>
                <a:cs typeface="Calibri" pitchFamily="34" charset="-120"/>
              </a:rPr>
              <a:t>Relays signature to backend API, which executes public on-chain execution, saving gas costs.</a:t>
            </a:r>
            <a:endParaRPr lang="en-US" sz="1050" dirty="0"/>
          </a:p>
        </p:txBody>
      </p:sp>
      <p:sp>
        <p:nvSpPr>
          <p:cNvPr id="15" name="Shape 12"/>
          <p:cNvSpPr/>
          <p:nvPr/>
        </p:nvSpPr>
        <p:spPr>
          <a:xfrm>
            <a:off x="365760" y="2834640"/>
            <a:ext cx="4023360" cy="1645920"/>
          </a:xfrm>
          <a:prstGeom prst="rect">
            <a:avLst/>
          </a:prstGeom>
          <a:solidFill>
            <a:srgbClr val="FFFFFF"/>
          </a:solidFill>
          <a:ln w="12700">
            <a:solidFill>
              <a:srgbClr val="CBD5E1"/>
            </a:solidFill>
            <a:prstDash val="solid"/>
          </a:ln>
        </p:spPr>
      </p:sp>
      <p:sp>
        <p:nvSpPr>
          <p:cNvPr id="16" name="Shape 13"/>
          <p:cNvSpPr/>
          <p:nvPr/>
        </p:nvSpPr>
        <p:spPr>
          <a:xfrm>
            <a:off x="365760" y="2834640"/>
            <a:ext cx="4023360" cy="73152"/>
          </a:xfrm>
          <a:prstGeom prst="rect">
            <a:avLst/>
          </a:prstGeom>
          <a:solidFill>
            <a:srgbClr val="10B981"/>
          </a:solidFill>
          <a:ln w="12700">
            <a:solidFill>
              <a:srgbClr val="10B981"/>
            </a:solidFill>
            <a:prstDash val="solid"/>
          </a:ln>
        </p:spPr>
      </p:sp>
      <p:sp>
        <p:nvSpPr>
          <p:cNvPr id="17" name="Text 14"/>
          <p:cNvSpPr/>
          <p:nvPr/>
        </p:nvSpPr>
        <p:spPr>
          <a:xfrm>
            <a:off x="502920" y="2971800"/>
            <a:ext cx="3749040" cy="274320"/>
          </a:xfrm>
          <a:prstGeom prst="rect">
            <a:avLst/>
          </a:prstGeom>
          <a:noFill/>
          <a:ln/>
        </p:spPr>
        <p:txBody>
          <a:bodyPr wrap="square" rtlCol="0" anchor="t"/>
          <a:lstStyle/>
          <a:p>
            <a:pPr indent="0" marL="0">
              <a:buNone/>
            </a:pPr>
            <a:r>
              <a:rPr lang="en-US" sz="1200" b="1" dirty="0">
                <a:solidFill>
                  <a:srgbClr val="10B981"/>
                </a:solidFill>
                <a:latin typeface="Calibri" pitchFamily="34" charset="0"/>
                <a:ea typeface="Calibri" pitchFamily="34" charset="-122"/>
                <a:cs typeface="Calibri" pitchFamily="34" charset="-120"/>
              </a:rPr>
              <a:t>NTKR Token Utility &amp; Burning</a:t>
            </a:r>
            <a:endParaRPr lang="en-US" sz="1200" dirty="0"/>
          </a:p>
        </p:txBody>
      </p:sp>
      <p:sp>
        <p:nvSpPr>
          <p:cNvPr id="18" name="Text 15"/>
          <p:cNvSpPr/>
          <p:nvPr/>
        </p:nvSpPr>
        <p:spPr>
          <a:xfrm>
            <a:off x="502920" y="3200400"/>
            <a:ext cx="3749040" cy="1188720"/>
          </a:xfrm>
          <a:prstGeom prst="rect">
            <a:avLst/>
          </a:prstGeom>
          <a:noFill/>
          <a:ln/>
        </p:spPr>
        <p:txBody>
          <a:bodyPr wrap="square" lIns="63500" tIns="63500" rIns="63500" bIns="63500" rtlCol="0" anchor="t"/>
          <a:lstStyle/>
          <a:p>
            <a:r>
              <a:rPr lang="en-US" sz="1050" dirty="0">
                <a:solidFill>
                  <a:srgbClr val="334155"/>
                </a:solidFill>
                <a:latin typeface="Calibri" pitchFamily="34" charset="0"/>
                <a:ea typeface="Calibri" pitchFamily="34" charset="-122"/>
                <a:cs typeface="Calibri" pitchFamily="34" charset="-120"/>
              </a:rPr>
              <a:t>Custom ERC-20 utility token deployed on BNB Smart Chain.</a:t>
            </a:r>
            <a:endParaRPr lang="en-US" sz="1050" dirty="0"/>
          </a:p>
          <a:p>
            <a:r>
              <a:rPr lang="en-US" sz="1050" dirty="0">
                <a:solidFill>
                  <a:srgbClr val="334155"/>
                </a:solidFill>
                <a:latin typeface="Calibri" pitchFamily="34" charset="0"/>
                <a:ea typeface="Calibri" pitchFamily="34" charset="-122"/>
                <a:cs typeface="Calibri" pitchFamily="34" charset="-120"/>
              </a:rPr>
              <a:t>Every notarization requires user to burn fixed NTKR.</a:t>
            </a:r>
            <a:endParaRPr lang="en-US" sz="1050" dirty="0"/>
          </a:p>
          <a:p>
            <a:r>
              <a:rPr lang="en-US" sz="1050" dirty="0">
                <a:solidFill>
                  <a:srgbClr val="334155"/>
                </a:solidFill>
                <a:latin typeface="Calibri" pitchFamily="34" charset="0"/>
                <a:ea typeface="Calibri" pitchFamily="34" charset="-122"/>
                <a:cs typeface="Calibri" pitchFamily="34" charset="-120"/>
              </a:rPr>
              <a:t>Ensures tokenomics-driven governance &amp; abuse control.</a:t>
            </a:r>
            <a:endParaRPr lang="en-US" sz="1050" dirty="0"/>
          </a:p>
        </p:txBody>
      </p:sp>
      <p:sp>
        <p:nvSpPr>
          <p:cNvPr id="19" name="Shape 16"/>
          <p:cNvSpPr/>
          <p:nvPr/>
        </p:nvSpPr>
        <p:spPr>
          <a:xfrm>
            <a:off x="4572000" y="2834640"/>
            <a:ext cx="4206240" cy="1645920"/>
          </a:xfrm>
          <a:prstGeom prst="rect">
            <a:avLst/>
          </a:prstGeom>
          <a:solidFill>
            <a:srgbClr val="FFFFFF"/>
          </a:solidFill>
          <a:ln w="12700">
            <a:solidFill>
              <a:srgbClr val="CBD5E1"/>
            </a:solidFill>
            <a:prstDash val="solid"/>
          </a:ln>
        </p:spPr>
      </p:sp>
      <p:sp>
        <p:nvSpPr>
          <p:cNvPr id="20" name="Shape 17"/>
          <p:cNvSpPr/>
          <p:nvPr/>
        </p:nvSpPr>
        <p:spPr>
          <a:xfrm>
            <a:off x="4572000" y="2834640"/>
            <a:ext cx="4206240" cy="73152"/>
          </a:xfrm>
          <a:prstGeom prst="rect">
            <a:avLst/>
          </a:prstGeom>
          <a:solidFill>
            <a:srgbClr val="F59E0B"/>
          </a:solidFill>
          <a:ln w="12700">
            <a:solidFill>
              <a:srgbClr val="F59E0B"/>
            </a:solidFill>
            <a:prstDash val="solid"/>
          </a:ln>
        </p:spPr>
      </p:sp>
      <p:sp>
        <p:nvSpPr>
          <p:cNvPr id="21" name="Text 18"/>
          <p:cNvSpPr/>
          <p:nvPr/>
        </p:nvSpPr>
        <p:spPr>
          <a:xfrm>
            <a:off x="4709160" y="2971800"/>
            <a:ext cx="3931920" cy="274320"/>
          </a:xfrm>
          <a:prstGeom prst="rect">
            <a:avLst/>
          </a:prstGeom>
          <a:noFill/>
          <a:ln/>
        </p:spPr>
        <p:txBody>
          <a:bodyPr wrap="square" rtlCol="0" anchor="t"/>
          <a:lstStyle/>
          <a:p>
            <a:pPr indent="0" marL="0">
              <a:buNone/>
            </a:pPr>
            <a:r>
              <a:rPr lang="en-US" sz="1200" b="1" dirty="0">
                <a:solidFill>
                  <a:srgbClr val="F59E0B"/>
                </a:solidFill>
                <a:latin typeface="Calibri" pitchFamily="34" charset="0"/>
                <a:ea typeface="Calibri" pitchFamily="34" charset="-122"/>
                <a:cs typeface="Calibri" pitchFamily="34" charset="-120"/>
              </a:rPr>
              <a:t>PM2 &amp; Background Scavengers</a:t>
            </a:r>
            <a:endParaRPr lang="en-US" sz="1200" dirty="0"/>
          </a:p>
        </p:txBody>
      </p:sp>
      <p:sp>
        <p:nvSpPr>
          <p:cNvPr id="22" name="Text 19"/>
          <p:cNvSpPr/>
          <p:nvPr/>
        </p:nvSpPr>
        <p:spPr>
          <a:xfrm>
            <a:off x="4709160" y="3200400"/>
            <a:ext cx="3931920" cy="1188720"/>
          </a:xfrm>
          <a:prstGeom prst="rect">
            <a:avLst/>
          </a:prstGeom>
          <a:noFill/>
          <a:ln/>
        </p:spPr>
        <p:txBody>
          <a:bodyPr wrap="square" lIns="63500" tIns="63500" rIns="63500" bIns="63500" rtlCol="0" anchor="t"/>
          <a:lstStyle/>
          <a:p>
            <a:r>
              <a:rPr lang="en-US" sz="1050" dirty="0">
                <a:solidFill>
                  <a:srgbClr val="334155"/>
                </a:solidFill>
                <a:latin typeface="Calibri" pitchFamily="34" charset="0"/>
                <a:ea typeface="Calibri" pitchFamily="34" charset="-122"/>
                <a:cs typeface="Calibri" pitchFamily="34" charset="-120"/>
              </a:rPr>
              <a:t>Backend runs in multi-instance PM2 cluster configuration.</a:t>
            </a:r>
            <a:endParaRPr lang="en-US" sz="1050" dirty="0"/>
          </a:p>
          <a:p>
            <a:r>
              <a:rPr lang="en-US" sz="1050" dirty="0">
                <a:solidFill>
                  <a:srgbClr val="334155"/>
                </a:solidFill>
                <a:latin typeface="Calibri" pitchFamily="34" charset="0"/>
                <a:ea typeface="Calibri" pitchFamily="34" charset="-122"/>
                <a:cs typeface="Calibri" pitchFamily="34" charset="-120"/>
              </a:rPr>
              <a:t>Scavenger workers automatically reconcile pending/paid DB intents against blockchain transaction receipts.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274320"/>
            <a:ext cx="77724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09. Project Requirements Specification</a:t>
            </a:r>
            <a:endParaRPr lang="en-US" sz="1800" dirty="0"/>
          </a:p>
        </p:txBody>
      </p:sp>
      <p:sp>
        <p:nvSpPr>
          <p:cNvPr id="3" name="Shape 1"/>
          <p:cNvSpPr/>
          <p:nvPr/>
        </p:nvSpPr>
        <p:spPr>
          <a:xfrm>
            <a:off x="365760" y="777240"/>
            <a:ext cx="841248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229600" y="137160"/>
            <a:ext cx="594360" cy="594360"/>
          </a:xfrm>
          <a:prstGeom prst="rect">
            <a:avLst/>
          </a:prstGeom>
        </p:spPr>
      </p:pic>
      <p:sp>
        <p:nvSpPr>
          <p:cNvPr id="5" name="Text 2"/>
          <p:cNvSpPr/>
          <p:nvPr/>
        </p:nvSpPr>
        <p:spPr>
          <a:xfrm>
            <a:off x="36576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804672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14</a:t>
            </a:r>
            <a:endParaRPr lang="en-US" sz="850" dirty="0"/>
          </a:p>
        </p:txBody>
      </p:sp>
      <p:sp>
        <p:nvSpPr>
          <p:cNvPr id="7" name="Shape 4"/>
          <p:cNvSpPr/>
          <p:nvPr/>
        </p:nvSpPr>
        <p:spPr>
          <a:xfrm>
            <a:off x="365760" y="1005840"/>
            <a:ext cx="4023360" cy="3474720"/>
          </a:xfrm>
          <a:prstGeom prst="rect">
            <a:avLst/>
          </a:prstGeom>
          <a:solidFill>
            <a:srgbClr val="FFFFFF"/>
          </a:solidFill>
          <a:ln w="12700">
            <a:solidFill>
              <a:srgbClr val="CBD5E1"/>
            </a:solidFill>
            <a:prstDash val="solid"/>
          </a:ln>
        </p:spPr>
      </p:sp>
      <p:sp>
        <p:nvSpPr>
          <p:cNvPr id="8" name="Shape 5"/>
          <p:cNvSpPr/>
          <p:nvPr/>
        </p:nvSpPr>
        <p:spPr>
          <a:xfrm>
            <a:off x="365760" y="1005840"/>
            <a:ext cx="4023360" cy="73152"/>
          </a:xfrm>
          <a:prstGeom prst="rect">
            <a:avLst/>
          </a:prstGeom>
          <a:solidFill>
            <a:srgbClr val="1E3A8A"/>
          </a:solidFill>
          <a:ln w="12700">
            <a:solidFill>
              <a:srgbClr val="1E3A8A"/>
            </a:solidFill>
            <a:prstDash val="solid"/>
          </a:ln>
        </p:spPr>
      </p:sp>
      <p:sp>
        <p:nvSpPr>
          <p:cNvPr id="9" name="Text 6"/>
          <p:cNvSpPr/>
          <p:nvPr/>
        </p:nvSpPr>
        <p:spPr>
          <a:xfrm>
            <a:off x="502920" y="1143000"/>
            <a:ext cx="3749040" cy="274320"/>
          </a:xfrm>
          <a:prstGeom prst="rect">
            <a:avLst/>
          </a:prstGeom>
          <a:noFill/>
          <a:ln/>
        </p:spPr>
        <p:txBody>
          <a:bodyPr wrap="square" rtlCol="0" anchor="t"/>
          <a:lstStyle/>
          <a:p>
            <a:pPr indent="0" marL="0">
              <a:buNone/>
            </a:pPr>
            <a:r>
              <a:rPr lang="en-US" sz="1200" b="1" dirty="0">
                <a:solidFill>
                  <a:srgbClr val="1E3A8A"/>
                </a:solidFill>
                <a:latin typeface="Calibri" pitchFamily="34" charset="0"/>
                <a:ea typeface="Calibri" pitchFamily="34" charset="-122"/>
                <a:cs typeface="Calibri" pitchFamily="34" charset="-120"/>
              </a:rPr>
              <a:t>Functional Requirements</a:t>
            </a:r>
            <a:endParaRPr lang="en-US" sz="1200" dirty="0"/>
          </a:p>
        </p:txBody>
      </p:sp>
      <p:sp>
        <p:nvSpPr>
          <p:cNvPr id="10" name="Text 7"/>
          <p:cNvSpPr/>
          <p:nvPr/>
        </p:nvSpPr>
        <p:spPr>
          <a:xfrm>
            <a:off x="502920" y="1463040"/>
            <a:ext cx="3749040" cy="2926080"/>
          </a:xfrm>
          <a:prstGeom prst="rect">
            <a:avLst/>
          </a:prstGeom>
          <a:noFill/>
          <a:ln/>
        </p:spPr>
        <p:txBody>
          <a:bodyPr wrap="square" lIns="63500" tIns="63500" rIns="63500" bIns="63500" rtlCol="0" anchor="t"/>
          <a:lstStyle/>
          <a:p>
            <a:r>
              <a:rPr lang="en-US" sz="1100" dirty="0">
                <a:solidFill>
                  <a:srgbClr val="334155"/>
                </a:solidFill>
                <a:latin typeface="Calibri" pitchFamily="34" charset="0"/>
                <a:ea typeface="Calibri" pitchFamily="34" charset="-122"/>
                <a:cs typeface="Calibri" pitchFamily="34" charset="-120"/>
              </a:rPr>
              <a:t>User Onboarding: Email authentication, Face check template registration, MetaMask binding.</a:t>
            </a:r>
            <a:endParaRPr lang="en-US" sz="1100" dirty="0"/>
          </a:p>
          <a:p>
            <a:r>
              <a:rPr lang="en-US" sz="1100" dirty="0">
                <a:solidFill>
                  <a:srgbClr val="334155"/>
                </a:solidFill>
                <a:latin typeface="Calibri" pitchFamily="34" charset="0"/>
                <a:ea typeface="Calibri" pitchFamily="34" charset="-122"/>
                <a:cs typeface="Calibri" pitchFamily="34" charset="-120"/>
              </a:rPr>
              <a:t>Document Lifecycle: Local hashing, secure S3 pre-signed upload, token burn, queue allocation.</a:t>
            </a:r>
            <a:endParaRPr lang="en-US" sz="1100" dirty="0"/>
          </a:p>
          <a:p>
            <a:r>
              <a:rPr lang="en-US" sz="1100" dirty="0">
                <a:solidFill>
                  <a:srgbClr val="334155"/>
                </a:solidFill>
                <a:latin typeface="Calibri" pitchFamily="34" charset="0"/>
                <a:ea typeface="Calibri" pitchFamily="34" charset="-122"/>
                <a:cs typeface="Calibri" pitchFamily="34" charset="-120"/>
              </a:rPr>
              <a:t>Notary Operations: Biometric lock gate login, document validation panel, EIP-712 structured signing.</a:t>
            </a:r>
            <a:endParaRPr lang="en-US" sz="1100" dirty="0"/>
          </a:p>
          <a:p>
            <a:r>
              <a:rPr lang="en-US" sz="1100" dirty="0">
                <a:solidFill>
                  <a:srgbClr val="334155"/>
                </a:solidFill>
                <a:latin typeface="Calibri" pitchFamily="34" charset="0"/>
                <a:ea typeface="Calibri" pitchFamily="34" charset="-122"/>
                <a:cs typeface="Calibri" pitchFamily="34" charset="-120"/>
              </a:rPr>
              <a:t>Admin Governance: Application auditing interface, role allocation smart contract call execution.</a:t>
            </a:r>
            <a:endParaRPr lang="en-US" sz="1100" dirty="0"/>
          </a:p>
        </p:txBody>
      </p:sp>
      <p:sp>
        <p:nvSpPr>
          <p:cNvPr id="11" name="Shape 8"/>
          <p:cNvSpPr/>
          <p:nvPr/>
        </p:nvSpPr>
        <p:spPr>
          <a:xfrm>
            <a:off x="4572000" y="1005840"/>
            <a:ext cx="4206240" cy="3474720"/>
          </a:xfrm>
          <a:prstGeom prst="rect">
            <a:avLst/>
          </a:prstGeom>
          <a:solidFill>
            <a:srgbClr val="FFFFFF"/>
          </a:solidFill>
          <a:ln w="12700">
            <a:solidFill>
              <a:srgbClr val="CBD5E1"/>
            </a:solidFill>
            <a:prstDash val="solid"/>
          </a:ln>
        </p:spPr>
      </p:sp>
      <p:sp>
        <p:nvSpPr>
          <p:cNvPr id="12" name="Shape 9"/>
          <p:cNvSpPr/>
          <p:nvPr/>
        </p:nvSpPr>
        <p:spPr>
          <a:xfrm>
            <a:off x="4572000" y="1005840"/>
            <a:ext cx="4206240" cy="73152"/>
          </a:xfrm>
          <a:prstGeom prst="rect">
            <a:avLst/>
          </a:prstGeom>
          <a:solidFill>
            <a:srgbClr val="3B82F6"/>
          </a:solidFill>
          <a:ln w="12700">
            <a:solidFill>
              <a:srgbClr val="3B82F6"/>
            </a:solidFill>
            <a:prstDash val="solid"/>
          </a:ln>
        </p:spPr>
      </p:sp>
      <p:sp>
        <p:nvSpPr>
          <p:cNvPr id="13" name="Text 10"/>
          <p:cNvSpPr/>
          <p:nvPr/>
        </p:nvSpPr>
        <p:spPr>
          <a:xfrm>
            <a:off x="4709160" y="1143000"/>
            <a:ext cx="3931920" cy="274320"/>
          </a:xfrm>
          <a:prstGeom prst="rect">
            <a:avLst/>
          </a:prstGeom>
          <a:noFill/>
          <a:ln/>
        </p:spPr>
        <p:txBody>
          <a:bodyPr wrap="square" rtlCol="0" anchor="t"/>
          <a:lstStyle/>
          <a:p>
            <a:pPr indent="0" marL="0">
              <a:buNone/>
            </a:pPr>
            <a:r>
              <a:rPr lang="en-US" sz="1200" b="1" dirty="0">
                <a:solidFill>
                  <a:srgbClr val="3B82F6"/>
                </a:solidFill>
                <a:latin typeface="Calibri" pitchFamily="34" charset="0"/>
                <a:ea typeface="Calibri" pitchFamily="34" charset="-122"/>
                <a:cs typeface="Calibri" pitchFamily="34" charset="-120"/>
              </a:rPr>
              <a:t>Non-Functional Requirements</a:t>
            </a:r>
            <a:endParaRPr lang="en-US" sz="1200" dirty="0"/>
          </a:p>
        </p:txBody>
      </p:sp>
      <p:sp>
        <p:nvSpPr>
          <p:cNvPr id="14" name="Text 11"/>
          <p:cNvSpPr/>
          <p:nvPr/>
        </p:nvSpPr>
        <p:spPr>
          <a:xfrm>
            <a:off x="4709160" y="1463040"/>
            <a:ext cx="3931920" cy="2926080"/>
          </a:xfrm>
          <a:prstGeom prst="rect">
            <a:avLst/>
          </a:prstGeom>
          <a:noFill/>
          <a:ln/>
        </p:spPr>
        <p:txBody>
          <a:bodyPr wrap="square" lIns="63500" tIns="63500" rIns="63500" bIns="63500" rtlCol="0" anchor="t"/>
          <a:lstStyle/>
          <a:p>
            <a:r>
              <a:rPr lang="en-US" sz="1100" dirty="0">
                <a:solidFill>
                  <a:srgbClr val="334155"/>
                </a:solidFill>
                <a:latin typeface="Calibri" pitchFamily="34" charset="0"/>
                <a:ea typeface="Calibri" pitchFamily="34" charset="-122"/>
                <a:cs typeface="Calibri" pitchFamily="34" charset="-120"/>
              </a:rPr>
              <a:t>Security: Complete zero-trust routing. All signatures validated cryptographically on backend and contract.</a:t>
            </a:r>
            <a:endParaRPr lang="en-US" sz="1100" dirty="0"/>
          </a:p>
          <a:p>
            <a:r>
              <a:rPr lang="en-US" sz="1100" dirty="0">
                <a:solidFill>
                  <a:srgbClr val="334155"/>
                </a:solidFill>
                <a:latin typeface="Calibri" pitchFamily="34" charset="0"/>
                <a:ea typeface="Calibri" pitchFamily="34" charset="-122"/>
                <a:cs typeface="Calibri" pitchFamily="34" charset="-120"/>
              </a:rPr>
              <a:t>Performance: API endpoints respond under 800ms. Token validation queries completed in &lt;1s.</a:t>
            </a:r>
            <a:endParaRPr lang="en-US" sz="1100" dirty="0"/>
          </a:p>
          <a:p>
            <a:r>
              <a:rPr lang="en-US" sz="1100" dirty="0">
                <a:solidFill>
                  <a:srgbClr val="334155"/>
                </a:solidFill>
                <a:latin typeface="Calibri" pitchFamily="34" charset="0"/>
                <a:ea typeface="Calibri" pitchFamily="34" charset="-122"/>
                <a:cs typeface="Calibri" pitchFamily="34" charset="-120"/>
              </a:rPr>
              <a:t>Availability: Self-healing background processes automatically restart on runtime errors.</a:t>
            </a:r>
            <a:endParaRPr lang="en-US" sz="1100" dirty="0"/>
          </a:p>
          <a:p>
            <a:r>
              <a:rPr lang="en-US" sz="1100" dirty="0">
                <a:solidFill>
                  <a:srgbClr val="334155"/>
                </a:solidFill>
                <a:latin typeface="Calibri" pitchFamily="34" charset="0"/>
                <a:ea typeface="Calibri" pitchFamily="34" charset="-122"/>
                <a:cs typeface="Calibri" pitchFamily="34" charset="-120"/>
              </a:rPr>
              <a:t>Data Integrity: Object lock prevents files from being modified. Database records map directly to on-chain hashes.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274320"/>
            <a:ext cx="77724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10. Techniques &amp; Technical Stack Details</a:t>
            </a:r>
            <a:endParaRPr lang="en-US" sz="1800" dirty="0"/>
          </a:p>
        </p:txBody>
      </p:sp>
      <p:sp>
        <p:nvSpPr>
          <p:cNvPr id="3" name="Shape 1"/>
          <p:cNvSpPr/>
          <p:nvPr/>
        </p:nvSpPr>
        <p:spPr>
          <a:xfrm>
            <a:off x="365760" y="777240"/>
            <a:ext cx="841248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229600" y="137160"/>
            <a:ext cx="594360" cy="594360"/>
          </a:xfrm>
          <a:prstGeom prst="rect">
            <a:avLst/>
          </a:prstGeom>
        </p:spPr>
      </p:pic>
      <p:sp>
        <p:nvSpPr>
          <p:cNvPr id="5" name="Text 2"/>
          <p:cNvSpPr/>
          <p:nvPr/>
        </p:nvSpPr>
        <p:spPr>
          <a:xfrm>
            <a:off x="36576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804672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15</a:t>
            </a:r>
            <a:endParaRPr lang="en-US" sz="8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1645920"/>
                <a:gridCol w="2743200"/>
                <a:gridCol w="402336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System Layer</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Technology Used</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Role &amp; Purpose in BBSNS</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r>
              <a:tr h="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Frontend</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Next.js 14, TailwindCSS, FaceAPI.js</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Fast, responsive web dashboard with client-side biometrics</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Desktop App</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Electron framework</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Isolated environment for secure notary signing</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Backend API</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Node.js, Express.js, PM2</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Robust JSON REST gateway, session handlers, task runners</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Storage</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AWS S3, PostgreSQL</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Encrypted blob vaulting and relational state caching</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Blockchain</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BNB Smart Chain (BSC), Solidity</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Immutability layer, custom NTKR tokens, notary registry</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Dev Tools</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Hardhat, Ethers.js, Web3.js</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Smart contract compiling, testing, and script deployment</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274320"/>
            <a:ext cx="77724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11. Core Algorithms &amp; Modules Overview</a:t>
            </a:r>
            <a:endParaRPr lang="en-US" sz="1800" dirty="0"/>
          </a:p>
        </p:txBody>
      </p:sp>
      <p:sp>
        <p:nvSpPr>
          <p:cNvPr id="3" name="Shape 1"/>
          <p:cNvSpPr/>
          <p:nvPr/>
        </p:nvSpPr>
        <p:spPr>
          <a:xfrm>
            <a:off x="365760" y="777240"/>
            <a:ext cx="841248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229600" y="137160"/>
            <a:ext cx="594360" cy="594360"/>
          </a:xfrm>
          <a:prstGeom prst="rect">
            <a:avLst/>
          </a:prstGeom>
        </p:spPr>
      </p:pic>
      <p:sp>
        <p:nvSpPr>
          <p:cNvPr id="5" name="Text 2"/>
          <p:cNvSpPr/>
          <p:nvPr/>
        </p:nvSpPr>
        <p:spPr>
          <a:xfrm>
            <a:off x="36576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804672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16</a:t>
            </a:r>
            <a:endParaRPr lang="en-US" sz="850" dirty="0"/>
          </a:p>
        </p:txBody>
      </p:sp>
      <p:sp>
        <p:nvSpPr>
          <p:cNvPr id="7" name="Text 4"/>
          <p:cNvSpPr/>
          <p:nvPr/>
        </p:nvSpPr>
        <p:spPr>
          <a:xfrm>
            <a:off x="365760" y="1005840"/>
            <a:ext cx="8412480" cy="3566160"/>
          </a:xfrm>
          <a:prstGeom prst="rect">
            <a:avLst/>
          </a:prstGeom>
          <a:noFill/>
          <a:ln/>
        </p:spPr>
        <p:txBody>
          <a:bodyPr wrap="square" lIns="63500" tIns="63500" rIns="63500" bIns="63500" rtlCol="0" anchor="t"/>
          <a:lstStyle/>
          <a:p>
            <a:r>
              <a:rPr lang="en-US" sz="1300" b="1" dirty="0">
                <a:solidFill>
                  <a:srgbClr val="1E3A8A"/>
                </a:solidFill>
                <a:latin typeface="Calibri" pitchFamily="34" charset="0"/>
                <a:ea typeface="Calibri" pitchFamily="34" charset="-122"/>
                <a:cs typeface="Calibri" pitchFamily="34" charset="-120"/>
              </a:rPr>
              <a:t>The BBSNS platform is built around 5 core cryptographic and state algorithms:</a:t>
            </a:r>
            <a:endParaRPr lang="en-US" sz="1300" dirty="0"/>
          </a:p>
          <a:p>
            <a:r>
              <a:rPr lang="en-US" sz="1100" b="1" dirty="0">
                <a:solidFill>
                  <a:srgbClr val="334155"/>
                </a:solidFill>
                <a:latin typeface="Calibri" pitchFamily="34" charset="0"/>
                <a:ea typeface="Calibri" pitchFamily="34" charset="-122"/>
                <a:cs typeface="Calibri" pitchFamily="34" charset="-120"/>
              </a:rPr>
              <a:t>1. Client-Side Document Hashing (SHA-256):</a:t>
            </a:r>
            <a:endParaRPr lang="en-US" sz="1300" dirty="0"/>
          </a:p>
          <a:p>
            <a:r>
              <a:rPr lang="en-US" sz="1100" dirty="0">
                <a:solidFill>
                  <a:srgbClr val="334155"/>
                </a:solidFill>
                <a:latin typeface="Calibri" pitchFamily="34" charset="0"/>
                <a:ea typeface="Calibri" pitchFamily="34" charset="-122"/>
                <a:cs typeface="Calibri" pitchFamily="34" charset="-120"/>
              </a:rPr>
              <a:t>   Hashing documents in the user's browser before upload ensures absolute file privacy. Only the unique hash is transmitted to public blockchains.</a:t>
            </a:r>
            <a:endParaRPr lang="en-US" sz="1300" dirty="0"/>
          </a:p>
          <a:p>
            <a:r>
              <a:rPr lang="en-US" sz="1100" b="1" dirty="0">
                <a:solidFill>
                  <a:srgbClr val="334155"/>
                </a:solidFill>
                <a:latin typeface="Calibri" pitchFamily="34" charset="0"/>
                <a:ea typeface="Calibri" pitchFamily="34" charset="-122"/>
                <a:cs typeface="Calibri" pitchFamily="34" charset="-120"/>
              </a:rPr>
              <a:t>2. EIP-712 Off-Chain Typed Signing (ECDSA):</a:t>
            </a:r>
            <a:endParaRPr lang="en-US" sz="1300" dirty="0"/>
          </a:p>
          <a:p>
            <a:r>
              <a:rPr lang="en-US" sz="1100" dirty="0">
                <a:solidFill>
                  <a:srgbClr val="334155"/>
                </a:solidFill>
                <a:latin typeface="Calibri" pitchFamily="34" charset="0"/>
                <a:ea typeface="Calibri" pitchFamily="34" charset="-122"/>
                <a:cs typeface="Calibri" pitchFamily="34" charset="-120"/>
              </a:rPr>
              <a:t>   Notaries sign structured data off-chain using MetaMask, enabling gasless operations. Signatures are verified server-side using ecrecover.</a:t>
            </a:r>
            <a:endParaRPr lang="en-US" sz="1300" dirty="0"/>
          </a:p>
          <a:p>
            <a:r>
              <a:rPr lang="en-US" sz="1100" b="1" dirty="0">
                <a:solidFill>
                  <a:srgbClr val="334155"/>
                </a:solidFill>
                <a:latin typeface="Calibri" pitchFamily="34" charset="0"/>
                <a:ea typeface="Calibri" pitchFamily="34" charset="-122"/>
                <a:cs typeface="Calibri" pitchFamily="34" charset="-120"/>
              </a:rPr>
              <a:t>3. State Machine Automation:</a:t>
            </a:r>
            <a:endParaRPr lang="en-US" sz="1300" dirty="0"/>
          </a:p>
          <a:p>
            <a:r>
              <a:rPr lang="en-US" sz="1100" dirty="0">
                <a:solidFill>
                  <a:srgbClr val="334155"/>
                </a:solidFill>
                <a:latin typeface="Calibri" pitchFamily="34" charset="0"/>
                <a:ea typeface="Calibri" pitchFamily="34" charset="-122"/>
                <a:cs typeface="Calibri" pitchFamily="34" charset="-120"/>
              </a:rPr>
              <a:t>   Orchestrates document status through specific workflow transitions, guaranteeing linear progression from upload to blockchain finalization.</a:t>
            </a:r>
            <a:endParaRPr lang="en-US" sz="1300" dirty="0"/>
          </a:p>
          <a:p>
            <a:r>
              <a:rPr lang="en-US" sz="1100" b="1" dirty="0">
                <a:solidFill>
                  <a:srgbClr val="334155"/>
                </a:solidFill>
                <a:latin typeface="Calibri" pitchFamily="34" charset="0"/>
                <a:ea typeface="Calibri" pitchFamily="34" charset="-122"/>
                <a:cs typeface="Calibri" pitchFamily="34" charset="-120"/>
              </a:rPr>
              <a:t>4. Scavenger Reconciliation Worker:</a:t>
            </a:r>
            <a:endParaRPr lang="en-US" sz="1300" dirty="0"/>
          </a:p>
          <a:p>
            <a:r>
              <a:rPr lang="en-US" sz="1100" dirty="0">
                <a:solidFill>
                  <a:srgbClr val="334155"/>
                </a:solidFill>
                <a:latin typeface="Calibri" pitchFamily="34" charset="0"/>
                <a:ea typeface="Calibri" pitchFamily="34" charset="-122"/>
                <a:cs typeface="Calibri" pitchFamily="34" charset="-120"/>
              </a:rPr>
              <a:t>   Runs in the background, validating that payment events have occurred and cleaning up orphan uploads without locking databases.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274320"/>
            <a:ext cx="77724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12. Module 1: SHA-256 Document Hashing</a:t>
            </a:r>
            <a:endParaRPr lang="en-US" sz="1800" dirty="0"/>
          </a:p>
        </p:txBody>
      </p:sp>
      <p:sp>
        <p:nvSpPr>
          <p:cNvPr id="3" name="Shape 1"/>
          <p:cNvSpPr/>
          <p:nvPr/>
        </p:nvSpPr>
        <p:spPr>
          <a:xfrm>
            <a:off x="365760" y="777240"/>
            <a:ext cx="841248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229600" y="137160"/>
            <a:ext cx="594360" cy="594360"/>
          </a:xfrm>
          <a:prstGeom prst="rect">
            <a:avLst/>
          </a:prstGeom>
        </p:spPr>
      </p:pic>
      <p:sp>
        <p:nvSpPr>
          <p:cNvPr id="5" name="Text 2"/>
          <p:cNvSpPr/>
          <p:nvPr/>
        </p:nvSpPr>
        <p:spPr>
          <a:xfrm>
            <a:off x="36576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804672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17</a:t>
            </a:r>
            <a:endParaRPr lang="en-US" sz="850" dirty="0"/>
          </a:p>
        </p:txBody>
      </p:sp>
      <p:sp>
        <p:nvSpPr>
          <p:cNvPr id="7" name="Shape 4"/>
          <p:cNvSpPr/>
          <p:nvPr/>
        </p:nvSpPr>
        <p:spPr>
          <a:xfrm>
            <a:off x="365760" y="1005840"/>
            <a:ext cx="4572000" cy="3474720"/>
          </a:xfrm>
          <a:prstGeom prst="rect">
            <a:avLst/>
          </a:prstGeom>
          <a:solidFill>
            <a:srgbClr val="FFFFFF"/>
          </a:solidFill>
          <a:ln w="12700">
            <a:solidFill>
              <a:srgbClr val="CBD5E1"/>
            </a:solidFill>
            <a:prstDash val="solid"/>
          </a:ln>
        </p:spPr>
      </p:sp>
      <p:sp>
        <p:nvSpPr>
          <p:cNvPr id="8" name="Shape 5"/>
          <p:cNvSpPr/>
          <p:nvPr/>
        </p:nvSpPr>
        <p:spPr>
          <a:xfrm>
            <a:off x="365760" y="1005840"/>
            <a:ext cx="4572000" cy="73152"/>
          </a:xfrm>
          <a:prstGeom prst="rect">
            <a:avLst/>
          </a:prstGeom>
          <a:solidFill>
            <a:srgbClr val="1E3A8A"/>
          </a:solidFill>
          <a:ln w="12700">
            <a:solidFill>
              <a:srgbClr val="1E3A8A"/>
            </a:solidFill>
            <a:prstDash val="solid"/>
          </a:ln>
        </p:spPr>
      </p:sp>
      <p:sp>
        <p:nvSpPr>
          <p:cNvPr id="9" name="Text 6"/>
          <p:cNvSpPr/>
          <p:nvPr/>
        </p:nvSpPr>
        <p:spPr>
          <a:xfrm>
            <a:off x="502920" y="1143000"/>
            <a:ext cx="4297680" cy="274320"/>
          </a:xfrm>
          <a:prstGeom prst="rect">
            <a:avLst/>
          </a:prstGeom>
          <a:noFill/>
          <a:ln/>
        </p:spPr>
        <p:txBody>
          <a:bodyPr wrap="square" rtlCol="0" anchor="t"/>
          <a:lstStyle/>
          <a:p>
            <a:pPr indent="0" marL="0">
              <a:buNone/>
            </a:pPr>
            <a:r>
              <a:rPr lang="en-US" sz="1200" b="1" dirty="0">
                <a:solidFill>
                  <a:srgbClr val="1E3A8A"/>
                </a:solidFill>
                <a:latin typeface="Calibri" pitchFamily="34" charset="0"/>
                <a:ea typeface="Calibri" pitchFamily="34" charset="-122"/>
                <a:cs typeface="Calibri" pitchFamily="34" charset="-120"/>
              </a:rPr>
              <a:t>Client-Side Cryptographic Hashing Flow</a:t>
            </a:r>
            <a:endParaRPr lang="en-US" sz="1200" dirty="0"/>
          </a:p>
        </p:txBody>
      </p:sp>
      <p:sp>
        <p:nvSpPr>
          <p:cNvPr id="10" name="Text 7"/>
          <p:cNvSpPr/>
          <p:nvPr/>
        </p:nvSpPr>
        <p:spPr>
          <a:xfrm>
            <a:off x="502920" y="1463040"/>
            <a:ext cx="4297680" cy="2926080"/>
          </a:xfrm>
          <a:prstGeom prst="rect">
            <a:avLst/>
          </a:prstGeom>
          <a:noFill/>
          <a:ln/>
        </p:spPr>
        <p:txBody>
          <a:bodyPr wrap="square" lIns="63500" tIns="63500" rIns="63500" bIns="63500" rtlCol="0" anchor="t"/>
          <a:lstStyle/>
          <a:p>
            <a:r>
              <a:rPr lang="en-US" sz="1050" dirty="0">
                <a:solidFill>
                  <a:srgbClr val="334155"/>
                </a:solidFill>
                <a:latin typeface="Calibri" pitchFamily="34" charset="0"/>
                <a:ea typeface="Calibri" pitchFamily="34" charset="-122"/>
                <a:cs typeface="Calibri" pitchFamily="34" charset="-120"/>
              </a:rPr>
              <a:t>Why Client-Side Hashing?</a:t>
            </a:r>
            <a:endParaRPr lang="en-US" sz="1050" dirty="0"/>
          </a:p>
          <a:p>
            <a:r>
              <a:rPr lang="en-US" sz="1050" dirty="0">
                <a:solidFill>
                  <a:srgbClr val="334155"/>
                </a:solidFill>
                <a:latin typeface="Calibri" pitchFamily="34" charset="0"/>
                <a:ea typeface="Calibri" pitchFamily="34" charset="-122"/>
                <a:cs typeface="Calibri" pitchFamily="34" charset="-120"/>
              </a:rPr>
              <a:t>  • Prevents exposure of sensitive documents to intermediate networks.</a:t>
            </a:r>
            <a:endParaRPr lang="en-US" sz="1050" dirty="0"/>
          </a:p>
          <a:p>
            <a:r>
              <a:rPr lang="en-US" sz="1050" dirty="0">
                <a:solidFill>
                  <a:srgbClr val="334155"/>
                </a:solidFill>
                <a:latin typeface="Calibri" pitchFamily="34" charset="0"/>
                <a:ea typeface="Calibri" pitchFamily="34" charset="-122"/>
                <a:cs typeface="Calibri" pitchFamily="34" charset="-120"/>
              </a:rPr>
              <a:t>  • A 32-byte hash (SHA-256) is generated directly in browser sandbox.</a:t>
            </a:r>
            <a:endParaRPr lang="en-US" sz="1050" dirty="0"/>
          </a:p>
          <a:p>
            <a:r>
              <a:rPr lang="en-US" sz="1050" dirty="0">
                <a:solidFill>
                  <a:srgbClr val="334155"/>
                </a:solidFill>
                <a:latin typeface="Calibri" pitchFamily="34" charset="0"/>
                <a:ea typeface="Calibri" pitchFamily="34" charset="-122"/>
                <a:cs typeface="Calibri" pitchFamily="34" charset="-120"/>
              </a:rPr>
              <a:t>  • The document hash serves as a unique fingerprint.</a:t>
            </a:r>
            <a:endParaRPr lang="en-US" sz="1050" dirty="0"/>
          </a:p>
          <a:p>
            <a:r>
              <a:rPr lang="en-US" sz="1050" dirty="0">
                <a:solidFill>
                  <a:srgbClr val="334155"/>
                </a:solidFill>
                <a:latin typeface="Calibri" pitchFamily="34" charset="0"/>
                <a:ea typeface="Calibri" pitchFamily="34" charset="-122"/>
                <a:cs typeface="Calibri" pitchFamily="34" charset="-120"/>
              </a:rPr>
              <a:t>Step-by-Step Flow:</a:t>
            </a:r>
            <a:endParaRPr lang="en-US" sz="1050" dirty="0"/>
          </a:p>
          <a:p>
            <a:r>
              <a:rPr lang="en-US" sz="1050" dirty="0">
                <a:solidFill>
                  <a:srgbClr val="334155"/>
                </a:solidFill>
                <a:latin typeface="Calibri" pitchFamily="34" charset="0"/>
                <a:ea typeface="Calibri" pitchFamily="34" charset="-122"/>
                <a:cs typeface="Calibri" pitchFamily="34" charset="-120"/>
              </a:rPr>
              <a:t>  1. User selects a PDF document on the Web Portal.</a:t>
            </a:r>
            <a:endParaRPr lang="en-US" sz="1050" dirty="0"/>
          </a:p>
          <a:p>
            <a:r>
              <a:rPr lang="en-US" sz="1050" dirty="0">
                <a:solidFill>
                  <a:srgbClr val="334155"/>
                </a:solidFill>
                <a:latin typeface="Calibri" pitchFamily="34" charset="0"/>
                <a:ea typeface="Calibri" pitchFamily="34" charset="-122"/>
                <a:cs typeface="Calibri" pitchFamily="34" charset="-120"/>
              </a:rPr>
              <a:t>  2. JavaScript FileReader reads file into binary array buffer.</a:t>
            </a:r>
            <a:endParaRPr lang="en-US" sz="1050" dirty="0"/>
          </a:p>
          <a:p>
            <a:r>
              <a:rPr lang="en-US" sz="1050" dirty="0">
                <a:solidFill>
                  <a:srgbClr val="334155"/>
                </a:solidFill>
                <a:latin typeface="Calibri" pitchFamily="34" charset="0"/>
                <a:ea typeface="Calibri" pitchFamily="34" charset="-122"/>
                <a:cs typeface="Calibri" pitchFamily="34" charset="-120"/>
              </a:rPr>
              <a:t>  3. Crypto-library computes SHA-256 checksum.</a:t>
            </a:r>
            <a:endParaRPr lang="en-US" sz="1050" dirty="0"/>
          </a:p>
          <a:p>
            <a:r>
              <a:rPr lang="en-US" sz="1050" dirty="0">
                <a:solidFill>
                  <a:srgbClr val="334155"/>
                </a:solidFill>
                <a:latin typeface="Calibri" pitchFamily="34" charset="0"/>
                <a:ea typeface="Calibri" pitchFamily="34" charset="-122"/>
                <a:cs typeface="Calibri" pitchFamily="34" charset="-120"/>
              </a:rPr>
              <a:t>  4. Checksum is sent to API to create upload intent in database.</a:t>
            </a:r>
            <a:endParaRPr lang="en-US" sz="1050" dirty="0"/>
          </a:p>
        </p:txBody>
      </p:sp>
      <p:sp>
        <p:nvSpPr>
          <p:cNvPr id="11" name="Shape 8"/>
          <p:cNvSpPr/>
          <p:nvPr/>
        </p:nvSpPr>
        <p:spPr>
          <a:xfrm>
            <a:off x="5120640" y="1005840"/>
            <a:ext cx="3657600" cy="3474720"/>
          </a:xfrm>
          <a:prstGeom prst="rect">
            <a:avLst/>
          </a:prstGeom>
          <a:solidFill>
            <a:srgbClr val="FFFFFF"/>
          </a:solidFill>
          <a:ln w="12700">
            <a:solidFill>
              <a:srgbClr val="CBD5E1"/>
            </a:solidFill>
            <a:prstDash val="solid"/>
          </a:ln>
        </p:spPr>
      </p:sp>
      <p:sp>
        <p:nvSpPr>
          <p:cNvPr id="12" name="Shape 9"/>
          <p:cNvSpPr/>
          <p:nvPr/>
        </p:nvSpPr>
        <p:spPr>
          <a:xfrm>
            <a:off x="5120640" y="1005840"/>
            <a:ext cx="3657600" cy="73152"/>
          </a:xfrm>
          <a:prstGeom prst="rect">
            <a:avLst/>
          </a:prstGeom>
          <a:solidFill>
            <a:srgbClr val="3B82F6"/>
          </a:solidFill>
          <a:ln w="12700">
            <a:solidFill>
              <a:srgbClr val="3B82F6"/>
            </a:solidFill>
            <a:prstDash val="solid"/>
          </a:ln>
        </p:spPr>
      </p:sp>
      <p:sp>
        <p:nvSpPr>
          <p:cNvPr id="13" name="Text 10"/>
          <p:cNvSpPr/>
          <p:nvPr/>
        </p:nvSpPr>
        <p:spPr>
          <a:xfrm>
            <a:off x="5257800" y="1143000"/>
            <a:ext cx="3383280" cy="274320"/>
          </a:xfrm>
          <a:prstGeom prst="rect">
            <a:avLst/>
          </a:prstGeom>
          <a:noFill/>
          <a:ln/>
        </p:spPr>
        <p:txBody>
          <a:bodyPr wrap="square" rtlCol="0" anchor="t"/>
          <a:lstStyle/>
          <a:p>
            <a:pPr indent="0" marL="0">
              <a:buNone/>
            </a:pPr>
            <a:r>
              <a:rPr lang="en-US" sz="1200" b="1" dirty="0">
                <a:solidFill>
                  <a:srgbClr val="3B82F6"/>
                </a:solidFill>
                <a:latin typeface="Calibri" pitchFamily="34" charset="0"/>
                <a:ea typeface="Calibri" pitchFamily="34" charset="-122"/>
                <a:cs typeface="Calibri" pitchFamily="34" charset="-120"/>
              </a:rPr>
              <a:t>Cryptographic Immutability</a:t>
            </a:r>
            <a:endParaRPr lang="en-US" sz="1200" dirty="0"/>
          </a:p>
        </p:txBody>
      </p:sp>
      <p:sp>
        <p:nvSpPr>
          <p:cNvPr id="14" name="Text 11"/>
          <p:cNvSpPr/>
          <p:nvPr/>
        </p:nvSpPr>
        <p:spPr>
          <a:xfrm>
            <a:off x="5257800" y="1463040"/>
            <a:ext cx="3383280" cy="2926080"/>
          </a:xfrm>
          <a:prstGeom prst="rect">
            <a:avLst/>
          </a:prstGeom>
          <a:noFill/>
          <a:ln/>
        </p:spPr>
        <p:txBody>
          <a:bodyPr wrap="square" lIns="63500" tIns="63500" rIns="63500" bIns="63500" rtlCol="0" anchor="t"/>
          <a:lstStyle/>
          <a:p>
            <a:r>
              <a:rPr lang="en-US" sz="1050" dirty="0">
                <a:solidFill>
                  <a:srgbClr val="334155"/>
                </a:solidFill>
                <a:latin typeface="Calibri" pitchFamily="34" charset="0"/>
                <a:ea typeface="Calibri" pitchFamily="34" charset="-122"/>
                <a:cs typeface="Calibri" pitchFamily="34" charset="-120"/>
              </a:rPr>
              <a:t>SHA-256 guarantees:</a:t>
            </a:r>
            <a:endParaRPr lang="en-US" sz="1050" dirty="0"/>
          </a:p>
          <a:p>
            <a:r>
              <a:rPr lang="en-US" sz="1050" dirty="0">
                <a:solidFill>
                  <a:srgbClr val="334155"/>
                </a:solidFill>
                <a:latin typeface="Calibri" pitchFamily="34" charset="0"/>
                <a:ea typeface="Calibri" pitchFamily="34" charset="-122"/>
                <a:cs typeface="Calibri" pitchFamily="34" charset="-120"/>
              </a:rPr>
              <a:t>  • Pre-image resistance: Cannot reverse-engineer document from hash.</a:t>
            </a:r>
            <a:endParaRPr lang="en-US" sz="1050" dirty="0"/>
          </a:p>
          <a:p>
            <a:r>
              <a:rPr lang="en-US" sz="1050" dirty="0">
                <a:solidFill>
                  <a:srgbClr val="334155"/>
                </a:solidFill>
                <a:latin typeface="Calibri" pitchFamily="34" charset="0"/>
                <a:ea typeface="Calibri" pitchFamily="34" charset="-122"/>
                <a:cs typeface="Calibri" pitchFamily="34" charset="-120"/>
              </a:rPr>
              <a:t>  • Collision resistance: No two documents share the same hash.</a:t>
            </a:r>
            <a:endParaRPr lang="en-US" sz="1050" dirty="0"/>
          </a:p>
          <a:p>
            <a:r>
              <a:rPr lang="en-US" sz="1050" dirty="0">
                <a:solidFill>
                  <a:srgbClr val="334155"/>
                </a:solidFill>
                <a:latin typeface="Calibri" pitchFamily="34" charset="0"/>
                <a:ea typeface="Calibri" pitchFamily="34" charset="-122"/>
                <a:cs typeface="Calibri" pitchFamily="34" charset="-120"/>
              </a:rPr>
              <a:t>  • Avalanche effect: Changing a single character in the document completely alters the output hash.</a:t>
            </a:r>
            <a:endParaRPr lang="en-US" sz="1050" dirty="0"/>
          </a:p>
          <a:p>
            <a:r>
              <a:rPr lang="en-US" sz="1050" dirty="0">
                <a:solidFill>
                  <a:srgbClr val="334155"/>
                </a:solidFill>
                <a:latin typeface="Calibri" pitchFamily="34" charset="0"/>
                <a:ea typeface="Calibri" pitchFamily="34" charset="-122"/>
                <a:cs typeface="Calibri" pitchFamily="34" charset="-120"/>
              </a:rPr>
              <a:t>Sealed Hash:</a:t>
            </a:r>
            <a:endParaRPr lang="en-US" sz="1050" dirty="0"/>
          </a:p>
          <a:p>
            <a:r>
              <a:rPr lang="en-US" sz="1050" dirty="0">
                <a:solidFill>
                  <a:srgbClr val="334155"/>
                </a:solidFill>
                <a:latin typeface="Calibri" pitchFamily="34" charset="0"/>
                <a:ea typeface="Calibri" pitchFamily="34" charset="-122"/>
                <a:cs typeface="Calibri" pitchFamily="34" charset="-120"/>
              </a:rPr>
              <a:t>  • Once the hash is logged on the BNB Smart Chain ledger, any future alteration can be immediately detected.</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274320"/>
            <a:ext cx="77724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12. Module 2: EIP-712 Signature Generation</a:t>
            </a:r>
            <a:endParaRPr lang="en-US" sz="1800" dirty="0"/>
          </a:p>
        </p:txBody>
      </p:sp>
      <p:sp>
        <p:nvSpPr>
          <p:cNvPr id="3" name="Shape 1"/>
          <p:cNvSpPr/>
          <p:nvPr/>
        </p:nvSpPr>
        <p:spPr>
          <a:xfrm>
            <a:off x="365760" y="777240"/>
            <a:ext cx="841248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229600" y="137160"/>
            <a:ext cx="594360" cy="594360"/>
          </a:xfrm>
          <a:prstGeom prst="rect">
            <a:avLst/>
          </a:prstGeom>
        </p:spPr>
      </p:pic>
      <p:sp>
        <p:nvSpPr>
          <p:cNvPr id="5" name="Text 2"/>
          <p:cNvSpPr/>
          <p:nvPr/>
        </p:nvSpPr>
        <p:spPr>
          <a:xfrm>
            <a:off x="36576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804672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18</a:t>
            </a:r>
            <a:endParaRPr lang="en-US" sz="850" dirty="0"/>
          </a:p>
        </p:txBody>
      </p:sp>
      <p:sp>
        <p:nvSpPr>
          <p:cNvPr id="7" name="Text 4"/>
          <p:cNvSpPr/>
          <p:nvPr/>
        </p:nvSpPr>
        <p:spPr>
          <a:xfrm>
            <a:off x="365760" y="1005840"/>
            <a:ext cx="8412480" cy="3566160"/>
          </a:xfrm>
          <a:prstGeom prst="rect">
            <a:avLst/>
          </a:prstGeom>
          <a:noFill/>
          <a:ln/>
        </p:spPr>
        <p:txBody>
          <a:bodyPr wrap="square" lIns="63500" tIns="63500" rIns="63500" bIns="63500" rtlCol="0" anchor="t"/>
          <a:lstStyle/>
          <a:p>
            <a:r>
              <a:rPr lang="en-US" sz="1250" b="1" dirty="0">
                <a:solidFill>
                  <a:srgbClr val="1E3A8A"/>
                </a:solidFill>
                <a:latin typeface="Calibri" pitchFamily="34" charset="0"/>
                <a:ea typeface="Calibri" pitchFamily="34" charset="-122"/>
                <a:cs typeface="Calibri" pitchFamily="34" charset="-120"/>
              </a:rPr>
              <a:t>EIP-712 standardizes typed structured data signing for Ethereum-compatible wallets.</a:t>
            </a:r>
            <a:endParaRPr lang="en-US" sz="1250" dirty="0"/>
          </a:p>
          <a:p>
            <a:r>
              <a:rPr lang="en-US" sz="1100" b="1" dirty="0">
                <a:solidFill>
                  <a:srgbClr val="334155"/>
                </a:solidFill>
                <a:latin typeface="Calibri" pitchFamily="34" charset="0"/>
                <a:ea typeface="Calibri" pitchFamily="34" charset="-122"/>
                <a:cs typeface="Calibri" pitchFamily="34" charset="-120"/>
              </a:rPr>
              <a:t>Implementation Architecture:</a:t>
            </a:r>
            <a:endParaRPr lang="en-US" sz="1250" dirty="0"/>
          </a:p>
          <a:p>
            <a:r>
              <a:rPr lang="en-US" sz="1100" dirty="0">
                <a:solidFill>
                  <a:srgbClr val="334155"/>
                </a:solidFill>
                <a:latin typeface="Calibri" pitchFamily="34" charset="0"/>
                <a:ea typeface="Calibri" pitchFamily="34" charset="-122"/>
                <a:cs typeface="Calibri" pitchFamily="34" charset="-120"/>
              </a:rPr>
              <a:t>  • Domain Separator: Cryptographically binds signature to specific BBSNS contract deployed on BNB Smart Chain.</a:t>
            </a:r>
            <a:endParaRPr lang="en-US" sz="1250" dirty="0"/>
          </a:p>
          <a:p>
            <a:r>
              <a:rPr lang="en-US" sz="1100" dirty="0">
                <a:solidFill>
                  <a:srgbClr val="334155"/>
                </a:solidFill>
                <a:latin typeface="Calibri" pitchFamily="34" charset="0"/>
                <a:ea typeface="Calibri" pitchFamily="34" charset="-122"/>
                <a:cs typeface="Calibri" pitchFamily="34" charset="-120"/>
              </a:rPr>
              <a:t>  • Structured Schema: Defines fields (documentId, documentHash, ownerAddress, timestamp) to be shown in wallet prompt.</a:t>
            </a:r>
            <a:endParaRPr lang="en-US" sz="1250" dirty="0"/>
          </a:p>
          <a:p>
            <a:r>
              <a:rPr lang="en-US" sz="1100" dirty="0">
                <a:solidFill>
                  <a:srgbClr val="334155"/>
                </a:solidFill>
                <a:latin typeface="Calibri" pitchFamily="34" charset="0"/>
                <a:ea typeface="Calibri" pitchFamily="34" charset="-122"/>
                <a:cs typeface="Calibri" pitchFamily="34" charset="-120"/>
              </a:rPr>
              <a:t>  • MetaMask Prompt: User sees human-readable metadata before signing, preventing blind signature attacks.</a:t>
            </a:r>
            <a:endParaRPr lang="en-US" sz="1250" dirty="0"/>
          </a:p>
          <a:p>
            <a:r>
              <a:rPr lang="en-US" sz="1100" b="1" dirty="0">
                <a:solidFill>
                  <a:srgbClr val="3B82F6"/>
                </a:solidFill>
                <a:latin typeface="Calibri" pitchFamily="34" charset="0"/>
                <a:ea typeface="Calibri" pitchFamily="34" charset="-122"/>
                <a:cs typeface="Calibri" pitchFamily="34" charset="-120"/>
              </a:rPr>
              <a:t>Gasless Relay Flow:</a:t>
            </a:r>
            <a:endParaRPr lang="en-US" sz="1250" dirty="0"/>
          </a:p>
          <a:p>
            <a:r>
              <a:rPr lang="en-US" sz="1100" dirty="0">
                <a:solidFill>
                  <a:srgbClr val="334155"/>
                </a:solidFill>
                <a:latin typeface="Calibri" pitchFamily="34" charset="0"/>
                <a:ea typeface="Calibri" pitchFamily="34" charset="-122"/>
                <a:cs typeface="Calibri" pitchFamily="34" charset="-120"/>
              </a:rPr>
              <a:t>  1. Owner signs transaction payload off-chain (0 BNB gas fee spent).</a:t>
            </a:r>
            <a:endParaRPr lang="en-US" sz="1250" dirty="0"/>
          </a:p>
          <a:p>
            <a:r>
              <a:rPr lang="en-US" sz="1100" dirty="0">
                <a:solidFill>
                  <a:srgbClr val="334155"/>
                </a:solidFill>
                <a:latin typeface="Calibri" pitchFamily="34" charset="0"/>
                <a:ea typeface="Calibri" pitchFamily="34" charset="-122"/>
                <a:cs typeface="Calibri" pitchFamily="34" charset="-120"/>
              </a:rPr>
              <a:t>  2. Signature relayed to backend database.</a:t>
            </a:r>
            <a:endParaRPr lang="en-US" sz="1250" dirty="0"/>
          </a:p>
          <a:p>
            <a:r>
              <a:rPr lang="en-US" sz="1100" dirty="0">
                <a:solidFill>
                  <a:srgbClr val="334155"/>
                </a:solidFill>
                <a:latin typeface="Calibri" pitchFamily="34" charset="0"/>
                <a:ea typeface="Calibri" pitchFamily="34" charset="-122"/>
                <a:cs typeface="Calibri" pitchFamily="34" charset="-120"/>
              </a:rPr>
              <a:t>  3. Notary signs approved document structure off-chain.</a:t>
            </a:r>
            <a:endParaRPr lang="en-US" sz="1250" dirty="0"/>
          </a:p>
          <a:p>
            <a:r>
              <a:rPr lang="en-US" sz="1100" dirty="0">
                <a:solidFill>
                  <a:srgbClr val="334155"/>
                </a:solidFill>
                <a:latin typeface="Calibri" pitchFamily="34" charset="0"/>
                <a:ea typeface="Calibri" pitchFamily="34" charset="-122"/>
                <a:cs typeface="Calibri" pitchFamily="34" charset="-120"/>
              </a:rPr>
              <a:t>  4. Backend server transmits both signatures to smart contract in a single transaction, paying the BSC network gas fee.</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274320"/>
            <a:ext cx="77724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12. Module 3: Document State Machine Flow</a:t>
            </a:r>
            <a:endParaRPr lang="en-US" sz="1800" dirty="0"/>
          </a:p>
        </p:txBody>
      </p:sp>
      <p:sp>
        <p:nvSpPr>
          <p:cNvPr id="3" name="Shape 1"/>
          <p:cNvSpPr/>
          <p:nvPr/>
        </p:nvSpPr>
        <p:spPr>
          <a:xfrm>
            <a:off x="365760" y="777240"/>
            <a:ext cx="841248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229600" y="137160"/>
            <a:ext cx="594360" cy="594360"/>
          </a:xfrm>
          <a:prstGeom prst="rect">
            <a:avLst/>
          </a:prstGeom>
        </p:spPr>
      </p:pic>
      <p:sp>
        <p:nvSpPr>
          <p:cNvPr id="5" name="Text 2"/>
          <p:cNvSpPr/>
          <p:nvPr/>
        </p:nvSpPr>
        <p:spPr>
          <a:xfrm>
            <a:off x="36576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804672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19</a:t>
            </a:r>
            <a:endParaRPr lang="en-US" sz="850" dirty="0"/>
          </a:p>
        </p:txBody>
      </p:sp>
      <p:sp>
        <p:nvSpPr>
          <p:cNvPr id="7" name="Shape 4"/>
          <p:cNvSpPr/>
          <p:nvPr/>
        </p:nvSpPr>
        <p:spPr>
          <a:xfrm>
            <a:off x="365760" y="1371600"/>
            <a:ext cx="1005840" cy="1371600"/>
          </a:xfrm>
          <a:prstGeom prst="roundRect">
            <a:avLst/>
          </a:prstGeom>
          <a:solidFill>
            <a:srgbClr val="FFFFFF"/>
          </a:solidFill>
          <a:ln w="12700">
            <a:solidFill>
              <a:srgbClr val="1E3A8A"/>
            </a:solidFill>
            <a:prstDash val="solid"/>
          </a:ln>
        </p:spPr>
      </p:sp>
      <p:sp>
        <p:nvSpPr>
          <p:cNvPr id="8" name="Shape 5"/>
          <p:cNvSpPr/>
          <p:nvPr/>
        </p:nvSpPr>
        <p:spPr>
          <a:xfrm>
            <a:off x="365760" y="1371600"/>
            <a:ext cx="1005840" cy="320040"/>
          </a:xfrm>
          <a:prstGeom prst="rect">
            <a:avLst/>
          </a:prstGeom>
          <a:solidFill>
            <a:srgbClr val="1E3A8A"/>
          </a:solidFill>
          <a:ln w="12700">
            <a:solidFill>
              <a:srgbClr val="1E3A8A"/>
            </a:solidFill>
            <a:prstDash val="solid"/>
          </a:ln>
        </p:spPr>
      </p:sp>
      <p:sp>
        <p:nvSpPr>
          <p:cNvPr id="9" name="Text 6"/>
          <p:cNvSpPr/>
          <p:nvPr/>
        </p:nvSpPr>
        <p:spPr>
          <a:xfrm>
            <a:off x="365760" y="1371600"/>
            <a:ext cx="1005840"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INITIATED</a:t>
            </a:r>
            <a:endParaRPr lang="en-US" sz="850" dirty="0"/>
          </a:p>
        </p:txBody>
      </p:sp>
      <p:sp>
        <p:nvSpPr>
          <p:cNvPr id="10" name="Text 7"/>
          <p:cNvSpPr/>
          <p:nvPr/>
        </p:nvSpPr>
        <p:spPr>
          <a:xfrm>
            <a:off x="411480" y="1737360"/>
            <a:ext cx="914400" cy="914400"/>
          </a:xfrm>
          <a:prstGeom prst="rect">
            <a:avLst/>
          </a:prstGeom>
          <a:noFill/>
          <a:ln/>
        </p:spPr>
        <p:txBody>
          <a:bodyPr wrap="square" rtlCol="0" anchor="t"/>
          <a:lstStyle/>
          <a:p>
            <a:pPr algn="ctr" indent="0" marL="0">
              <a:buNone/>
            </a:pPr>
            <a:r>
              <a:rPr lang="en-US" sz="800" dirty="0">
                <a:solidFill>
                  <a:srgbClr val="334155"/>
                </a:solidFill>
                <a:latin typeface="Calibri" pitchFamily="34" charset="0"/>
                <a:ea typeface="Calibri" pitchFamily="34" charset="-122"/>
                <a:cs typeface="Calibri" pitchFamily="34" charset="-120"/>
              </a:rPr>
              <a:t>Upload intent logged in DB</a:t>
            </a:r>
            <a:endParaRPr lang="en-US" sz="800" dirty="0"/>
          </a:p>
        </p:txBody>
      </p:sp>
      <p:sp>
        <p:nvSpPr>
          <p:cNvPr id="11" name="Shape 8"/>
          <p:cNvSpPr/>
          <p:nvPr/>
        </p:nvSpPr>
        <p:spPr>
          <a:xfrm>
            <a:off x="1444752" y="1920240"/>
            <a:ext cx="219456" cy="182880"/>
          </a:xfrm>
          <a:prstGeom prst="rightArrow">
            <a:avLst/>
          </a:prstGeom>
          <a:solidFill>
            <a:srgbClr val="CBD5E1"/>
          </a:solidFill>
          <a:ln w="12700">
            <a:solidFill>
              <a:srgbClr val="CBD5E1"/>
            </a:solidFill>
            <a:prstDash val="solid"/>
          </a:ln>
        </p:spPr>
      </p:sp>
      <p:sp>
        <p:nvSpPr>
          <p:cNvPr id="12" name="Shape 9"/>
          <p:cNvSpPr/>
          <p:nvPr/>
        </p:nvSpPr>
        <p:spPr>
          <a:xfrm>
            <a:off x="1737360" y="1371600"/>
            <a:ext cx="1005840" cy="1371600"/>
          </a:xfrm>
          <a:prstGeom prst="roundRect">
            <a:avLst/>
          </a:prstGeom>
          <a:solidFill>
            <a:srgbClr val="FFFFFF"/>
          </a:solidFill>
          <a:ln w="12700">
            <a:solidFill>
              <a:srgbClr val="3B82F6"/>
            </a:solidFill>
            <a:prstDash val="solid"/>
          </a:ln>
        </p:spPr>
      </p:sp>
      <p:sp>
        <p:nvSpPr>
          <p:cNvPr id="13" name="Shape 10"/>
          <p:cNvSpPr/>
          <p:nvPr/>
        </p:nvSpPr>
        <p:spPr>
          <a:xfrm>
            <a:off x="1737360" y="1371600"/>
            <a:ext cx="1005840" cy="320040"/>
          </a:xfrm>
          <a:prstGeom prst="rect">
            <a:avLst/>
          </a:prstGeom>
          <a:solidFill>
            <a:srgbClr val="3B82F6"/>
          </a:solidFill>
          <a:ln w="12700">
            <a:solidFill>
              <a:srgbClr val="3B82F6"/>
            </a:solidFill>
            <a:prstDash val="solid"/>
          </a:ln>
        </p:spPr>
      </p:sp>
      <p:sp>
        <p:nvSpPr>
          <p:cNvPr id="14" name="Text 11"/>
          <p:cNvSpPr/>
          <p:nvPr/>
        </p:nvSpPr>
        <p:spPr>
          <a:xfrm>
            <a:off x="1737360" y="1371600"/>
            <a:ext cx="1005840"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UPLOADED</a:t>
            </a:r>
            <a:endParaRPr lang="en-US" sz="850" dirty="0"/>
          </a:p>
        </p:txBody>
      </p:sp>
      <p:sp>
        <p:nvSpPr>
          <p:cNvPr id="15" name="Text 12"/>
          <p:cNvSpPr/>
          <p:nvPr/>
        </p:nvSpPr>
        <p:spPr>
          <a:xfrm>
            <a:off x="1783080" y="1737360"/>
            <a:ext cx="914400" cy="914400"/>
          </a:xfrm>
          <a:prstGeom prst="rect">
            <a:avLst/>
          </a:prstGeom>
          <a:noFill/>
          <a:ln/>
        </p:spPr>
        <p:txBody>
          <a:bodyPr wrap="square" rtlCol="0" anchor="t"/>
          <a:lstStyle/>
          <a:p>
            <a:pPr algn="ctr" indent="0" marL="0">
              <a:buNone/>
            </a:pPr>
            <a:r>
              <a:rPr lang="en-US" sz="800" dirty="0">
                <a:solidFill>
                  <a:srgbClr val="334155"/>
                </a:solidFill>
                <a:latin typeface="Calibri" pitchFamily="34" charset="0"/>
                <a:ea typeface="Calibri" pitchFamily="34" charset="-122"/>
                <a:cs typeface="Calibri" pitchFamily="34" charset="-120"/>
              </a:rPr>
              <a:t>File uploaded to AWS S3</a:t>
            </a:r>
            <a:endParaRPr lang="en-US" sz="800" dirty="0"/>
          </a:p>
        </p:txBody>
      </p:sp>
      <p:sp>
        <p:nvSpPr>
          <p:cNvPr id="16" name="Shape 13"/>
          <p:cNvSpPr/>
          <p:nvPr/>
        </p:nvSpPr>
        <p:spPr>
          <a:xfrm>
            <a:off x="2816352" y="1920240"/>
            <a:ext cx="219456" cy="182880"/>
          </a:xfrm>
          <a:prstGeom prst="rightArrow">
            <a:avLst/>
          </a:prstGeom>
          <a:solidFill>
            <a:srgbClr val="CBD5E1"/>
          </a:solidFill>
          <a:ln w="12700">
            <a:solidFill>
              <a:srgbClr val="CBD5E1"/>
            </a:solidFill>
            <a:prstDash val="solid"/>
          </a:ln>
        </p:spPr>
      </p:sp>
      <p:sp>
        <p:nvSpPr>
          <p:cNvPr id="17" name="Shape 14"/>
          <p:cNvSpPr/>
          <p:nvPr/>
        </p:nvSpPr>
        <p:spPr>
          <a:xfrm>
            <a:off x="3108960" y="1371600"/>
            <a:ext cx="1005840" cy="1371600"/>
          </a:xfrm>
          <a:prstGeom prst="roundRect">
            <a:avLst/>
          </a:prstGeom>
          <a:solidFill>
            <a:srgbClr val="FFFFFF"/>
          </a:solidFill>
          <a:ln w="12700">
            <a:solidFill>
              <a:srgbClr val="10B981"/>
            </a:solidFill>
            <a:prstDash val="solid"/>
          </a:ln>
        </p:spPr>
      </p:sp>
      <p:sp>
        <p:nvSpPr>
          <p:cNvPr id="18" name="Shape 15"/>
          <p:cNvSpPr/>
          <p:nvPr/>
        </p:nvSpPr>
        <p:spPr>
          <a:xfrm>
            <a:off x="3108960" y="1371600"/>
            <a:ext cx="1005840" cy="320040"/>
          </a:xfrm>
          <a:prstGeom prst="rect">
            <a:avLst/>
          </a:prstGeom>
          <a:solidFill>
            <a:srgbClr val="10B981"/>
          </a:solidFill>
          <a:ln w="12700">
            <a:solidFill>
              <a:srgbClr val="10B981"/>
            </a:solidFill>
            <a:prstDash val="solid"/>
          </a:ln>
        </p:spPr>
      </p:sp>
      <p:sp>
        <p:nvSpPr>
          <p:cNvPr id="19" name="Text 16"/>
          <p:cNvSpPr/>
          <p:nvPr/>
        </p:nvSpPr>
        <p:spPr>
          <a:xfrm>
            <a:off x="3108960" y="1371600"/>
            <a:ext cx="1005840"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PAID</a:t>
            </a:r>
            <a:endParaRPr lang="en-US" sz="850" dirty="0"/>
          </a:p>
        </p:txBody>
      </p:sp>
      <p:sp>
        <p:nvSpPr>
          <p:cNvPr id="20" name="Text 17"/>
          <p:cNvSpPr/>
          <p:nvPr/>
        </p:nvSpPr>
        <p:spPr>
          <a:xfrm>
            <a:off x="3154680" y="1737360"/>
            <a:ext cx="914400" cy="914400"/>
          </a:xfrm>
          <a:prstGeom prst="rect">
            <a:avLst/>
          </a:prstGeom>
          <a:noFill/>
          <a:ln/>
        </p:spPr>
        <p:txBody>
          <a:bodyPr wrap="square" rtlCol="0" anchor="t"/>
          <a:lstStyle/>
          <a:p>
            <a:pPr algn="ctr" indent="0" marL="0">
              <a:buNone/>
            </a:pPr>
            <a:r>
              <a:rPr lang="en-US" sz="800" dirty="0">
                <a:solidFill>
                  <a:srgbClr val="334155"/>
                </a:solidFill>
                <a:latin typeface="Calibri" pitchFamily="34" charset="0"/>
                <a:ea typeface="Calibri" pitchFamily="34" charset="-122"/>
                <a:cs typeface="Calibri" pitchFamily="34" charset="-120"/>
              </a:rPr>
              <a:t>NTKR burned transaction receipt confirmed</a:t>
            </a:r>
            <a:endParaRPr lang="en-US" sz="800" dirty="0"/>
          </a:p>
        </p:txBody>
      </p:sp>
      <p:sp>
        <p:nvSpPr>
          <p:cNvPr id="21" name="Shape 18"/>
          <p:cNvSpPr/>
          <p:nvPr/>
        </p:nvSpPr>
        <p:spPr>
          <a:xfrm>
            <a:off x="4187952" y="1920240"/>
            <a:ext cx="219456" cy="182880"/>
          </a:xfrm>
          <a:prstGeom prst="rightArrow">
            <a:avLst/>
          </a:prstGeom>
          <a:solidFill>
            <a:srgbClr val="CBD5E1"/>
          </a:solidFill>
          <a:ln w="12700">
            <a:solidFill>
              <a:srgbClr val="CBD5E1"/>
            </a:solidFill>
            <a:prstDash val="solid"/>
          </a:ln>
        </p:spPr>
      </p:sp>
      <p:sp>
        <p:nvSpPr>
          <p:cNvPr id="22" name="Shape 19"/>
          <p:cNvSpPr/>
          <p:nvPr/>
        </p:nvSpPr>
        <p:spPr>
          <a:xfrm>
            <a:off x="4480560" y="1371600"/>
            <a:ext cx="1005840" cy="1371600"/>
          </a:xfrm>
          <a:prstGeom prst="roundRect">
            <a:avLst/>
          </a:prstGeom>
          <a:solidFill>
            <a:srgbClr val="FFFFFF"/>
          </a:solidFill>
          <a:ln w="12700">
            <a:solidFill>
              <a:srgbClr val="7C3AED"/>
            </a:solidFill>
            <a:prstDash val="solid"/>
          </a:ln>
        </p:spPr>
      </p:sp>
      <p:sp>
        <p:nvSpPr>
          <p:cNvPr id="23" name="Shape 20"/>
          <p:cNvSpPr/>
          <p:nvPr/>
        </p:nvSpPr>
        <p:spPr>
          <a:xfrm>
            <a:off x="4480560" y="1371600"/>
            <a:ext cx="1005840" cy="320040"/>
          </a:xfrm>
          <a:prstGeom prst="rect">
            <a:avLst/>
          </a:prstGeom>
          <a:solidFill>
            <a:srgbClr val="7C3AED"/>
          </a:solidFill>
          <a:ln w="12700">
            <a:solidFill>
              <a:srgbClr val="7C3AED"/>
            </a:solidFill>
            <a:prstDash val="solid"/>
          </a:ln>
        </p:spPr>
      </p:sp>
      <p:sp>
        <p:nvSpPr>
          <p:cNvPr id="24" name="Text 21"/>
          <p:cNvSpPr/>
          <p:nvPr/>
        </p:nvSpPr>
        <p:spPr>
          <a:xfrm>
            <a:off x="4480560" y="1371600"/>
            <a:ext cx="1005840"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ASSIGNED</a:t>
            </a:r>
            <a:endParaRPr lang="en-US" sz="850" dirty="0"/>
          </a:p>
        </p:txBody>
      </p:sp>
      <p:sp>
        <p:nvSpPr>
          <p:cNvPr id="25" name="Text 22"/>
          <p:cNvSpPr/>
          <p:nvPr/>
        </p:nvSpPr>
        <p:spPr>
          <a:xfrm>
            <a:off x="4526280" y="1737360"/>
            <a:ext cx="914400" cy="914400"/>
          </a:xfrm>
          <a:prstGeom prst="rect">
            <a:avLst/>
          </a:prstGeom>
          <a:noFill/>
          <a:ln/>
        </p:spPr>
        <p:txBody>
          <a:bodyPr wrap="square" rtlCol="0" anchor="t"/>
          <a:lstStyle/>
          <a:p>
            <a:pPr algn="ctr" indent="0" marL="0">
              <a:buNone/>
            </a:pPr>
            <a:r>
              <a:rPr lang="en-US" sz="800" dirty="0">
                <a:solidFill>
                  <a:srgbClr val="334155"/>
                </a:solidFill>
                <a:latin typeface="Calibri" pitchFamily="34" charset="0"/>
                <a:ea typeface="Calibri" pitchFamily="34" charset="-122"/>
                <a:cs typeface="Calibri" pitchFamily="34" charset="-120"/>
              </a:rPr>
              <a:t>Assigned to a licensed Notary</a:t>
            </a:r>
            <a:endParaRPr lang="en-US" sz="800" dirty="0"/>
          </a:p>
        </p:txBody>
      </p:sp>
      <p:sp>
        <p:nvSpPr>
          <p:cNvPr id="26" name="Shape 23"/>
          <p:cNvSpPr/>
          <p:nvPr/>
        </p:nvSpPr>
        <p:spPr>
          <a:xfrm>
            <a:off x="5559552" y="1920240"/>
            <a:ext cx="219456" cy="182880"/>
          </a:xfrm>
          <a:prstGeom prst="rightArrow">
            <a:avLst/>
          </a:prstGeom>
          <a:solidFill>
            <a:srgbClr val="CBD5E1"/>
          </a:solidFill>
          <a:ln w="12700">
            <a:solidFill>
              <a:srgbClr val="CBD5E1"/>
            </a:solidFill>
            <a:prstDash val="solid"/>
          </a:ln>
        </p:spPr>
      </p:sp>
      <p:sp>
        <p:nvSpPr>
          <p:cNvPr id="27" name="Shape 24"/>
          <p:cNvSpPr/>
          <p:nvPr/>
        </p:nvSpPr>
        <p:spPr>
          <a:xfrm>
            <a:off x="5852160" y="1371600"/>
            <a:ext cx="1005840" cy="1371600"/>
          </a:xfrm>
          <a:prstGeom prst="roundRect">
            <a:avLst/>
          </a:prstGeom>
          <a:solidFill>
            <a:srgbClr val="FFFFFF"/>
          </a:solidFill>
          <a:ln w="12700">
            <a:solidFill>
              <a:srgbClr val="F59E0B"/>
            </a:solidFill>
            <a:prstDash val="solid"/>
          </a:ln>
        </p:spPr>
      </p:sp>
      <p:sp>
        <p:nvSpPr>
          <p:cNvPr id="28" name="Shape 25"/>
          <p:cNvSpPr/>
          <p:nvPr/>
        </p:nvSpPr>
        <p:spPr>
          <a:xfrm>
            <a:off x="5852160" y="1371600"/>
            <a:ext cx="1005840" cy="320040"/>
          </a:xfrm>
          <a:prstGeom prst="rect">
            <a:avLst/>
          </a:prstGeom>
          <a:solidFill>
            <a:srgbClr val="F59E0B"/>
          </a:solidFill>
          <a:ln w="12700">
            <a:solidFill>
              <a:srgbClr val="F59E0B"/>
            </a:solidFill>
            <a:prstDash val="solid"/>
          </a:ln>
        </p:spPr>
      </p:sp>
      <p:sp>
        <p:nvSpPr>
          <p:cNvPr id="29" name="Text 26"/>
          <p:cNvSpPr/>
          <p:nvPr/>
        </p:nvSpPr>
        <p:spPr>
          <a:xfrm>
            <a:off x="5852160" y="1371600"/>
            <a:ext cx="1005840"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APPROVED</a:t>
            </a:r>
            <a:endParaRPr lang="en-US" sz="850" dirty="0"/>
          </a:p>
        </p:txBody>
      </p:sp>
      <p:sp>
        <p:nvSpPr>
          <p:cNvPr id="30" name="Text 27"/>
          <p:cNvSpPr/>
          <p:nvPr/>
        </p:nvSpPr>
        <p:spPr>
          <a:xfrm>
            <a:off x="5897880" y="1737360"/>
            <a:ext cx="914400" cy="914400"/>
          </a:xfrm>
          <a:prstGeom prst="rect">
            <a:avLst/>
          </a:prstGeom>
          <a:noFill/>
          <a:ln/>
        </p:spPr>
        <p:txBody>
          <a:bodyPr wrap="square" rtlCol="0" anchor="t"/>
          <a:lstStyle/>
          <a:p>
            <a:pPr algn="ctr" indent="0" marL="0">
              <a:buNone/>
            </a:pPr>
            <a:r>
              <a:rPr lang="en-US" sz="800" dirty="0">
                <a:solidFill>
                  <a:srgbClr val="334155"/>
                </a:solidFill>
                <a:latin typeface="Calibri" pitchFamily="34" charset="0"/>
                <a:ea typeface="Calibri" pitchFamily="34" charset="-122"/>
                <a:cs typeface="Calibri" pitchFamily="34" charset="-120"/>
              </a:rPr>
              <a:t>Signed and approved by Notary</a:t>
            </a:r>
            <a:endParaRPr lang="en-US" sz="800" dirty="0"/>
          </a:p>
        </p:txBody>
      </p:sp>
      <p:sp>
        <p:nvSpPr>
          <p:cNvPr id="31" name="Shape 28"/>
          <p:cNvSpPr/>
          <p:nvPr/>
        </p:nvSpPr>
        <p:spPr>
          <a:xfrm>
            <a:off x="6931152" y="1920240"/>
            <a:ext cx="219456" cy="182880"/>
          </a:xfrm>
          <a:prstGeom prst="rightArrow">
            <a:avLst/>
          </a:prstGeom>
          <a:solidFill>
            <a:srgbClr val="CBD5E1"/>
          </a:solidFill>
          <a:ln w="12700">
            <a:solidFill>
              <a:srgbClr val="CBD5E1"/>
            </a:solidFill>
            <a:prstDash val="solid"/>
          </a:ln>
        </p:spPr>
      </p:sp>
      <p:sp>
        <p:nvSpPr>
          <p:cNvPr id="32" name="Shape 29"/>
          <p:cNvSpPr/>
          <p:nvPr/>
        </p:nvSpPr>
        <p:spPr>
          <a:xfrm>
            <a:off x="7223760" y="1371600"/>
            <a:ext cx="1005840" cy="1371600"/>
          </a:xfrm>
          <a:prstGeom prst="roundRect">
            <a:avLst/>
          </a:prstGeom>
          <a:solidFill>
            <a:srgbClr val="FFFFFF"/>
          </a:solidFill>
          <a:ln w="12700">
            <a:solidFill>
              <a:srgbClr val="0F172A"/>
            </a:solidFill>
            <a:prstDash val="solid"/>
          </a:ln>
        </p:spPr>
      </p:sp>
      <p:sp>
        <p:nvSpPr>
          <p:cNvPr id="33" name="Shape 30"/>
          <p:cNvSpPr/>
          <p:nvPr/>
        </p:nvSpPr>
        <p:spPr>
          <a:xfrm>
            <a:off x="7223760" y="1371600"/>
            <a:ext cx="1005840" cy="320040"/>
          </a:xfrm>
          <a:prstGeom prst="rect">
            <a:avLst/>
          </a:prstGeom>
          <a:solidFill>
            <a:srgbClr val="0F172A"/>
          </a:solidFill>
          <a:ln w="12700">
            <a:solidFill>
              <a:srgbClr val="0F172A"/>
            </a:solidFill>
            <a:prstDash val="solid"/>
          </a:ln>
        </p:spPr>
      </p:sp>
      <p:sp>
        <p:nvSpPr>
          <p:cNvPr id="34" name="Text 31"/>
          <p:cNvSpPr/>
          <p:nvPr/>
        </p:nvSpPr>
        <p:spPr>
          <a:xfrm>
            <a:off x="7223760" y="1371600"/>
            <a:ext cx="1005840"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ON_CHAIN</a:t>
            </a:r>
            <a:endParaRPr lang="en-US" sz="850" dirty="0"/>
          </a:p>
        </p:txBody>
      </p:sp>
      <p:sp>
        <p:nvSpPr>
          <p:cNvPr id="35" name="Text 32"/>
          <p:cNvSpPr/>
          <p:nvPr/>
        </p:nvSpPr>
        <p:spPr>
          <a:xfrm>
            <a:off x="7269480" y="1737360"/>
            <a:ext cx="914400" cy="914400"/>
          </a:xfrm>
          <a:prstGeom prst="rect">
            <a:avLst/>
          </a:prstGeom>
          <a:noFill/>
          <a:ln/>
        </p:spPr>
        <p:txBody>
          <a:bodyPr wrap="square" rtlCol="0" anchor="t"/>
          <a:lstStyle/>
          <a:p>
            <a:pPr algn="ctr" indent="0" marL="0">
              <a:buNone/>
            </a:pPr>
            <a:r>
              <a:rPr lang="en-US" sz="800" dirty="0">
                <a:solidFill>
                  <a:srgbClr val="334155"/>
                </a:solidFill>
                <a:latin typeface="Calibri" pitchFamily="34" charset="0"/>
                <a:ea typeface="Calibri" pitchFamily="34" charset="-122"/>
                <a:cs typeface="Calibri" pitchFamily="34" charset="-120"/>
              </a:rPr>
              <a:t>Hash sealed on BNB Smart Chain</a:t>
            </a:r>
            <a:endParaRPr lang="en-US" sz="800" dirty="0"/>
          </a:p>
        </p:txBody>
      </p:sp>
      <p:sp>
        <p:nvSpPr>
          <p:cNvPr id="36" name="Text 33"/>
          <p:cNvSpPr/>
          <p:nvPr/>
        </p:nvSpPr>
        <p:spPr>
          <a:xfrm>
            <a:off x="365760" y="3108960"/>
            <a:ext cx="8412480" cy="1371600"/>
          </a:xfrm>
          <a:prstGeom prst="rect">
            <a:avLst/>
          </a:prstGeom>
          <a:noFill/>
          <a:ln/>
        </p:spPr>
        <p:txBody>
          <a:bodyPr wrap="square" lIns="63500" tIns="63500" rIns="63500" bIns="63500" rtlCol="0" anchor="t"/>
          <a:lstStyle/>
          <a:p>
            <a:r>
              <a:rPr lang="en-US" sz="1100" dirty="0">
                <a:solidFill>
                  <a:srgbClr val="334155"/>
                </a:solidFill>
                <a:latin typeface="Calibri" pitchFamily="34" charset="0"/>
                <a:ea typeface="Calibri" pitchFamily="34" charset="-122"/>
                <a:cs typeface="Calibri" pitchFamily="34" charset="-120"/>
              </a:rPr>
              <a:t>Document flows through a linear, non-reversible state machine, ensuring status compliance.</a:t>
            </a:r>
            <a:endParaRPr lang="en-US" sz="1100" dirty="0"/>
          </a:p>
          <a:p>
            <a:r>
              <a:rPr lang="en-US" sz="1100" dirty="0">
                <a:solidFill>
                  <a:srgbClr val="334155"/>
                </a:solidFill>
                <a:latin typeface="Calibri" pitchFamily="34" charset="0"/>
                <a:ea typeface="Calibri" pitchFamily="34" charset="-122"/>
                <a:cs typeface="Calibri" pitchFamily="34" charset="-120"/>
              </a:rPr>
              <a:t>State checks are performed at every API route using 'actor.js' middleware.</a:t>
            </a:r>
            <a:endParaRPr lang="en-US" sz="1100" dirty="0"/>
          </a:p>
          <a:p>
            <a:r>
              <a:rPr lang="en-US" sz="1100" dirty="0">
                <a:solidFill>
                  <a:srgbClr val="334155"/>
                </a:solidFill>
                <a:latin typeface="Calibri" pitchFamily="34" charset="0"/>
                <a:ea typeface="Calibri" pitchFamily="34" charset="-122"/>
                <a:cs typeface="Calibri" pitchFamily="34" charset="-120"/>
              </a:rPr>
              <a:t>Any transaction out-of-order will trigger error, preserving storage and database consistency.</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274320"/>
            <a:ext cx="77724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12. Module 4: Scavenger Background Worker</a:t>
            </a:r>
            <a:endParaRPr lang="en-US" sz="1800" dirty="0"/>
          </a:p>
        </p:txBody>
      </p:sp>
      <p:sp>
        <p:nvSpPr>
          <p:cNvPr id="3" name="Shape 1"/>
          <p:cNvSpPr/>
          <p:nvPr/>
        </p:nvSpPr>
        <p:spPr>
          <a:xfrm>
            <a:off x="365760" y="777240"/>
            <a:ext cx="841248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229600" y="137160"/>
            <a:ext cx="594360" cy="594360"/>
          </a:xfrm>
          <a:prstGeom prst="rect">
            <a:avLst/>
          </a:prstGeom>
        </p:spPr>
      </p:pic>
      <p:sp>
        <p:nvSpPr>
          <p:cNvPr id="5" name="Text 2"/>
          <p:cNvSpPr/>
          <p:nvPr/>
        </p:nvSpPr>
        <p:spPr>
          <a:xfrm>
            <a:off x="36576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804672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20</a:t>
            </a:r>
            <a:endParaRPr lang="en-US" sz="850" dirty="0"/>
          </a:p>
        </p:txBody>
      </p:sp>
      <p:sp>
        <p:nvSpPr>
          <p:cNvPr id="7" name="Shape 4"/>
          <p:cNvSpPr/>
          <p:nvPr/>
        </p:nvSpPr>
        <p:spPr>
          <a:xfrm>
            <a:off x="365760" y="1005840"/>
            <a:ext cx="4023360" cy="3474720"/>
          </a:xfrm>
          <a:prstGeom prst="rect">
            <a:avLst/>
          </a:prstGeom>
          <a:solidFill>
            <a:srgbClr val="FFFFFF"/>
          </a:solidFill>
          <a:ln w="12700">
            <a:solidFill>
              <a:srgbClr val="CBD5E1"/>
            </a:solidFill>
            <a:prstDash val="solid"/>
          </a:ln>
        </p:spPr>
      </p:sp>
      <p:sp>
        <p:nvSpPr>
          <p:cNvPr id="8" name="Shape 5"/>
          <p:cNvSpPr/>
          <p:nvPr/>
        </p:nvSpPr>
        <p:spPr>
          <a:xfrm>
            <a:off x="365760" y="1005840"/>
            <a:ext cx="4023360" cy="73152"/>
          </a:xfrm>
          <a:prstGeom prst="rect">
            <a:avLst/>
          </a:prstGeom>
          <a:solidFill>
            <a:srgbClr val="1E3A8A"/>
          </a:solidFill>
          <a:ln w="12700">
            <a:solidFill>
              <a:srgbClr val="1E3A8A"/>
            </a:solidFill>
            <a:prstDash val="solid"/>
          </a:ln>
        </p:spPr>
      </p:sp>
      <p:sp>
        <p:nvSpPr>
          <p:cNvPr id="9" name="Text 6"/>
          <p:cNvSpPr/>
          <p:nvPr/>
        </p:nvSpPr>
        <p:spPr>
          <a:xfrm>
            <a:off x="502920" y="1143000"/>
            <a:ext cx="3749040" cy="274320"/>
          </a:xfrm>
          <a:prstGeom prst="rect">
            <a:avLst/>
          </a:prstGeom>
          <a:noFill/>
          <a:ln/>
        </p:spPr>
        <p:txBody>
          <a:bodyPr wrap="square" rtlCol="0" anchor="t"/>
          <a:lstStyle/>
          <a:p>
            <a:pPr indent="0" marL="0">
              <a:buNone/>
            </a:pPr>
            <a:r>
              <a:rPr lang="en-US" sz="1200" b="1" dirty="0">
                <a:solidFill>
                  <a:srgbClr val="1E3A8A"/>
                </a:solidFill>
                <a:latin typeface="Calibri" pitchFamily="34" charset="0"/>
                <a:ea typeface="Calibri" pitchFamily="34" charset="-122"/>
                <a:cs typeface="Calibri" pitchFamily="34" charset="-120"/>
              </a:rPr>
              <a:t>Self-Healing State Reconciliation</a:t>
            </a:r>
            <a:endParaRPr lang="en-US" sz="1200" dirty="0"/>
          </a:p>
        </p:txBody>
      </p:sp>
      <p:sp>
        <p:nvSpPr>
          <p:cNvPr id="10" name="Text 7"/>
          <p:cNvSpPr/>
          <p:nvPr/>
        </p:nvSpPr>
        <p:spPr>
          <a:xfrm>
            <a:off x="502920" y="1463040"/>
            <a:ext cx="3749040" cy="2926080"/>
          </a:xfrm>
          <a:prstGeom prst="rect">
            <a:avLst/>
          </a:prstGeom>
          <a:noFill/>
          <a:ln/>
        </p:spPr>
        <p:txBody>
          <a:bodyPr wrap="square" lIns="63500" tIns="63500" rIns="63500" bIns="63500" rtlCol="0" anchor="t"/>
          <a:lstStyle/>
          <a:p>
            <a:r>
              <a:rPr lang="en-US" sz="1050" dirty="0">
                <a:solidFill>
                  <a:srgbClr val="334155"/>
                </a:solidFill>
                <a:latin typeface="Calibri" pitchFamily="34" charset="0"/>
                <a:ea typeface="Calibri" pitchFamily="34" charset="-122"/>
                <a:cs typeface="Calibri" pitchFamily="34" charset="-120"/>
              </a:rPr>
              <a:t>Purpose &amp; Functionality:</a:t>
            </a:r>
            <a:endParaRPr lang="en-US" sz="1050" dirty="0"/>
          </a:p>
          <a:p>
            <a:r>
              <a:rPr lang="en-US" sz="1050" dirty="0">
                <a:solidFill>
                  <a:srgbClr val="334155"/>
                </a:solidFill>
                <a:latin typeface="Calibri" pitchFamily="34" charset="0"/>
                <a:ea typeface="Calibri" pitchFamily="34" charset="-122"/>
                <a:cs typeface="Calibri" pitchFamily="34" charset="-120"/>
              </a:rPr>
              <a:t>  • Background worker runs asynchronously on the Express server.</a:t>
            </a:r>
            <a:endParaRPr lang="en-US" sz="1050" dirty="0"/>
          </a:p>
          <a:p>
            <a:r>
              <a:rPr lang="en-US" sz="1050" dirty="0">
                <a:solidFill>
                  <a:srgbClr val="334155"/>
                </a:solidFill>
                <a:latin typeface="Calibri" pitchFamily="34" charset="0"/>
                <a:ea typeface="Calibri" pitchFamily="34" charset="-122"/>
                <a:cs typeface="Calibri" pitchFamily="34" charset="-120"/>
              </a:rPr>
              <a:t>  • Scavenges the database for expired 'UPLOAD_INTENT' records.</a:t>
            </a:r>
            <a:endParaRPr lang="en-US" sz="1050" dirty="0"/>
          </a:p>
          <a:p>
            <a:r>
              <a:rPr lang="en-US" sz="1050" dirty="0">
                <a:solidFill>
                  <a:srgbClr val="334155"/>
                </a:solidFill>
                <a:latin typeface="Calibri" pitchFamily="34" charset="0"/>
                <a:ea typeface="Calibri" pitchFamily="34" charset="-122"/>
                <a:cs typeface="Calibri" pitchFamily="34" charset="-120"/>
              </a:rPr>
              <a:t>  • Reconciles payment states by verifying token burn transactions.</a:t>
            </a:r>
            <a:endParaRPr lang="en-US" sz="1050" dirty="0"/>
          </a:p>
          <a:p>
            <a:r>
              <a:rPr lang="en-US" sz="1050" dirty="0">
                <a:solidFill>
                  <a:srgbClr val="334155"/>
                </a:solidFill>
                <a:latin typeface="Calibri" pitchFamily="34" charset="0"/>
                <a:ea typeface="Calibri" pitchFamily="34" charset="-122"/>
                <a:cs typeface="Calibri" pitchFamily="34" charset="-120"/>
              </a:rPr>
              <a:t>How it Works:</a:t>
            </a:r>
            <a:endParaRPr lang="en-US" sz="1050" dirty="0"/>
          </a:p>
          <a:p>
            <a:r>
              <a:rPr lang="en-US" sz="1050" dirty="0">
                <a:solidFill>
                  <a:srgbClr val="334155"/>
                </a:solidFill>
                <a:latin typeface="Calibri" pitchFamily="34" charset="0"/>
                <a:ea typeface="Calibri" pitchFamily="34" charset="-122"/>
                <a:cs typeface="Calibri" pitchFamily="34" charset="-120"/>
              </a:rPr>
              <a:t>  1. Database creates an intent record valid for 1 hour.</a:t>
            </a:r>
            <a:endParaRPr lang="en-US" sz="1050" dirty="0"/>
          </a:p>
          <a:p>
            <a:r>
              <a:rPr lang="en-US" sz="1050" dirty="0">
                <a:solidFill>
                  <a:srgbClr val="334155"/>
                </a:solidFill>
                <a:latin typeface="Calibri" pitchFamily="34" charset="0"/>
                <a:ea typeface="Calibri" pitchFamily="34" charset="-122"/>
                <a:cs typeface="Calibri" pitchFamily="34" charset="-120"/>
              </a:rPr>
              <a:t>  2. If S3 upload or payment fails, intent stays 'PENDING_PAYMENT'.</a:t>
            </a:r>
            <a:endParaRPr lang="en-US" sz="1050" dirty="0"/>
          </a:p>
          <a:p>
            <a:r>
              <a:rPr lang="en-US" sz="1050" dirty="0">
                <a:solidFill>
                  <a:srgbClr val="334155"/>
                </a:solidFill>
                <a:latin typeface="Calibri" pitchFamily="34" charset="0"/>
                <a:ea typeface="Calibri" pitchFamily="34" charset="-122"/>
                <a:cs typeface="Calibri" pitchFamily="34" charset="-120"/>
              </a:rPr>
              <a:t>  3. Scavenger checks blockchain for NTKR burn receipt.</a:t>
            </a:r>
            <a:endParaRPr lang="en-US" sz="1050" dirty="0"/>
          </a:p>
          <a:p>
            <a:r>
              <a:rPr lang="en-US" sz="1050" dirty="0">
                <a:solidFill>
                  <a:srgbClr val="334155"/>
                </a:solidFill>
                <a:latin typeface="Calibri" pitchFamily="34" charset="0"/>
                <a:ea typeface="Calibri" pitchFamily="34" charset="-122"/>
                <a:cs typeface="Calibri" pitchFamily="34" charset="-120"/>
              </a:rPr>
              <a:t>  4. If payment matches, intent promoted to 'PAID' state.</a:t>
            </a:r>
            <a:endParaRPr lang="en-US" sz="1050" dirty="0"/>
          </a:p>
          <a:p>
            <a:r>
              <a:rPr lang="en-US" sz="1050" dirty="0">
                <a:solidFill>
                  <a:srgbClr val="334155"/>
                </a:solidFill>
                <a:latin typeface="Calibri" pitchFamily="34" charset="0"/>
                <a:ea typeface="Calibri" pitchFamily="34" charset="-122"/>
                <a:cs typeface="Calibri" pitchFamily="34" charset="-120"/>
              </a:rPr>
              <a:t>  5. Otherwise, record is safely deleted, cleaning storage.</a:t>
            </a:r>
            <a:endParaRPr lang="en-US" sz="1050" dirty="0"/>
          </a:p>
        </p:txBody>
      </p:sp>
      <p:sp>
        <p:nvSpPr>
          <p:cNvPr id="11" name="Shape 8"/>
          <p:cNvSpPr/>
          <p:nvPr/>
        </p:nvSpPr>
        <p:spPr>
          <a:xfrm>
            <a:off x="4572000" y="1005840"/>
            <a:ext cx="4206240" cy="3474720"/>
          </a:xfrm>
          <a:prstGeom prst="rect">
            <a:avLst/>
          </a:prstGeom>
          <a:solidFill>
            <a:srgbClr val="FFFFFF"/>
          </a:solidFill>
          <a:ln w="12700">
            <a:solidFill>
              <a:srgbClr val="CBD5E1"/>
            </a:solidFill>
            <a:prstDash val="solid"/>
          </a:ln>
        </p:spPr>
      </p:sp>
      <p:sp>
        <p:nvSpPr>
          <p:cNvPr id="12" name="Shape 9"/>
          <p:cNvSpPr/>
          <p:nvPr/>
        </p:nvSpPr>
        <p:spPr>
          <a:xfrm>
            <a:off x="4572000" y="1005840"/>
            <a:ext cx="4206240" cy="73152"/>
          </a:xfrm>
          <a:prstGeom prst="rect">
            <a:avLst/>
          </a:prstGeom>
          <a:solidFill>
            <a:srgbClr val="3B82F6"/>
          </a:solidFill>
          <a:ln w="12700">
            <a:solidFill>
              <a:srgbClr val="3B82F6"/>
            </a:solidFill>
            <a:prstDash val="solid"/>
          </a:ln>
        </p:spPr>
      </p:sp>
      <p:sp>
        <p:nvSpPr>
          <p:cNvPr id="13" name="Text 10"/>
          <p:cNvSpPr/>
          <p:nvPr/>
        </p:nvSpPr>
        <p:spPr>
          <a:xfrm>
            <a:off x="4709160" y="1143000"/>
            <a:ext cx="3931920" cy="274320"/>
          </a:xfrm>
          <a:prstGeom prst="rect">
            <a:avLst/>
          </a:prstGeom>
          <a:noFill/>
          <a:ln/>
        </p:spPr>
        <p:txBody>
          <a:bodyPr wrap="square" rtlCol="0" anchor="t"/>
          <a:lstStyle/>
          <a:p>
            <a:pPr indent="0" marL="0">
              <a:buNone/>
            </a:pPr>
            <a:r>
              <a:rPr lang="en-US" sz="1200" b="1" dirty="0">
                <a:solidFill>
                  <a:srgbClr val="3B82F6"/>
                </a:solidFill>
                <a:latin typeface="Calibri" pitchFamily="34" charset="0"/>
                <a:ea typeface="Calibri" pitchFamily="34" charset="-122"/>
                <a:cs typeface="Calibri" pitchFamily="34" charset="-120"/>
              </a:rPr>
              <a:t>System Integrity &amp; Locking</a:t>
            </a:r>
            <a:endParaRPr lang="en-US" sz="1200" dirty="0"/>
          </a:p>
        </p:txBody>
      </p:sp>
      <p:sp>
        <p:nvSpPr>
          <p:cNvPr id="14" name="Text 11"/>
          <p:cNvSpPr/>
          <p:nvPr/>
        </p:nvSpPr>
        <p:spPr>
          <a:xfrm>
            <a:off x="4709160" y="1463040"/>
            <a:ext cx="3931920" cy="2926080"/>
          </a:xfrm>
          <a:prstGeom prst="rect">
            <a:avLst/>
          </a:prstGeom>
          <a:noFill/>
          <a:ln/>
        </p:spPr>
        <p:txBody>
          <a:bodyPr wrap="square" lIns="63500" tIns="63500" rIns="63500" bIns="63500" rtlCol="0" anchor="t"/>
          <a:lstStyle/>
          <a:p>
            <a:r>
              <a:rPr lang="en-US" sz="1050" dirty="0">
                <a:solidFill>
                  <a:srgbClr val="334155"/>
                </a:solidFill>
                <a:latin typeface="Calibri" pitchFamily="34" charset="0"/>
                <a:ea typeface="Calibri" pitchFamily="34" charset="-122"/>
                <a:cs typeface="Calibri" pitchFamily="34" charset="-120"/>
              </a:rPr>
              <a:t>Non-Blocking Architecture:</a:t>
            </a:r>
            <a:endParaRPr lang="en-US" sz="1050" dirty="0"/>
          </a:p>
          <a:p>
            <a:r>
              <a:rPr lang="en-US" sz="1050" dirty="0">
                <a:solidFill>
                  <a:srgbClr val="334155"/>
                </a:solidFill>
                <a:latin typeface="Calibri" pitchFamily="34" charset="0"/>
                <a:ea typeface="Calibri" pitchFamily="34" charset="-122"/>
                <a:cs typeface="Calibri" pitchFamily="34" charset="-120"/>
              </a:rPr>
              <a:t>  • Worker runs in isolated thread utilizing separate PG client.</a:t>
            </a:r>
            <a:endParaRPr lang="en-US" sz="1050" dirty="0"/>
          </a:p>
          <a:p>
            <a:r>
              <a:rPr lang="en-US" sz="1050" dirty="0">
                <a:solidFill>
                  <a:srgbClr val="334155"/>
                </a:solidFill>
                <a:latin typeface="Calibri" pitchFamily="34" charset="0"/>
                <a:ea typeface="Calibri" pitchFamily="34" charset="-122"/>
                <a:cs typeface="Calibri" pitchFamily="34" charset="-120"/>
              </a:rPr>
              <a:t>  • Does NOT lock main transaction tables during operation, preventing API deadlocks.</a:t>
            </a:r>
            <a:endParaRPr lang="en-US" sz="1050" dirty="0"/>
          </a:p>
          <a:p>
            <a:r>
              <a:rPr lang="en-US" sz="1050" dirty="0">
                <a:solidFill>
                  <a:srgbClr val="334155"/>
                </a:solidFill>
                <a:latin typeface="Calibri" pitchFamily="34" charset="0"/>
                <a:ea typeface="Calibri" pitchFamily="34" charset="-122"/>
                <a:cs typeface="Calibri" pitchFamily="34" charset="-120"/>
              </a:rPr>
              <a:t>  • Keeps PostgreSQL database clean and AWS S3 storage optimized by cleaning up orphaned files.</a:t>
            </a:r>
            <a:endParaRPr lang="en-US" sz="1050" dirty="0"/>
          </a:p>
          <a:p>
            <a:r>
              <a:rPr lang="en-US" sz="1050" dirty="0">
                <a:solidFill>
                  <a:srgbClr val="334155"/>
                </a:solidFill>
                <a:latin typeface="Calibri" pitchFamily="34" charset="0"/>
                <a:ea typeface="Calibri" pitchFamily="34" charset="-122"/>
                <a:cs typeface="Calibri" pitchFamily="34" charset="-120"/>
              </a:rPr>
              <a:t>Audit Trail Integration:</a:t>
            </a:r>
            <a:endParaRPr lang="en-US" sz="1050" dirty="0"/>
          </a:p>
          <a:p>
            <a:r>
              <a:rPr lang="en-US" sz="1050" dirty="0">
                <a:solidFill>
                  <a:srgbClr val="334155"/>
                </a:solidFill>
                <a:latin typeface="Calibri" pitchFamily="34" charset="0"/>
                <a:ea typeface="Calibri" pitchFamily="34" charset="-122"/>
                <a:cs typeface="Calibri" pitchFamily="34" charset="-120"/>
              </a:rPr>
              <a:t>  • Log events are written to the 'audit_logs' table on every state transition, ensuring traceability.</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274320"/>
            <a:ext cx="77724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13. Software Development Methodology</a:t>
            </a:r>
            <a:endParaRPr lang="en-US" sz="1800" dirty="0"/>
          </a:p>
        </p:txBody>
      </p:sp>
      <p:sp>
        <p:nvSpPr>
          <p:cNvPr id="3" name="Shape 1"/>
          <p:cNvSpPr/>
          <p:nvPr/>
        </p:nvSpPr>
        <p:spPr>
          <a:xfrm>
            <a:off x="365760" y="777240"/>
            <a:ext cx="841248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229600" y="137160"/>
            <a:ext cx="594360" cy="594360"/>
          </a:xfrm>
          <a:prstGeom prst="rect">
            <a:avLst/>
          </a:prstGeom>
        </p:spPr>
      </p:pic>
      <p:sp>
        <p:nvSpPr>
          <p:cNvPr id="5" name="Text 2"/>
          <p:cNvSpPr/>
          <p:nvPr/>
        </p:nvSpPr>
        <p:spPr>
          <a:xfrm>
            <a:off x="36576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804672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21</a:t>
            </a:r>
            <a:endParaRPr lang="en-US" sz="850" dirty="0"/>
          </a:p>
        </p:txBody>
      </p:sp>
      <p:sp>
        <p:nvSpPr>
          <p:cNvPr id="7" name="Text 4"/>
          <p:cNvSpPr/>
          <p:nvPr/>
        </p:nvSpPr>
        <p:spPr>
          <a:xfrm>
            <a:off x="365760" y="1005840"/>
            <a:ext cx="8412480" cy="3566160"/>
          </a:xfrm>
          <a:prstGeom prst="rect">
            <a:avLst/>
          </a:prstGeom>
          <a:noFill/>
          <a:ln/>
        </p:spPr>
        <p:txBody>
          <a:bodyPr wrap="square" lIns="63500" tIns="63500" rIns="63500" bIns="63500" rtlCol="0" anchor="t"/>
          <a:lstStyle/>
          <a:p>
            <a:r>
              <a:rPr lang="en-US" sz="1300" b="1" dirty="0">
                <a:solidFill>
                  <a:srgbClr val="1E3A8A"/>
                </a:solidFill>
                <a:latin typeface="Calibri" pitchFamily="34" charset="0"/>
                <a:ea typeface="Calibri" pitchFamily="34" charset="-122"/>
                <a:cs typeface="Calibri" pitchFamily="34" charset="-120"/>
              </a:rPr>
              <a:t>BBSNS was developed using the Agile SCRUM Framework:</a:t>
            </a:r>
            <a:endParaRPr lang="en-US" sz="1300" dirty="0"/>
          </a:p>
          <a:p>
            <a:r>
              <a:rPr lang="en-US" sz="1100" b="1" dirty="0">
                <a:solidFill>
                  <a:srgbClr val="334155"/>
                </a:solidFill>
                <a:latin typeface="Calibri" pitchFamily="34" charset="0"/>
                <a:ea typeface="Calibri" pitchFamily="34" charset="-122"/>
                <a:cs typeface="Calibri" pitchFamily="34" charset="-120"/>
              </a:rPr>
              <a:t>  • Iterative Sprint Development:</a:t>
            </a:r>
            <a:endParaRPr lang="en-US" sz="1300" dirty="0"/>
          </a:p>
          <a:p>
            <a:r>
              <a:rPr lang="en-US" sz="1100" dirty="0">
                <a:solidFill>
                  <a:srgbClr val="334155"/>
                </a:solidFill>
                <a:latin typeface="Calibri" pitchFamily="34" charset="0"/>
                <a:ea typeface="Calibri" pitchFamily="34" charset="-122"/>
                <a:cs typeface="Calibri" pitchFamily="34" charset="-120"/>
              </a:rPr>
              <a:t>    Divided project into 2-week sprints (Backend and database setup -&gt; smart contract design -&gt; web portal integration -&gt; Electron client and biometric validation).</a:t>
            </a:r>
            <a:endParaRPr lang="en-US" sz="1300" dirty="0"/>
          </a:p>
          <a:p>
            <a:r>
              <a:rPr lang="en-US" sz="1100" b="1" dirty="0">
                <a:solidFill>
                  <a:srgbClr val="334155"/>
                </a:solidFill>
                <a:latin typeface="Calibri" pitchFamily="34" charset="0"/>
                <a:ea typeface="Calibri" pitchFamily="34" charset="-122"/>
                <a:cs typeface="Calibri" pitchFamily="34" charset="-120"/>
              </a:rPr>
              <a:t>  • Continuous Integration &amp; Prototyping:</a:t>
            </a:r>
            <a:endParaRPr lang="en-US" sz="1300" dirty="0"/>
          </a:p>
          <a:p>
            <a:r>
              <a:rPr lang="en-US" sz="1100" dirty="0">
                <a:solidFill>
                  <a:srgbClr val="334155"/>
                </a:solidFill>
                <a:latin typeface="Calibri" pitchFamily="34" charset="0"/>
                <a:ea typeface="Calibri" pitchFamily="34" charset="-122"/>
                <a:cs typeface="Calibri" pitchFamily="34" charset="-120"/>
              </a:rPr>
              <a:t>    Utilized Hardhat to prototype smart contracts in local EVM sandbox before moving to BNB Smart Chain testnet.</a:t>
            </a:r>
            <a:endParaRPr lang="en-US" sz="1300" dirty="0"/>
          </a:p>
          <a:p>
            <a:r>
              <a:rPr lang="en-US" sz="1100" b="1" dirty="0">
                <a:solidFill>
                  <a:srgbClr val="334155"/>
                </a:solidFill>
                <a:latin typeface="Calibri" pitchFamily="34" charset="0"/>
                <a:ea typeface="Calibri" pitchFamily="34" charset="-122"/>
                <a:cs typeface="Calibri" pitchFamily="34" charset="-120"/>
              </a:rPr>
              <a:t>  • Comprehensive Testing &amp; Validation:</a:t>
            </a:r>
            <a:endParaRPr lang="en-US" sz="1300" dirty="0"/>
          </a:p>
          <a:p>
            <a:r>
              <a:rPr lang="en-US" sz="1100" dirty="0">
                <a:solidFill>
                  <a:srgbClr val="334155"/>
                </a:solidFill>
                <a:latin typeface="Calibri" pitchFamily="34" charset="0"/>
                <a:ea typeface="Calibri" pitchFamily="34" charset="-122"/>
                <a:cs typeface="Calibri" pitchFamily="34" charset="-120"/>
              </a:rPr>
              <a:t>    Executed unit tests for EIP-712 verification logic, PostgreSQL database constraints, and API router permissions.</a:t>
            </a:r>
            <a:endParaRPr lang="en-US" sz="1300" dirty="0"/>
          </a:p>
          <a:p>
            <a:r>
              <a:rPr lang="en-US" sz="1100" b="1" dirty="0">
                <a:solidFill>
                  <a:srgbClr val="334155"/>
                </a:solidFill>
                <a:latin typeface="Calibri" pitchFamily="34" charset="0"/>
                <a:ea typeface="Calibri" pitchFamily="34" charset="-122"/>
                <a:cs typeface="Calibri" pitchFamily="34" charset="-120"/>
              </a:rPr>
              <a:t>  • Cloud Deployment &amp; PM2 Setup:</a:t>
            </a:r>
            <a:endParaRPr lang="en-US" sz="1300" dirty="0"/>
          </a:p>
          <a:p>
            <a:r>
              <a:rPr lang="en-US" sz="1100" dirty="0">
                <a:solidFill>
                  <a:srgbClr val="334155"/>
                </a:solidFill>
                <a:latin typeface="Calibri" pitchFamily="34" charset="0"/>
                <a:ea typeface="Calibri" pitchFamily="34" charset="-122"/>
                <a:cs typeface="Calibri" pitchFamily="34" charset="-120"/>
              </a:rPr>
              <a:t>    Deployed node API and scavenger workers on AWS EC2, configured PM2 cluster for zero-downtime, health check verification, and automatic restarts.</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274320"/>
            <a:ext cx="77724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13. Key Project Features &amp; Innovations</a:t>
            </a:r>
            <a:endParaRPr lang="en-US" sz="1800" dirty="0"/>
          </a:p>
        </p:txBody>
      </p:sp>
      <p:sp>
        <p:nvSpPr>
          <p:cNvPr id="3" name="Shape 1"/>
          <p:cNvSpPr/>
          <p:nvPr/>
        </p:nvSpPr>
        <p:spPr>
          <a:xfrm>
            <a:off x="365760" y="777240"/>
            <a:ext cx="841248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229600" y="137160"/>
            <a:ext cx="594360" cy="594360"/>
          </a:xfrm>
          <a:prstGeom prst="rect">
            <a:avLst/>
          </a:prstGeom>
        </p:spPr>
      </p:pic>
      <p:sp>
        <p:nvSpPr>
          <p:cNvPr id="5" name="Text 2"/>
          <p:cNvSpPr/>
          <p:nvPr/>
        </p:nvSpPr>
        <p:spPr>
          <a:xfrm>
            <a:off x="36576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804672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22</a:t>
            </a:r>
            <a:endParaRPr lang="en-US" sz="850" dirty="0"/>
          </a:p>
        </p:txBody>
      </p:sp>
      <p:sp>
        <p:nvSpPr>
          <p:cNvPr id="7" name="Shape 4"/>
          <p:cNvSpPr/>
          <p:nvPr/>
        </p:nvSpPr>
        <p:spPr>
          <a:xfrm>
            <a:off x="365760" y="1005840"/>
            <a:ext cx="4023360" cy="3474720"/>
          </a:xfrm>
          <a:prstGeom prst="rect">
            <a:avLst/>
          </a:prstGeom>
          <a:solidFill>
            <a:srgbClr val="FFFFFF"/>
          </a:solidFill>
          <a:ln w="12700">
            <a:solidFill>
              <a:srgbClr val="CBD5E1"/>
            </a:solidFill>
            <a:prstDash val="solid"/>
          </a:ln>
        </p:spPr>
      </p:sp>
      <p:sp>
        <p:nvSpPr>
          <p:cNvPr id="8" name="Shape 5"/>
          <p:cNvSpPr/>
          <p:nvPr/>
        </p:nvSpPr>
        <p:spPr>
          <a:xfrm>
            <a:off x="365760" y="1005840"/>
            <a:ext cx="4023360" cy="73152"/>
          </a:xfrm>
          <a:prstGeom prst="rect">
            <a:avLst/>
          </a:prstGeom>
          <a:solidFill>
            <a:srgbClr val="1E3A8A"/>
          </a:solidFill>
          <a:ln w="12700">
            <a:solidFill>
              <a:srgbClr val="1E3A8A"/>
            </a:solidFill>
            <a:prstDash val="solid"/>
          </a:ln>
        </p:spPr>
      </p:sp>
      <p:sp>
        <p:nvSpPr>
          <p:cNvPr id="9" name="Text 6"/>
          <p:cNvSpPr/>
          <p:nvPr/>
        </p:nvSpPr>
        <p:spPr>
          <a:xfrm>
            <a:off x="502920" y="1143000"/>
            <a:ext cx="3749040" cy="274320"/>
          </a:xfrm>
          <a:prstGeom prst="rect">
            <a:avLst/>
          </a:prstGeom>
          <a:noFill/>
          <a:ln/>
        </p:spPr>
        <p:txBody>
          <a:bodyPr wrap="square" rtlCol="0" anchor="t"/>
          <a:lstStyle/>
          <a:p>
            <a:pPr indent="0" marL="0">
              <a:buNone/>
            </a:pPr>
            <a:r>
              <a:rPr lang="en-US" sz="1200" b="1" dirty="0">
                <a:solidFill>
                  <a:srgbClr val="1E3A8A"/>
                </a:solidFill>
                <a:latin typeface="Calibri" pitchFamily="34" charset="0"/>
                <a:ea typeface="Calibri" pitchFamily="34" charset="-122"/>
                <a:cs typeface="Calibri" pitchFamily="34" charset="-120"/>
              </a:rPr>
              <a:t>Technological Highlights</a:t>
            </a:r>
            <a:endParaRPr lang="en-US" sz="1200" dirty="0"/>
          </a:p>
        </p:txBody>
      </p:sp>
      <p:sp>
        <p:nvSpPr>
          <p:cNvPr id="10" name="Text 7"/>
          <p:cNvSpPr/>
          <p:nvPr/>
        </p:nvSpPr>
        <p:spPr>
          <a:xfrm>
            <a:off x="502920" y="1463040"/>
            <a:ext cx="3749040" cy="2926080"/>
          </a:xfrm>
          <a:prstGeom prst="rect">
            <a:avLst/>
          </a:prstGeom>
          <a:noFill/>
          <a:ln/>
        </p:spPr>
        <p:txBody>
          <a:bodyPr wrap="square" lIns="63500" tIns="63500" rIns="63500" bIns="63500" rtlCol="0" anchor="t"/>
          <a:lstStyle/>
          <a:p>
            <a:r>
              <a:rPr lang="en-US" sz="1100" dirty="0">
                <a:solidFill>
                  <a:srgbClr val="334155"/>
                </a:solidFill>
                <a:latin typeface="Calibri" pitchFamily="34" charset="0"/>
                <a:ea typeface="Calibri" pitchFamily="34" charset="-122"/>
                <a:cs typeface="Calibri" pitchFamily="34" charset="-120"/>
              </a:rPr>
              <a:t>Gasless Web User Portal:</a:t>
            </a:r>
            <a:endParaRPr lang="en-US" sz="1100" dirty="0"/>
          </a:p>
          <a:p>
            <a:r>
              <a:rPr lang="en-US" sz="1100" dirty="0">
                <a:solidFill>
                  <a:srgbClr val="334155"/>
                </a:solidFill>
                <a:latin typeface="Calibri" pitchFamily="34" charset="0"/>
                <a:ea typeface="Calibri" pitchFamily="34" charset="-122"/>
                <a:cs typeface="Calibri" pitchFamily="34" charset="-120"/>
              </a:rPr>
              <a:t>  • Custom ERC-20 NTKR utility token burn pay system.</a:t>
            </a:r>
            <a:endParaRPr lang="en-US" sz="1100" dirty="0"/>
          </a:p>
          <a:p>
            <a:r>
              <a:rPr lang="en-US" sz="1100" dirty="0">
                <a:solidFill>
                  <a:srgbClr val="334155"/>
                </a:solidFill>
                <a:latin typeface="Calibri" pitchFamily="34" charset="0"/>
                <a:ea typeface="Calibri" pitchFamily="34" charset="-122"/>
                <a:cs typeface="Calibri" pitchFamily="34" charset="-120"/>
              </a:rPr>
              <a:t>  • EIP-712 structured signing bypasses gas fees.</a:t>
            </a:r>
            <a:endParaRPr lang="en-US" sz="1100" dirty="0"/>
          </a:p>
          <a:p>
            <a:r>
              <a:rPr lang="en-US" sz="1100" dirty="0">
                <a:solidFill>
                  <a:srgbClr val="334155"/>
                </a:solidFill>
                <a:latin typeface="Calibri" pitchFamily="34" charset="0"/>
                <a:ea typeface="Calibri" pitchFamily="34" charset="-122"/>
                <a:cs typeface="Calibri" pitchFamily="34" charset="-120"/>
              </a:rPr>
              <a:t>Strict Biometric Security Lock:</a:t>
            </a:r>
            <a:endParaRPr lang="en-US" sz="1100" dirty="0"/>
          </a:p>
          <a:p>
            <a:r>
              <a:rPr lang="en-US" sz="1100" dirty="0">
                <a:solidFill>
                  <a:srgbClr val="334155"/>
                </a:solidFill>
                <a:latin typeface="Calibri" pitchFamily="34" charset="0"/>
                <a:ea typeface="Calibri" pitchFamily="34" charset="-122"/>
                <a:cs typeface="Calibri" pitchFamily="34" charset="-120"/>
              </a:rPr>
              <a:t>  • Facial biometric check before notarizing prevents credential theft or hijacked sessions.</a:t>
            </a:r>
            <a:endParaRPr lang="en-US" sz="1100" dirty="0"/>
          </a:p>
          <a:p>
            <a:r>
              <a:rPr lang="en-US" sz="1100" dirty="0">
                <a:solidFill>
                  <a:srgbClr val="334155"/>
                </a:solidFill>
                <a:latin typeface="Calibri" pitchFamily="34" charset="0"/>
                <a:ea typeface="Calibri" pitchFamily="34" charset="-122"/>
                <a:cs typeface="Calibri" pitchFamily="34" charset="-120"/>
              </a:rPr>
              <a:t>Secure S3 Blob Vaulting:</a:t>
            </a:r>
            <a:endParaRPr lang="en-US" sz="1100" dirty="0"/>
          </a:p>
          <a:p>
            <a:r>
              <a:rPr lang="en-US" sz="1100" dirty="0">
                <a:solidFill>
                  <a:srgbClr val="334155"/>
                </a:solidFill>
                <a:latin typeface="Calibri" pitchFamily="34" charset="0"/>
                <a:ea typeface="Calibri" pitchFamily="34" charset="-122"/>
                <a:cs typeface="Calibri" pitchFamily="34" charset="-120"/>
              </a:rPr>
              <a:t>  • UUID-based S3 keys prevent document URL enumeration.</a:t>
            </a:r>
            <a:endParaRPr lang="en-US" sz="1100" dirty="0"/>
          </a:p>
        </p:txBody>
      </p:sp>
      <p:sp>
        <p:nvSpPr>
          <p:cNvPr id="11" name="Shape 8"/>
          <p:cNvSpPr/>
          <p:nvPr/>
        </p:nvSpPr>
        <p:spPr>
          <a:xfrm>
            <a:off x="4572000" y="1005840"/>
            <a:ext cx="4206240" cy="3474720"/>
          </a:xfrm>
          <a:prstGeom prst="rect">
            <a:avLst/>
          </a:prstGeom>
          <a:solidFill>
            <a:srgbClr val="FFFFFF"/>
          </a:solidFill>
          <a:ln w="12700">
            <a:solidFill>
              <a:srgbClr val="CBD5E1"/>
            </a:solidFill>
            <a:prstDash val="solid"/>
          </a:ln>
        </p:spPr>
      </p:sp>
      <p:sp>
        <p:nvSpPr>
          <p:cNvPr id="12" name="Shape 9"/>
          <p:cNvSpPr/>
          <p:nvPr/>
        </p:nvSpPr>
        <p:spPr>
          <a:xfrm>
            <a:off x="4572000" y="1005840"/>
            <a:ext cx="4206240" cy="73152"/>
          </a:xfrm>
          <a:prstGeom prst="rect">
            <a:avLst/>
          </a:prstGeom>
          <a:solidFill>
            <a:srgbClr val="3B82F6"/>
          </a:solidFill>
          <a:ln w="12700">
            <a:solidFill>
              <a:srgbClr val="3B82F6"/>
            </a:solidFill>
            <a:prstDash val="solid"/>
          </a:ln>
        </p:spPr>
      </p:sp>
      <p:sp>
        <p:nvSpPr>
          <p:cNvPr id="13" name="Text 10"/>
          <p:cNvSpPr/>
          <p:nvPr/>
        </p:nvSpPr>
        <p:spPr>
          <a:xfrm>
            <a:off x="4709160" y="1143000"/>
            <a:ext cx="3931920" cy="274320"/>
          </a:xfrm>
          <a:prstGeom prst="rect">
            <a:avLst/>
          </a:prstGeom>
          <a:noFill/>
          <a:ln/>
        </p:spPr>
        <p:txBody>
          <a:bodyPr wrap="square" rtlCol="0" anchor="t"/>
          <a:lstStyle/>
          <a:p>
            <a:pPr indent="0" marL="0">
              <a:buNone/>
            </a:pPr>
            <a:r>
              <a:rPr lang="en-US" sz="1200" b="1" dirty="0">
                <a:solidFill>
                  <a:srgbClr val="3B82F6"/>
                </a:solidFill>
                <a:latin typeface="Calibri" pitchFamily="34" charset="0"/>
                <a:ea typeface="Calibri" pitchFamily="34" charset="-122"/>
                <a:cs typeface="Calibri" pitchFamily="34" charset="-120"/>
              </a:rPr>
              <a:t>Governance &amp; Operations</a:t>
            </a:r>
            <a:endParaRPr lang="en-US" sz="1200" dirty="0"/>
          </a:p>
        </p:txBody>
      </p:sp>
      <p:sp>
        <p:nvSpPr>
          <p:cNvPr id="14" name="Text 11"/>
          <p:cNvSpPr/>
          <p:nvPr/>
        </p:nvSpPr>
        <p:spPr>
          <a:xfrm>
            <a:off x="4709160" y="1463040"/>
            <a:ext cx="3931920" cy="2926080"/>
          </a:xfrm>
          <a:prstGeom prst="rect">
            <a:avLst/>
          </a:prstGeom>
          <a:noFill/>
          <a:ln/>
        </p:spPr>
        <p:txBody>
          <a:bodyPr wrap="square" lIns="63500" tIns="63500" rIns="63500" bIns="63500" rtlCol="0" anchor="t"/>
          <a:lstStyle/>
          <a:p>
            <a:r>
              <a:rPr lang="en-US" sz="1100" dirty="0">
                <a:solidFill>
                  <a:srgbClr val="334155"/>
                </a:solidFill>
                <a:latin typeface="Calibri" pitchFamily="34" charset="0"/>
                <a:ea typeface="Calibri" pitchFamily="34" charset="-122"/>
                <a:cs typeface="Calibri" pitchFamily="34" charset="-120"/>
              </a:rPr>
              <a:t>Decentralized Governance:</a:t>
            </a:r>
            <a:endParaRPr lang="en-US" sz="1100" dirty="0"/>
          </a:p>
          <a:p>
            <a:r>
              <a:rPr lang="en-US" sz="1100" dirty="0">
                <a:solidFill>
                  <a:srgbClr val="334155"/>
                </a:solidFill>
                <a:latin typeface="Calibri" pitchFamily="34" charset="0"/>
                <a:ea typeface="Calibri" pitchFamily="34" charset="-122"/>
                <a:cs typeface="Calibri" pitchFamily="34" charset="-120"/>
              </a:rPr>
              <a:t>  • Multi-sig consensus required to add, authorize, or revoke notary licenses on-chain.</a:t>
            </a:r>
            <a:endParaRPr lang="en-US" sz="1100" dirty="0"/>
          </a:p>
          <a:p>
            <a:r>
              <a:rPr lang="en-US" sz="1100" dirty="0">
                <a:solidFill>
                  <a:srgbClr val="334155"/>
                </a:solidFill>
                <a:latin typeface="Calibri" pitchFamily="34" charset="0"/>
                <a:ea typeface="Calibri" pitchFamily="34" charset="-122"/>
                <a:cs typeface="Calibri" pitchFamily="34" charset="-120"/>
              </a:rPr>
              <a:t>Public Hash Verifier Tool:</a:t>
            </a:r>
            <a:endParaRPr lang="en-US" sz="1100" dirty="0"/>
          </a:p>
          <a:p>
            <a:r>
              <a:rPr lang="en-US" sz="1100" dirty="0">
                <a:solidFill>
                  <a:srgbClr val="334155"/>
                </a:solidFill>
                <a:latin typeface="Calibri" pitchFamily="34" charset="0"/>
                <a:ea typeface="Calibri" pitchFamily="34" charset="-122"/>
                <a:cs typeface="Calibri" pitchFamily="34" charset="-120"/>
              </a:rPr>
              <a:t>  • Independent web tool verifies document hash against ledger to confirm authenticity.</a:t>
            </a:r>
            <a:endParaRPr lang="en-US" sz="1100" dirty="0"/>
          </a:p>
          <a:p>
            <a:r>
              <a:rPr lang="en-US" sz="1100" dirty="0">
                <a:solidFill>
                  <a:srgbClr val="334155"/>
                </a:solidFill>
                <a:latin typeface="Calibri" pitchFamily="34" charset="0"/>
                <a:ea typeface="Calibri" pitchFamily="34" charset="-122"/>
                <a:cs typeface="Calibri" pitchFamily="34" charset="-120"/>
              </a:rPr>
              <a:t>Self-Healing Infrastructure:</a:t>
            </a:r>
            <a:endParaRPr lang="en-US" sz="1100" dirty="0"/>
          </a:p>
          <a:p>
            <a:r>
              <a:rPr lang="en-US" sz="1100" dirty="0">
                <a:solidFill>
                  <a:srgbClr val="334155"/>
                </a:solidFill>
                <a:latin typeface="Calibri" pitchFamily="34" charset="0"/>
                <a:ea typeface="Calibri" pitchFamily="34" charset="-122"/>
                <a:cs typeface="Calibri" pitchFamily="34" charset="-120"/>
              </a:rPr>
              <a:t>  • PM2 auto-clustering + background state reconciliation scavenger workers.</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274320"/>
            <a:ext cx="77724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14. System Advantages &amp; Business Value</a:t>
            </a:r>
            <a:endParaRPr lang="en-US" sz="1800" dirty="0"/>
          </a:p>
        </p:txBody>
      </p:sp>
      <p:sp>
        <p:nvSpPr>
          <p:cNvPr id="3" name="Shape 1"/>
          <p:cNvSpPr/>
          <p:nvPr/>
        </p:nvSpPr>
        <p:spPr>
          <a:xfrm>
            <a:off x="365760" y="777240"/>
            <a:ext cx="841248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229600" y="137160"/>
            <a:ext cx="594360" cy="594360"/>
          </a:xfrm>
          <a:prstGeom prst="rect">
            <a:avLst/>
          </a:prstGeom>
        </p:spPr>
      </p:pic>
      <p:sp>
        <p:nvSpPr>
          <p:cNvPr id="5" name="Text 2"/>
          <p:cNvSpPr/>
          <p:nvPr/>
        </p:nvSpPr>
        <p:spPr>
          <a:xfrm>
            <a:off x="36576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804672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23</a:t>
            </a:r>
            <a:endParaRPr lang="en-US" sz="850" dirty="0"/>
          </a:p>
        </p:txBody>
      </p:sp>
      <p:sp>
        <p:nvSpPr>
          <p:cNvPr id="7" name="Text 4"/>
          <p:cNvSpPr/>
          <p:nvPr/>
        </p:nvSpPr>
        <p:spPr>
          <a:xfrm>
            <a:off x="365760" y="1005840"/>
            <a:ext cx="8412480" cy="3566160"/>
          </a:xfrm>
          <a:prstGeom prst="rect">
            <a:avLst/>
          </a:prstGeom>
          <a:noFill/>
          <a:ln/>
        </p:spPr>
        <p:txBody>
          <a:bodyPr wrap="square" lIns="63500" tIns="63500" rIns="63500" bIns="63500" rtlCol="0" anchor="t"/>
          <a:lstStyle/>
          <a:p>
            <a:r>
              <a:rPr lang="en-US" sz="1100" b="1" dirty="0">
                <a:solidFill>
                  <a:srgbClr val="1E3A8A"/>
                </a:solidFill>
                <a:latin typeface="Calibri" pitchFamily="34" charset="0"/>
                <a:ea typeface="Calibri" pitchFamily="34" charset="-122"/>
                <a:cs typeface="Calibri" pitchFamily="34" charset="-120"/>
              </a:rPr>
              <a:t>1. Cryptographic Security &amp; Anti-Forgery:</a:t>
            </a:r>
            <a:endParaRPr lang="en-US" sz="1100" dirty="0"/>
          </a:p>
          <a:p>
            <a:r>
              <a:rPr lang="en-US" sz="1100" dirty="0">
                <a:solidFill>
                  <a:srgbClr val="334155"/>
                </a:solidFill>
                <a:latin typeface="Calibri" pitchFamily="34" charset="0"/>
                <a:ea typeface="Calibri" pitchFamily="34" charset="-122"/>
                <a:cs typeface="Calibri" pitchFamily="34" charset="-120"/>
              </a:rPr>
              <a:t>   Documents are sealed using SHA-256 and ECDSA. The system detects any document modification instantly.</a:t>
            </a:r>
            <a:endParaRPr lang="en-US" sz="1100" dirty="0"/>
          </a:p>
          <a:p>
            <a:r>
              <a:rPr lang="en-US" sz="1100" b="1" dirty="0">
                <a:solidFill>
                  <a:srgbClr val="1E3A8A"/>
                </a:solidFill>
                <a:latin typeface="Calibri" pitchFamily="34" charset="0"/>
                <a:ea typeface="Calibri" pitchFamily="34" charset="-122"/>
                <a:cs typeface="Calibri" pitchFamily="34" charset="-120"/>
              </a:rPr>
              <a:t>2. Cost Efficiency for End-Users:</a:t>
            </a:r>
            <a:endParaRPr lang="en-US" sz="1100" dirty="0"/>
          </a:p>
          <a:p>
            <a:r>
              <a:rPr lang="en-US" sz="1100" dirty="0">
                <a:solidFill>
                  <a:srgbClr val="334155"/>
                </a:solidFill>
                <a:latin typeface="Calibri" pitchFamily="34" charset="0"/>
                <a:ea typeface="Calibri" pitchFamily="34" charset="-122"/>
                <a:cs typeface="Calibri" pitchFamily="34" charset="-120"/>
              </a:rPr>
              <a:t>   Gasless transactions relay ensures users do not need to buy BNB or pay high network gas fees to notarize files.</a:t>
            </a:r>
            <a:endParaRPr lang="en-US" sz="1100" dirty="0"/>
          </a:p>
          <a:p>
            <a:r>
              <a:rPr lang="en-US" sz="1100" b="1" dirty="0">
                <a:solidFill>
                  <a:srgbClr val="1E3A8A"/>
                </a:solidFill>
                <a:latin typeface="Calibri" pitchFamily="34" charset="0"/>
                <a:ea typeface="Calibri" pitchFamily="34" charset="-122"/>
                <a:cs typeface="Calibri" pitchFamily="34" charset="-120"/>
              </a:rPr>
              <a:t>3. Robust Identity Auditing:</a:t>
            </a:r>
            <a:endParaRPr lang="en-US" sz="1100" dirty="0"/>
          </a:p>
          <a:p>
            <a:r>
              <a:rPr lang="en-US" sz="1100" dirty="0">
                <a:solidFill>
                  <a:srgbClr val="334155"/>
                </a:solidFill>
                <a:latin typeface="Calibri" pitchFamily="34" charset="0"/>
                <a:ea typeface="Calibri" pitchFamily="34" charset="-122"/>
                <a:cs typeface="Calibri" pitchFamily="34" charset="-120"/>
              </a:rPr>
              <a:t>   Combining email, national IDs, MetaMask wallet addresses, and biometrics forms a solid 3-factor authentication.</a:t>
            </a:r>
            <a:endParaRPr lang="en-US" sz="1100" dirty="0"/>
          </a:p>
          <a:p>
            <a:r>
              <a:rPr lang="en-US" sz="1100" b="1" dirty="0">
                <a:solidFill>
                  <a:srgbClr val="1E3A8A"/>
                </a:solidFill>
                <a:latin typeface="Calibri" pitchFamily="34" charset="0"/>
                <a:ea typeface="Calibri" pitchFamily="34" charset="-122"/>
                <a:cs typeface="Calibri" pitchFamily="34" charset="-120"/>
              </a:rPr>
              <a:t>4. Fast and Accessible Public Auditing:</a:t>
            </a:r>
            <a:endParaRPr lang="en-US" sz="1100" dirty="0"/>
          </a:p>
          <a:p>
            <a:r>
              <a:rPr lang="en-US" sz="1100" dirty="0">
                <a:solidFill>
                  <a:srgbClr val="334155"/>
                </a:solidFill>
                <a:latin typeface="Calibri" pitchFamily="34" charset="0"/>
                <a:ea typeface="Calibri" pitchFamily="34" charset="-122"/>
                <a:cs typeface="Calibri" pitchFamily="34" charset="-120"/>
              </a:rPr>
              <a:t>   Eliminates manual verification delays. Anyone can upload a PDF and instantly verify its status on the public explorer.</a:t>
            </a:r>
            <a:endParaRPr lang="en-US" sz="1100" dirty="0"/>
          </a:p>
          <a:p>
            <a:r>
              <a:rPr lang="en-US" sz="1100" b="1" dirty="0">
                <a:solidFill>
                  <a:srgbClr val="1E3A8A"/>
                </a:solidFill>
                <a:latin typeface="Calibri" pitchFamily="34" charset="0"/>
                <a:ea typeface="Calibri" pitchFamily="34" charset="-122"/>
                <a:cs typeface="Calibri" pitchFamily="34" charset="-120"/>
              </a:rPr>
              <a:t>5. High Availability &amp; Fault Tolerance:</a:t>
            </a:r>
            <a:endParaRPr lang="en-US" sz="1100" dirty="0"/>
          </a:p>
          <a:p>
            <a:r>
              <a:rPr lang="en-US" sz="1100" dirty="0">
                <a:solidFill>
                  <a:srgbClr val="334155"/>
                </a:solidFill>
                <a:latin typeface="Calibri" pitchFamily="34" charset="0"/>
                <a:ea typeface="Calibri" pitchFamily="34" charset="-122"/>
                <a:cs typeface="Calibri" pitchFamily="34" charset="-120"/>
              </a:rPr>
              <a:t>   Cloud-native Express backend is managed by PM2 cluster. Self-healing workers ensure database consistency.</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274320"/>
            <a:ext cx="77724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14. Core Technology: BNB Smart Chain (BSC)</a:t>
            </a:r>
            <a:endParaRPr lang="en-US" sz="1800" dirty="0"/>
          </a:p>
        </p:txBody>
      </p:sp>
      <p:sp>
        <p:nvSpPr>
          <p:cNvPr id="3" name="Shape 1"/>
          <p:cNvSpPr/>
          <p:nvPr/>
        </p:nvSpPr>
        <p:spPr>
          <a:xfrm>
            <a:off x="365760" y="777240"/>
            <a:ext cx="841248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229600" y="137160"/>
            <a:ext cx="594360" cy="594360"/>
          </a:xfrm>
          <a:prstGeom prst="rect">
            <a:avLst/>
          </a:prstGeom>
        </p:spPr>
      </p:pic>
      <p:sp>
        <p:nvSpPr>
          <p:cNvPr id="5" name="Text 2"/>
          <p:cNvSpPr/>
          <p:nvPr/>
        </p:nvSpPr>
        <p:spPr>
          <a:xfrm>
            <a:off x="36576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804672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24</a:t>
            </a:r>
            <a:endParaRPr lang="en-US" sz="850" dirty="0"/>
          </a:p>
        </p:txBody>
      </p:sp>
      <p:sp>
        <p:nvSpPr>
          <p:cNvPr id="7" name="Text 4"/>
          <p:cNvSpPr/>
          <p:nvPr/>
        </p:nvSpPr>
        <p:spPr>
          <a:xfrm>
            <a:off x="365760" y="1005840"/>
            <a:ext cx="8412480" cy="3566160"/>
          </a:xfrm>
          <a:prstGeom prst="rect">
            <a:avLst/>
          </a:prstGeom>
          <a:noFill/>
          <a:ln/>
        </p:spPr>
        <p:txBody>
          <a:bodyPr wrap="square" lIns="63500" tIns="63500" rIns="63500" bIns="63500" rtlCol="0" anchor="t"/>
          <a:lstStyle/>
          <a:p>
            <a:r>
              <a:rPr lang="en-US" sz="1250" b="1" dirty="0">
                <a:solidFill>
                  <a:srgbClr val="1E3A8A"/>
                </a:solidFill>
                <a:latin typeface="Calibri" pitchFamily="34" charset="0"/>
                <a:ea typeface="Calibri" pitchFamily="34" charset="-122"/>
                <a:cs typeface="Calibri" pitchFamily="34" charset="-120"/>
              </a:rPr>
              <a:t>Why BNB Smart Chain (BSC) was selected as the ledger of truth:</a:t>
            </a:r>
            <a:endParaRPr lang="en-US" sz="1250" dirty="0"/>
          </a:p>
          <a:p>
            <a:r>
              <a:rPr lang="en-US" sz="1100" dirty="0">
                <a:solidFill>
                  <a:srgbClr val="334155"/>
                </a:solidFill>
                <a:latin typeface="Calibri" pitchFamily="34" charset="0"/>
                <a:ea typeface="Calibri" pitchFamily="34" charset="-122"/>
                <a:cs typeface="Calibri" pitchFamily="34" charset="-120"/>
              </a:rPr>
              <a:t>  • EVM Compatibility: Facilitates development of robust smart contracts in Solidity and testing using Hardhat tool suite.</a:t>
            </a:r>
            <a:endParaRPr lang="en-US" sz="1250" dirty="0"/>
          </a:p>
          <a:p>
            <a:r>
              <a:rPr lang="en-US" sz="1100" dirty="0">
                <a:solidFill>
                  <a:srgbClr val="334155"/>
                </a:solidFill>
                <a:latin typeface="Calibri" pitchFamily="34" charset="0"/>
                <a:ea typeface="Calibri" pitchFamily="34" charset="-122"/>
                <a:cs typeface="Calibri" pitchFamily="34" charset="-120"/>
              </a:rPr>
              <a:t>  • Sub-Second Blocks &amp; High Throughput: Deployed transactions achieve block confirmation finality in under 3 seconds.</a:t>
            </a:r>
            <a:endParaRPr lang="en-US" sz="1250" dirty="0"/>
          </a:p>
          <a:p>
            <a:r>
              <a:rPr lang="en-US" sz="1100" dirty="0">
                <a:solidFill>
                  <a:srgbClr val="334155"/>
                </a:solidFill>
                <a:latin typeface="Calibri" pitchFamily="34" charset="0"/>
                <a:ea typeface="Calibri" pitchFamily="34" charset="-122"/>
                <a:cs typeface="Calibri" pitchFamily="34" charset="-120"/>
              </a:rPr>
              <a:t>  • Extremely Low Network Fees: Gas costs on BSC are fractions of a cent, making the NTKR token burn relay highly cost-effective.</a:t>
            </a:r>
            <a:endParaRPr lang="en-US" sz="1250" dirty="0"/>
          </a:p>
          <a:p>
            <a:r>
              <a:rPr lang="en-US" sz="1100" dirty="0">
                <a:solidFill>
                  <a:srgbClr val="334155"/>
                </a:solidFill>
                <a:latin typeface="Calibri" pitchFamily="34" charset="0"/>
                <a:ea typeface="Calibri" pitchFamily="34" charset="-122"/>
                <a:cs typeface="Calibri" pitchFamily="34" charset="-120"/>
              </a:rPr>
              <a:t>  • Immutable State Storage: Event logs and notary registers are permanently written to BSC block space, providing public audit trails.</a:t>
            </a:r>
            <a:endParaRPr lang="en-US" sz="1250" dirty="0"/>
          </a:p>
          <a:p>
            <a:r>
              <a:rPr lang="en-US" sz="1100" b="1" dirty="0">
                <a:solidFill>
                  <a:srgbClr val="3B82F6"/>
                </a:solidFill>
                <a:latin typeface="Calibri" pitchFamily="34" charset="0"/>
                <a:ea typeface="Calibri" pitchFamily="34" charset="-122"/>
                <a:cs typeface="Calibri" pitchFamily="34" charset="-120"/>
              </a:rPr>
              <a:t>  • Secure Smart Contracts Deployed:</a:t>
            </a:r>
            <a:endParaRPr lang="en-US" sz="1250" dirty="0"/>
          </a:p>
          <a:p>
            <a:r>
              <a:rPr lang="en-US" sz="1100" dirty="0">
                <a:solidFill>
                  <a:srgbClr val="334155"/>
                </a:solidFill>
                <a:latin typeface="Calibri" pitchFamily="34" charset="0"/>
                <a:ea typeface="Calibri" pitchFamily="34" charset="-122"/>
                <a:cs typeface="Calibri" pitchFamily="34" charset="-120"/>
              </a:rPr>
              <a:t>    1. NotaryRegistry.sol: Stores notary licensing state, wallet binding records, and multi-sig votes.</a:t>
            </a:r>
            <a:endParaRPr lang="en-US" sz="1250" dirty="0"/>
          </a:p>
          <a:p>
            <a:r>
              <a:rPr lang="en-US" sz="1100" dirty="0">
                <a:solidFill>
                  <a:srgbClr val="334155"/>
                </a:solidFill>
                <a:latin typeface="Calibri" pitchFamily="34" charset="0"/>
                <a:ea typeface="Calibri" pitchFamily="34" charset="-122"/>
                <a:cs typeface="Calibri" pitchFamily="34" charset="-120"/>
              </a:rPr>
              <a:t>    2. DocumentNotary.sol: Binds document SHA-256 hashes to approval timestamps and signing notary addresses.</a:t>
            </a:r>
            <a:endParaRPr lang="en-US" sz="1250" dirty="0"/>
          </a:p>
          <a:p>
            <a:r>
              <a:rPr lang="en-US" sz="1100" dirty="0">
                <a:solidFill>
                  <a:srgbClr val="334155"/>
                </a:solidFill>
                <a:latin typeface="Calibri" pitchFamily="34" charset="0"/>
                <a:ea typeface="Calibri" pitchFamily="34" charset="-122"/>
                <a:cs typeface="Calibri" pitchFamily="34" charset="-120"/>
              </a:rPr>
              <a:t>    3. NTKRToken.sol: Standard ERC-20 utility token enabling gasless burn-to-pay notarization fee structure.</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274320"/>
            <a:ext cx="77724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15. Future Scope &amp; Enhancements</a:t>
            </a:r>
            <a:endParaRPr lang="en-US" sz="1800" dirty="0"/>
          </a:p>
        </p:txBody>
      </p:sp>
      <p:sp>
        <p:nvSpPr>
          <p:cNvPr id="3" name="Shape 1"/>
          <p:cNvSpPr/>
          <p:nvPr/>
        </p:nvSpPr>
        <p:spPr>
          <a:xfrm>
            <a:off x="365760" y="777240"/>
            <a:ext cx="841248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229600" y="137160"/>
            <a:ext cx="594360" cy="594360"/>
          </a:xfrm>
          <a:prstGeom prst="rect">
            <a:avLst/>
          </a:prstGeom>
        </p:spPr>
      </p:pic>
      <p:sp>
        <p:nvSpPr>
          <p:cNvPr id="5" name="Text 2"/>
          <p:cNvSpPr/>
          <p:nvPr/>
        </p:nvSpPr>
        <p:spPr>
          <a:xfrm>
            <a:off x="36576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804672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25</a:t>
            </a:r>
            <a:endParaRPr lang="en-US" sz="850" dirty="0"/>
          </a:p>
        </p:txBody>
      </p:sp>
      <p:sp>
        <p:nvSpPr>
          <p:cNvPr id="7" name="Text 4"/>
          <p:cNvSpPr/>
          <p:nvPr/>
        </p:nvSpPr>
        <p:spPr>
          <a:xfrm>
            <a:off x="365760" y="1005840"/>
            <a:ext cx="8412480" cy="3566160"/>
          </a:xfrm>
          <a:prstGeom prst="rect">
            <a:avLst/>
          </a:prstGeom>
          <a:noFill/>
          <a:ln/>
        </p:spPr>
        <p:txBody>
          <a:bodyPr wrap="square" lIns="63500" tIns="63500" rIns="63500" bIns="63500" rtlCol="0" anchor="t"/>
          <a:lstStyle/>
          <a:p>
            <a:r>
              <a:rPr lang="en-US" sz="1300" b="1" dirty="0">
                <a:solidFill>
                  <a:srgbClr val="1E3A8A"/>
                </a:solidFill>
                <a:latin typeface="Calibri" pitchFamily="34" charset="0"/>
                <a:ea typeface="Calibri" pitchFamily="34" charset="-122"/>
                <a:cs typeface="Calibri" pitchFamily="34" charset="-120"/>
              </a:rPr>
              <a:t>Proposed future directions and extensions for the BBSNS system:</a:t>
            </a:r>
            <a:endParaRPr lang="en-US" sz="1300" dirty="0"/>
          </a:p>
          <a:p>
            <a:r>
              <a:rPr lang="en-US" sz="1100" b="1" dirty="0">
                <a:solidFill>
                  <a:srgbClr val="334155"/>
                </a:solidFill>
                <a:latin typeface="Calibri" pitchFamily="34" charset="0"/>
                <a:ea typeface="Calibri" pitchFamily="34" charset="-122"/>
                <a:cs typeface="Calibri" pitchFamily="34" charset="-120"/>
              </a:rPr>
              <a:t>  • Cross-Chain Notarization Protocol:</a:t>
            </a:r>
            <a:endParaRPr lang="en-US" sz="1300" dirty="0"/>
          </a:p>
          <a:p>
            <a:r>
              <a:rPr lang="en-US" sz="1100" dirty="0">
                <a:solidFill>
                  <a:srgbClr val="334155"/>
                </a:solidFill>
                <a:latin typeface="Calibri" pitchFamily="34" charset="0"/>
                <a:ea typeface="Calibri" pitchFamily="34" charset="-122"/>
                <a:cs typeface="Calibri" pitchFamily="34" charset="-120"/>
              </a:rPr>
              <a:t>    Expand ledger support to other EVM networks (Polygon, Arbitrum) and Layer-2 blockchains to support cross-chain validation.</a:t>
            </a:r>
            <a:endParaRPr lang="en-US" sz="1300" dirty="0"/>
          </a:p>
          <a:p>
            <a:r>
              <a:rPr lang="en-US" sz="1100" b="1" dirty="0">
                <a:solidFill>
                  <a:srgbClr val="334155"/>
                </a:solidFill>
                <a:latin typeface="Calibri" pitchFamily="34" charset="0"/>
                <a:ea typeface="Calibri" pitchFamily="34" charset="-122"/>
                <a:cs typeface="Calibri" pitchFamily="34" charset="-120"/>
              </a:rPr>
              <a:t>  • AI-Driven Document Content Auditing:</a:t>
            </a:r>
            <a:endParaRPr lang="en-US" sz="1300" dirty="0"/>
          </a:p>
          <a:p>
            <a:r>
              <a:rPr lang="en-US" sz="1100" dirty="0">
                <a:solidFill>
                  <a:srgbClr val="334155"/>
                </a:solidFill>
                <a:latin typeface="Calibri" pitchFamily="34" charset="0"/>
                <a:ea typeface="Calibri" pitchFamily="34" charset="-122"/>
                <a:cs typeface="Calibri" pitchFamily="34" charset="-120"/>
              </a:rPr>
              <a:t>    Integrate OCR models to scan and flag suspicious or illegal content in uploaded files before they are notarized.</a:t>
            </a:r>
            <a:endParaRPr lang="en-US" sz="1300" dirty="0"/>
          </a:p>
          <a:p>
            <a:r>
              <a:rPr lang="en-US" sz="1100" b="1" dirty="0">
                <a:solidFill>
                  <a:srgbClr val="334155"/>
                </a:solidFill>
                <a:latin typeface="Calibri" pitchFamily="34" charset="0"/>
                <a:ea typeface="Calibri" pitchFamily="34" charset="-122"/>
                <a:cs typeface="Calibri" pitchFamily="34" charset="-120"/>
              </a:rPr>
              <a:t>  • Native Mobile Applications with Biometrics:</a:t>
            </a:r>
            <a:endParaRPr lang="en-US" sz="1300" dirty="0"/>
          </a:p>
          <a:p>
            <a:r>
              <a:rPr lang="en-US" sz="1100" dirty="0">
                <a:solidFill>
                  <a:srgbClr val="334155"/>
                </a:solidFill>
                <a:latin typeface="Calibri" pitchFamily="34" charset="0"/>
                <a:ea typeface="Calibri" pitchFamily="34" charset="-122"/>
                <a:cs typeface="Calibri" pitchFamily="34" charset="-120"/>
              </a:rPr>
              <a:t>    Build mobile versions using React Native, utilizing mobile hardware biometrics (FaceID, Android Biometrics) for login.</a:t>
            </a:r>
            <a:endParaRPr lang="en-US" sz="1300" dirty="0"/>
          </a:p>
          <a:p>
            <a:r>
              <a:rPr lang="en-US" sz="1100" b="1" dirty="0">
                <a:solidFill>
                  <a:srgbClr val="334155"/>
                </a:solidFill>
                <a:latin typeface="Calibri" pitchFamily="34" charset="0"/>
                <a:ea typeface="Calibri" pitchFamily="34" charset="-122"/>
                <a:cs typeface="Calibri" pitchFamily="34" charset="-120"/>
              </a:rPr>
              <a:t>  • Government Identity Database Integration:</a:t>
            </a:r>
            <a:endParaRPr lang="en-US" sz="1300" dirty="0"/>
          </a:p>
          <a:p>
            <a:r>
              <a:rPr lang="en-US" sz="1100" dirty="0">
                <a:solidFill>
                  <a:srgbClr val="334155"/>
                </a:solidFill>
                <a:latin typeface="Calibri" pitchFamily="34" charset="0"/>
                <a:ea typeface="Calibri" pitchFamily="34" charset="-122"/>
                <a:cs typeface="Calibri" pitchFamily="34" charset="-120"/>
              </a:rPr>
              <a:t>    Link the national ID registration field with official government databases via API keys to automate notary candidate vetting.</a:t>
            </a:r>
            <a:endParaRPr lang="en-US" sz="1300" dirty="0"/>
          </a:p>
          <a:p>
            <a:r>
              <a:rPr lang="en-US" sz="1100" b="1" dirty="0">
                <a:solidFill>
                  <a:srgbClr val="334155"/>
                </a:solidFill>
                <a:latin typeface="Calibri" pitchFamily="34" charset="0"/>
                <a:ea typeface="Calibri" pitchFamily="34" charset="-122"/>
                <a:cs typeface="Calibri" pitchFamily="34" charset="-120"/>
              </a:rPr>
              <a:t>  • Dynamic Gas Price Oracle:</a:t>
            </a:r>
            <a:endParaRPr lang="en-US" sz="1300" dirty="0"/>
          </a:p>
          <a:p>
            <a:r>
              <a:rPr lang="en-US" sz="1100" dirty="0">
                <a:solidFill>
                  <a:srgbClr val="334155"/>
                </a:solidFill>
                <a:latin typeface="Calibri" pitchFamily="34" charset="0"/>
                <a:ea typeface="Calibri" pitchFamily="34" charset="-122"/>
                <a:cs typeface="Calibri" pitchFamily="34" charset="-120"/>
              </a:rPr>
              <a:t>    Implement an oracle to dynamically scale NTKR token burning costs based on real-time BSC network gas fee fluctuations.</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3A8A"/>
        </a:solidFill>
      </p:bgPr>
    </p:bg>
    <p:spTree>
      <p:nvGrpSpPr>
        <p:cNvPr id="1" name=""/>
        <p:cNvGrpSpPr/>
        <p:nvPr/>
      </p:nvGrpSpPr>
      <p:grpSpPr>
        <a:xfrm>
          <a:off x="0" y="0"/>
          <a:ext cx="0" cy="0"/>
          <a:chOff x="0" y="0"/>
          <a:chExt cx="0" cy="0"/>
        </a:xfrm>
      </p:grpSpPr>
      <p:sp>
        <p:nvSpPr>
          <p:cNvPr id="2" name="Text 0"/>
          <p:cNvSpPr/>
          <p:nvPr/>
        </p:nvSpPr>
        <p:spPr>
          <a:xfrm>
            <a:off x="365760" y="1371600"/>
            <a:ext cx="8412480" cy="365760"/>
          </a:xfrm>
          <a:prstGeom prst="rect">
            <a:avLst/>
          </a:prstGeom>
          <a:noFill/>
          <a:ln/>
        </p:spPr>
        <p:txBody>
          <a:bodyPr wrap="square" rtlCol="0" anchor="ctr"/>
          <a:lstStyle/>
          <a:p>
            <a:pPr algn="ctr" indent="0" marL="0">
              <a:buNone/>
            </a:pPr>
            <a:r>
              <a:rPr lang="en-US" sz="1600" b="1" dirty="0">
                <a:solidFill>
                  <a:srgbClr val="93C5FD"/>
                </a:solidFill>
                <a:latin typeface="Calibri" pitchFamily="34" charset="0"/>
                <a:ea typeface="Calibri" pitchFamily="34" charset="-122"/>
                <a:cs typeface="Calibri" pitchFamily="34" charset="-120"/>
              </a:rPr>
              <a:t>SECTION 02</a:t>
            </a:r>
            <a:endParaRPr lang="en-US" sz="1600" dirty="0"/>
          </a:p>
        </p:txBody>
      </p:sp>
      <p:sp>
        <p:nvSpPr>
          <p:cNvPr id="3" name="Text 1"/>
          <p:cNvSpPr/>
          <p:nvPr/>
        </p:nvSpPr>
        <p:spPr>
          <a:xfrm>
            <a:off x="365760" y="1828800"/>
            <a:ext cx="8412480" cy="73152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Working Outputs &amp; Live Demonstrations</a:t>
            </a:r>
            <a:endParaRPr lang="en-US" sz="3200" dirty="0"/>
          </a:p>
        </p:txBody>
      </p:sp>
      <p:sp>
        <p:nvSpPr>
          <p:cNvPr id="4" name="Text 2"/>
          <p:cNvSpPr/>
          <p:nvPr/>
        </p:nvSpPr>
        <p:spPr>
          <a:xfrm>
            <a:off x="365760" y="2651760"/>
            <a:ext cx="8412480" cy="457200"/>
          </a:xfrm>
          <a:prstGeom prst="rect">
            <a:avLst/>
          </a:prstGeom>
          <a:noFill/>
          <a:ln/>
        </p:spPr>
        <p:txBody>
          <a:bodyPr wrap="square" rtlCol="0" anchor="ctr"/>
          <a:lstStyle/>
          <a:p>
            <a:pPr algn="ctr" indent="0" marL="0">
              <a:buNone/>
            </a:pPr>
            <a:r>
              <a:rPr lang="en-US" sz="1300" i="1" dirty="0">
                <a:solidFill>
                  <a:srgbClr val="CBD5E1"/>
                </a:solidFill>
                <a:latin typeface="Calibri" pitchFamily="34" charset="0"/>
                <a:ea typeface="Calibri" pitchFamily="34" charset="-122"/>
                <a:cs typeface="Calibri" pitchFamily="34" charset="-120"/>
              </a:rPr>
              <a:t>Slide-by-slide screenshots of Owner, Notary, Admin interfaces, and on-chain proofs</a:t>
            </a:r>
            <a:endParaRPr lang="en-US" sz="1300" dirty="0"/>
          </a:p>
        </p:txBody>
      </p:sp>
      <p:sp>
        <p:nvSpPr>
          <p:cNvPr id="5" name="Shape 3"/>
          <p:cNvSpPr/>
          <p:nvPr/>
        </p:nvSpPr>
        <p:spPr>
          <a:xfrm>
            <a:off x="3200400" y="3291840"/>
            <a:ext cx="2743200" cy="0"/>
          </a:xfrm>
          <a:prstGeom prst="line">
            <a:avLst/>
          </a:prstGeom>
          <a:noFill/>
          <a:ln w="12700">
            <a:solidFill>
              <a:srgbClr val="F59E0B"/>
            </a:solidFill>
            <a:prstDash val="solid"/>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274320"/>
            <a:ext cx="77724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11. Working Output: Document Owner Dashboard</a:t>
            </a:r>
            <a:endParaRPr lang="en-US" sz="1800" dirty="0"/>
          </a:p>
        </p:txBody>
      </p:sp>
      <p:sp>
        <p:nvSpPr>
          <p:cNvPr id="3" name="Shape 1"/>
          <p:cNvSpPr/>
          <p:nvPr/>
        </p:nvSpPr>
        <p:spPr>
          <a:xfrm>
            <a:off x="365760" y="777240"/>
            <a:ext cx="841248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229600" y="137160"/>
            <a:ext cx="594360" cy="594360"/>
          </a:xfrm>
          <a:prstGeom prst="rect">
            <a:avLst/>
          </a:prstGeom>
        </p:spPr>
      </p:pic>
      <p:sp>
        <p:nvSpPr>
          <p:cNvPr id="5" name="Text 2"/>
          <p:cNvSpPr/>
          <p:nvPr/>
        </p:nvSpPr>
        <p:spPr>
          <a:xfrm>
            <a:off x="36576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804672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27</a:t>
            </a:r>
            <a:endParaRPr lang="en-US" sz="850" dirty="0"/>
          </a:p>
        </p:txBody>
      </p:sp>
      <p:sp>
        <p:nvSpPr>
          <p:cNvPr id="7" name="Shape 4"/>
          <p:cNvSpPr/>
          <p:nvPr/>
        </p:nvSpPr>
        <p:spPr>
          <a:xfrm>
            <a:off x="731520" y="960120"/>
            <a:ext cx="7680960" cy="3108960"/>
          </a:xfrm>
          <a:prstGeom prst="rect">
            <a:avLst/>
          </a:prstGeom>
          <a:solidFill>
            <a:srgbClr val="FFFFFF"/>
          </a:solidFill>
          <a:ln w="12700">
            <a:solidFill>
              <a:srgbClr val="CBD5E1"/>
            </a:solidFill>
            <a:prstDash val="solid"/>
          </a:ln>
        </p:spPr>
      </p:sp>
      <p:pic>
        <p:nvPicPr>
          <p:cNvPr id="8" name="Image 1" descr="C:\Users\Lenovo\OneDrive\Desktop\Final_pro\BBSNS\For PPT Images\Working Proofs\Owner Dashboard.png">    </p:cNvPr>
          <p:cNvPicPr>
            <a:picLocks noChangeAspect="1"/>
          </p:cNvPicPr>
          <p:nvPr/>
        </p:nvPicPr>
        <p:blipFill>
          <a:blip r:embed="rId2"/>
          <a:stretch>
            <a:fillRect/>
          </a:stretch>
        </p:blipFill>
        <p:spPr>
          <a:xfrm>
            <a:off x="749808" y="978408"/>
            <a:ext cx="7644384" cy="3072384"/>
          </a:xfrm>
          <a:prstGeom prst="rect">
            <a:avLst/>
          </a:prstGeom>
        </p:spPr>
      </p:pic>
      <p:sp>
        <p:nvSpPr>
          <p:cNvPr id="9" name="Shape 5"/>
          <p:cNvSpPr/>
          <p:nvPr/>
        </p:nvSpPr>
        <p:spPr>
          <a:xfrm>
            <a:off x="731520" y="4160520"/>
            <a:ext cx="7680960" cy="548640"/>
          </a:xfrm>
          <a:prstGeom prst="rect">
            <a:avLst/>
          </a:prstGeom>
          <a:solidFill>
            <a:srgbClr val="EFF6FF"/>
          </a:solidFill>
          <a:ln w="12700">
            <a:solidFill>
              <a:srgbClr val="3B82F6"/>
            </a:solidFill>
            <a:prstDash val="solid"/>
          </a:ln>
        </p:spPr>
      </p:sp>
      <p:sp>
        <p:nvSpPr>
          <p:cNvPr id="10" name="Text 6"/>
          <p:cNvSpPr/>
          <p:nvPr/>
        </p:nvSpPr>
        <p:spPr>
          <a:xfrm>
            <a:off x="868680" y="4160520"/>
            <a:ext cx="7406640" cy="548640"/>
          </a:xfrm>
          <a:prstGeom prst="rect">
            <a:avLst/>
          </a:prstGeom>
          <a:noFill/>
          <a:ln/>
        </p:spPr>
        <p:txBody>
          <a:bodyPr wrap="square" rtlCol="0" anchor="ctr"/>
          <a:lstStyle/>
          <a:p>
            <a:pPr indent="0" marL="0">
              <a:buNone/>
            </a:pPr>
            <a:r>
              <a:rPr lang="en-US" sz="1050" dirty="0">
                <a:solidFill>
                  <a:srgbClr val="0F172A"/>
                </a:solidFill>
                <a:latin typeface="Calibri" pitchFamily="34" charset="0"/>
                <a:ea typeface="Calibri" pitchFamily="34" charset="-122"/>
                <a:cs typeface="Calibri" pitchFamily="34" charset="-120"/>
              </a:rPr>
              <a:t>🔍  The central web portal for registered users to manage active document notarizations, verify account state, check NTKR balances, and upload files.</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274320"/>
            <a:ext cx="77724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11. Working Output: Biometric Enrollment Portal</a:t>
            </a:r>
            <a:endParaRPr lang="en-US" sz="1800" dirty="0"/>
          </a:p>
        </p:txBody>
      </p:sp>
      <p:sp>
        <p:nvSpPr>
          <p:cNvPr id="3" name="Shape 1"/>
          <p:cNvSpPr/>
          <p:nvPr/>
        </p:nvSpPr>
        <p:spPr>
          <a:xfrm>
            <a:off x="365760" y="777240"/>
            <a:ext cx="841248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229600" y="137160"/>
            <a:ext cx="594360" cy="594360"/>
          </a:xfrm>
          <a:prstGeom prst="rect">
            <a:avLst/>
          </a:prstGeom>
        </p:spPr>
      </p:pic>
      <p:sp>
        <p:nvSpPr>
          <p:cNvPr id="5" name="Text 2"/>
          <p:cNvSpPr/>
          <p:nvPr/>
        </p:nvSpPr>
        <p:spPr>
          <a:xfrm>
            <a:off x="36576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804672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28</a:t>
            </a:r>
            <a:endParaRPr lang="en-US" sz="850" dirty="0"/>
          </a:p>
        </p:txBody>
      </p:sp>
      <p:sp>
        <p:nvSpPr>
          <p:cNvPr id="7" name="Shape 4"/>
          <p:cNvSpPr/>
          <p:nvPr/>
        </p:nvSpPr>
        <p:spPr>
          <a:xfrm>
            <a:off x="731520" y="960120"/>
            <a:ext cx="7680960" cy="3108960"/>
          </a:xfrm>
          <a:prstGeom prst="rect">
            <a:avLst/>
          </a:prstGeom>
          <a:solidFill>
            <a:srgbClr val="FFFFFF"/>
          </a:solidFill>
          <a:ln w="12700">
            <a:solidFill>
              <a:srgbClr val="CBD5E1"/>
            </a:solidFill>
            <a:prstDash val="solid"/>
          </a:ln>
        </p:spPr>
      </p:sp>
      <p:pic>
        <p:nvPicPr>
          <p:cNvPr id="8" name="Image 1" descr="C:\Users\Lenovo\OneDrive\Desktop\Final_pro\BBSNS\For PPT Images\Working Proofs\Owner Sign up Step 3 Biometric Check .png">    </p:cNvPr>
          <p:cNvPicPr>
            <a:picLocks noChangeAspect="1"/>
          </p:cNvPicPr>
          <p:nvPr/>
        </p:nvPicPr>
        <p:blipFill>
          <a:blip r:embed="rId2"/>
          <a:stretch>
            <a:fillRect/>
          </a:stretch>
        </p:blipFill>
        <p:spPr>
          <a:xfrm>
            <a:off x="749808" y="978408"/>
            <a:ext cx="7644384" cy="3072384"/>
          </a:xfrm>
          <a:prstGeom prst="rect">
            <a:avLst/>
          </a:prstGeom>
        </p:spPr>
      </p:pic>
      <p:sp>
        <p:nvSpPr>
          <p:cNvPr id="9" name="Shape 5"/>
          <p:cNvSpPr/>
          <p:nvPr/>
        </p:nvSpPr>
        <p:spPr>
          <a:xfrm>
            <a:off x="731520" y="4160520"/>
            <a:ext cx="7680960" cy="548640"/>
          </a:xfrm>
          <a:prstGeom prst="rect">
            <a:avLst/>
          </a:prstGeom>
          <a:solidFill>
            <a:srgbClr val="EFF6FF"/>
          </a:solidFill>
          <a:ln w="12700">
            <a:solidFill>
              <a:srgbClr val="3B82F6"/>
            </a:solidFill>
            <a:prstDash val="solid"/>
          </a:ln>
        </p:spPr>
      </p:sp>
      <p:sp>
        <p:nvSpPr>
          <p:cNvPr id="10" name="Text 6"/>
          <p:cNvSpPr/>
          <p:nvPr/>
        </p:nvSpPr>
        <p:spPr>
          <a:xfrm>
            <a:off x="868680" y="4160520"/>
            <a:ext cx="7406640" cy="548640"/>
          </a:xfrm>
          <a:prstGeom prst="rect">
            <a:avLst/>
          </a:prstGeom>
          <a:noFill/>
          <a:ln/>
        </p:spPr>
        <p:txBody>
          <a:bodyPr wrap="square" rtlCol="0" anchor="ctr"/>
          <a:lstStyle/>
          <a:p>
            <a:pPr indent="0" marL="0">
              <a:buNone/>
            </a:pPr>
            <a:r>
              <a:rPr lang="en-US" sz="1050" dirty="0">
                <a:solidFill>
                  <a:srgbClr val="0F172A"/>
                </a:solidFill>
                <a:latin typeface="Calibri" pitchFamily="34" charset="0"/>
                <a:ea typeface="Calibri" pitchFamily="34" charset="-122"/>
                <a:cs typeface="Calibri" pitchFamily="34" charset="-120"/>
              </a:rPr>
              <a:t>🔍  Interactive enrollment step utilizing FaceAPI.js to register biometric templates in PostgreSQL, locking account access to the physical owner.</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274320"/>
            <a:ext cx="77724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11. Working Output: MetaMask Wallet Binding Link</a:t>
            </a:r>
            <a:endParaRPr lang="en-US" sz="1800" dirty="0"/>
          </a:p>
        </p:txBody>
      </p:sp>
      <p:sp>
        <p:nvSpPr>
          <p:cNvPr id="3" name="Shape 1"/>
          <p:cNvSpPr/>
          <p:nvPr/>
        </p:nvSpPr>
        <p:spPr>
          <a:xfrm>
            <a:off x="365760" y="777240"/>
            <a:ext cx="841248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229600" y="137160"/>
            <a:ext cx="594360" cy="594360"/>
          </a:xfrm>
          <a:prstGeom prst="rect">
            <a:avLst/>
          </a:prstGeom>
        </p:spPr>
      </p:pic>
      <p:sp>
        <p:nvSpPr>
          <p:cNvPr id="5" name="Text 2"/>
          <p:cNvSpPr/>
          <p:nvPr/>
        </p:nvSpPr>
        <p:spPr>
          <a:xfrm>
            <a:off x="36576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804672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29</a:t>
            </a:r>
            <a:endParaRPr lang="en-US" sz="850" dirty="0"/>
          </a:p>
        </p:txBody>
      </p:sp>
      <p:sp>
        <p:nvSpPr>
          <p:cNvPr id="7" name="Shape 4"/>
          <p:cNvSpPr/>
          <p:nvPr/>
        </p:nvSpPr>
        <p:spPr>
          <a:xfrm>
            <a:off x="731520" y="960120"/>
            <a:ext cx="7680960" cy="3108960"/>
          </a:xfrm>
          <a:prstGeom prst="rect">
            <a:avLst/>
          </a:prstGeom>
          <a:solidFill>
            <a:srgbClr val="FFFFFF"/>
          </a:solidFill>
          <a:ln w="12700">
            <a:solidFill>
              <a:srgbClr val="CBD5E1"/>
            </a:solidFill>
            <a:prstDash val="solid"/>
          </a:ln>
        </p:spPr>
      </p:sp>
      <p:pic>
        <p:nvPicPr>
          <p:cNvPr id="8" name="Image 1" descr="C:\Users\Lenovo\OneDrive\Desktop\Final_pro\BBSNS\For PPT Images\Working Proofs\Owner Sign up step 4 Wallet binding.png">    </p:cNvPr>
          <p:cNvPicPr>
            <a:picLocks noChangeAspect="1"/>
          </p:cNvPicPr>
          <p:nvPr/>
        </p:nvPicPr>
        <p:blipFill>
          <a:blip r:embed="rId2"/>
          <a:stretch>
            <a:fillRect/>
          </a:stretch>
        </p:blipFill>
        <p:spPr>
          <a:xfrm>
            <a:off x="749808" y="978408"/>
            <a:ext cx="7644384" cy="3072384"/>
          </a:xfrm>
          <a:prstGeom prst="rect">
            <a:avLst/>
          </a:prstGeom>
        </p:spPr>
      </p:pic>
      <p:sp>
        <p:nvSpPr>
          <p:cNvPr id="9" name="Shape 5"/>
          <p:cNvSpPr/>
          <p:nvPr/>
        </p:nvSpPr>
        <p:spPr>
          <a:xfrm>
            <a:off x="731520" y="4160520"/>
            <a:ext cx="7680960" cy="548640"/>
          </a:xfrm>
          <a:prstGeom prst="rect">
            <a:avLst/>
          </a:prstGeom>
          <a:solidFill>
            <a:srgbClr val="EFF6FF"/>
          </a:solidFill>
          <a:ln w="12700">
            <a:solidFill>
              <a:srgbClr val="3B82F6"/>
            </a:solidFill>
            <a:prstDash val="solid"/>
          </a:ln>
        </p:spPr>
      </p:sp>
      <p:sp>
        <p:nvSpPr>
          <p:cNvPr id="10" name="Text 6"/>
          <p:cNvSpPr/>
          <p:nvPr/>
        </p:nvSpPr>
        <p:spPr>
          <a:xfrm>
            <a:off x="868680" y="4160520"/>
            <a:ext cx="7406640" cy="548640"/>
          </a:xfrm>
          <a:prstGeom prst="rect">
            <a:avLst/>
          </a:prstGeom>
          <a:noFill/>
          <a:ln/>
        </p:spPr>
        <p:txBody>
          <a:bodyPr wrap="square" rtlCol="0" anchor="ctr"/>
          <a:lstStyle/>
          <a:p>
            <a:pPr indent="0" marL="0">
              <a:buNone/>
            </a:pPr>
            <a:r>
              <a:rPr lang="en-US" sz="1050" dirty="0">
                <a:solidFill>
                  <a:srgbClr val="0F172A"/>
                </a:solidFill>
                <a:latin typeface="Calibri" pitchFamily="34" charset="0"/>
                <a:ea typeface="Calibri" pitchFamily="34" charset="-122"/>
                <a:cs typeface="Calibri" pitchFamily="34" charset="-120"/>
              </a:rPr>
              <a:t>🔍  Secures Ethereum MetaMask address mapping. Binds wallet_address to the owner profile to verify and sign EIP-712 structured data.</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274320"/>
            <a:ext cx="77724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11. Working Output: Document Upload &amp; NTKR Burn Prompt</a:t>
            </a:r>
            <a:endParaRPr lang="en-US" sz="1800" dirty="0"/>
          </a:p>
        </p:txBody>
      </p:sp>
      <p:sp>
        <p:nvSpPr>
          <p:cNvPr id="3" name="Shape 1"/>
          <p:cNvSpPr/>
          <p:nvPr/>
        </p:nvSpPr>
        <p:spPr>
          <a:xfrm>
            <a:off x="365760" y="777240"/>
            <a:ext cx="841248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229600" y="137160"/>
            <a:ext cx="594360" cy="594360"/>
          </a:xfrm>
          <a:prstGeom prst="rect">
            <a:avLst/>
          </a:prstGeom>
        </p:spPr>
      </p:pic>
      <p:sp>
        <p:nvSpPr>
          <p:cNvPr id="5" name="Text 2"/>
          <p:cNvSpPr/>
          <p:nvPr/>
        </p:nvSpPr>
        <p:spPr>
          <a:xfrm>
            <a:off x="36576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804672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30</a:t>
            </a:r>
            <a:endParaRPr lang="en-US" sz="850" dirty="0"/>
          </a:p>
        </p:txBody>
      </p:sp>
      <p:sp>
        <p:nvSpPr>
          <p:cNvPr id="7" name="Shape 4"/>
          <p:cNvSpPr/>
          <p:nvPr/>
        </p:nvSpPr>
        <p:spPr>
          <a:xfrm>
            <a:off x="731520" y="960120"/>
            <a:ext cx="7680960" cy="3108960"/>
          </a:xfrm>
          <a:prstGeom prst="rect">
            <a:avLst/>
          </a:prstGeom>
          <a:solidFill>
            <a:srgbClr val="FFFFFF"/>
          </a:solidFill>
          <a:ln w="12700">
            <a:solidFill>
              <a:srgbClr val="CBD5E1"/>
            </a:solidFill>
            <a:prstDash val="solid"/>
          </a:ln>
        </p:spPr>
      </p:sp>
      <p:pic>
        <p:nvPicPr>
          <p:cNvPr id="8" name="Image 1" descr="C:\Users\Lenovo\OneDrive\Desktop\Final_pro\BBSNS\For PPT Images\Working Proofs\Owner Document Upload Process And NTKR BURN.png">    </p:cNvPr>
          <p:cNvPicPr>
            <a:picLocks noChangeAspect="1"/>
          </p:cNvPicPr>
          <p:nvPr/>
        </p:nvPicPr>
        <p:blipFill>
          <a:blip r:embed="rId2"/>
          <a:stretch>
            <a:fillRect/>
          </a:stretch>
        </p:blipFill>
        <p:spPr>
          <a:xfrm>
            <a:off x="749808" y="978408"/>
            <a:ext cx="7644384" cy="3072384"/>
          </a:xfrm>
          <a:prstGeom prst="rect">
            <a:avLst/>
          </a:prstGeom>
        </p:spPr>
      </p:pic>
      <p:sp>
        <p:nvSpPr>
          <p:cNvPr id="9" name="Shape 5"/>
          <p:cNvSpPr/>
          <p:nvPr/>
        </p:nvSpPr>
        <p:spPr>
          <a:xfrm>
            <a:off x="731520" y="4160520"/>
            <a:ext cx="7680960" cy="548640"/>
          </a:xfrm>
          <a:prstGeom prst="rect">
            <a:avLst/>
          </a:prstGeom>
          <a:solidFill>
            <a:srgbClr val="EFF6FF"/>
          </a:solidFill>
          <a:ln w="12700">
            <a:solidFill>
              <a:srgbClr val="3B82F6"/>
            </a:solidFill>
            <a:prstDash val="solid"/>
          </a:ln>
        </p:spPr>
      </p:sp>
      <p:sp>
        <p:nvSpPr>
          <p:cNvPr id="10" name="Text 6"/>
          <p:cNvSpPr/>
          <p:nvPr/>
        </p:nvSpPr>
        <p:spPr>
          <a:xfrm>
            <a:off x="868680" y="4160520"/>
            <a:ext cx="7406640" cy="548640"/>
          </a:xfrm>
          <a:prstGeom prst="rect">
            <a:avLst/>
          </a:prstGeom>
          <a:noFill/>
          <a:ln/>
        </p:spPr>
        <p:txBody>
          <a:bodyPr wrap="square" rtlCol="0" anchor="ctr"/>
          <a:lstStyle/>
          <a:p>
            <a:pPr indent="0" marL="0">
              <a:buNone/>
            </a:pPr>
            <a:r>
              <a:rPr lang="en-US" sz="1050" dirty="0">
                <a:solidFill>
                  <a:srgbClr val="0F172A"/>
                </a:solidFill>
                <a:latin typeface="Calibri" pitchFamily="34" charset="0"/>
                <a:ea typeface="Calibri" pitchFamily="34" charset="-122"/>
                <a:cs typeface="Calibri" pitchFamily="34" charset="-120"/>
              </a:rPr>
              <a:t>🔍  Initiates file upload to AWS S3. Prompts owner to burn NTKR utility token via MetaMask signature, paying the smart contract notarization fee.</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274320"/>
            <a:ext cx="77724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11. Working Output: Notary Pending Document Queue</a:t>
            </a:r>
            <a:endParaRPr lang="en-US" sz="1800" dirty="0"/>
          </a:p>
        </p:txBody>
      </p:sp>
      <p:sp>
        <p:nvSpPr>
          <p:cNvPr id="3" name="Shape 1"/>
          <p:cNvSpPr/>
          <p:nvPr/>
        </p:nvSpPr>
        <p:spPr>
          <a:xfrm>
            <a:off x="365760" y="777240"/>
            <a:ext cx="841248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229600" y="137160"/>
            <a:ext cx="594360" cy="594360"/>
          </a:xfrm>
          <a:prstGeom prst="rect">
            <a:avLst/>
          </a:prstGeom>
        </p:spPr>
      </p:pic>
      <p:sp>
        <p:nvSpPr>
          <p:cNvPr id="5" name="Text 2"/>
          <p:cNvSpPr/>
          <p:nvPr/>
        </p:nvSpPr>
        <p:spPr>
          <a:xfrm>
            <a:off x="36576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804672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31</a:t>
            </a:r>
            <a:endParaRPr lang="en-US" sz="850" dirty="0"/>
          </a:p>
        </p:txBody>
      </p:sp>
      <p:sp>
        <p:nvSpPr>
          <p:cNvPr id="7" name="Shape 4"/>
          <p:cNvSpPr/>
          <p:nvPr/>
        </p:nvSpPr>
        <p:spPr>
          <a:xfrm>
            <a:off x="731520" y="960120"/>
            <a:ext cx="7680960" cy="3108960"/>
          </a:xfrm>
          <a:prstGeom prst="rect">
            <a:avLst/>
          </a:prstGeom>
          <a:solidFill>
            <a:srgbClr val="FFFFFF"/>
          </a:solidFill>
          <a:ln w="12700">
            <a:solidFill>
              <a:srgbClr val="CBD5E1"/>
            </a:solidFill>
            <a:prstDash val="solid"/>
          </a:ln>
        </p:spPr>
      </p:sp>
      <p:pic>
        <p:nvPicPr>
          <p:cNvPr id="8" name="Image 1" descr="C:\Users\Lenovo\OneDrive\Desktop\Final_pro\BBSNS\For PPT Images\Working Proofs\Notary Pending Work.png">    </p:cNvPr>
          <p:cNvPicPr>
            <a:picLocks noChangeAspect="1"/>
          </p:cNvPicPr>
          <p:nvPr/>
        </p:nvPicPr>
        <p:blipFill>
          <a:blip r:embed="rId2"/>
          <a:stretch>
            <a:fillRect/>
          </a:stretch>
        </p:blipFill>
        <p:spPr>
          <a:xfrm>
            <a:off x="749808" y="978408"/>
            <a:ext cx="7644384" cy="3072384"/>
          </a:xfrm>
          <a:prstGeom prst="rect">
            <a:avLst/>
          </a:prstGeom>
        </p:spPr>
      </p:pic>
      <p:sp>
        <p:nvSpPr>
          <p:cNvPr id="9" name="Shape 5"/>
          <p:cNvSpPr/>
          <p:nvPr/>
        </p:nvSpPr>
        <p:spPr>
          <a:xfrm>
            <a:off x="731520" y="4160520"/>
            <a:ext cx="7680960" cy="548640"/>
          </a:xfrm>
          <a:prstGeom prst="rect">
            <a:avLst/>
          </a:prstGeom>
          <a:solidFill>
            <a:srgbClr val="EFF6FF"/>
          </a:solidFill>
          <a:ln w="12700">
            <a:solidFill>
              <a:srgbClr val="3B82F6"/>
            </a:solidFill>
            <a:prstDash val="solid"/>
          </a:ln>
        </p:spPr>
      </p:sp>
      <p:sp>
        <p:nvSpPr>
          <p:cNvPr id="10" name="Text 6"/>
          <p:cNvSpPr/>
          <p:nvPr/>
        </p:nvSpPr>
        <p:spPr>
          <a:xfrm>
            <a:off x="868680" y="4160520"/>
            <a:ext cx="7406640" cy="548640"/>
          </a:xfrm>
          <a:prstGeom prst="rect">
            <a:avLst/>
          </a:prstGeom>
          <a:noFill/>
          <a:ln/>
        </p:spPr>
        <p:txBody>
          <a:bodyPr wrap="square" rtlCol="0" anchor="ctr"/>
          <a:lstStyle/>
          <a:p>
            <a:pPr indent="0" marL="0">
              <a:buNone/>
            </a:pPr>
            <a:r>
              <a:rPr lang="en-US" sz="1050" dirty="0">
                <a:solidFill>
                  <a:srgbClr val="0F172A"/>
                </a:solidFill>
                <a:latin typeface="Calibri" pitchFamily="34" charset="0"/>
                <a:ea typeface="Calibri" pitchFamily="34" charset="-122"/>
                <a:cs typeface="Calibri" pitchFamily="34" charset="-120"/>
              </a:rPr>
              <a:t>🔍  Secure Electron Desktop client displaying the list of active notarization requests waiting for notary credential and signature verification.</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274320"/>
            <a:ext cx="77724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11. Working Output: Notary Verification Console</a:t>
            </a:r>
            <a:endParaRPr lang="en-US" sz="1800" dirty="0"/>
          </a:p>
        </p:txBody>
      </p:sp>
      <p:sp>
        <p:nvSpPr>
          <p:cNvPr id="3" name="Shape 1"/>
          <p:cNvSpPr/>
          <p:nvPr/>
        </p:nvSpPr>
        <p:spPr>
          <a:xfrm>
            <a:off x="365760" y="777240"/>
            <a:ext cx="841248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229600" y="137160"/>
            <a:ext cx="594360" cy="594360"/>
          </a:xfrm>
          <a:prstGeom prst="rect">
            <a:avLst/>
          </a:prstGeom>
        </p:spPr>
      </p:pic>
      <p:sp>
        <p:nvSpPr>
          <p:cNvPr id="5" name="Text 2"/>
          <p:cNvSpPr/>
          <p:nvPr/>
        </p:nvSpPr>
        <p:spPr>
          <a:xfrm>
            <a:off x="36576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804672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32</a:t>
            </a:r>
            <a:endParaRPr lang="en-US" sz="850" dirty="0"/>
          </a:p>
        </p:txBody>
      </p:sp>
      <p:sp>
        <p:nvSpPr>
          <p:cNvPr id="7" name="Shape 4"/>
          <p:cNvSpPr/>
          <p:nvPr/>
        </p:nvSpPr>
        <p:spPr>
          <a:xfrm>
            <a:off x="731520" y="960120"/>
            <a:ext cx="7680960" cy="3108960"/>
          </a:xfrm>
          <a:prstGeom prst="rect">
            <a:avLst/>
          </a:prstGeom>
          <a:solidFill>
            <a:srgbClr val="FFFFFF"/>
          </a:solidFill>
          <a:ln w="12700">
            <a:solidFill>
              <a:srgbClr val="CBD5E1"/>
            </a:solidFill>
            <a:prstDash val="solid"/>
          </a:ln>
        </p:spPr>
      </p:sp>
      <p:pic>
        <p:nvPicPr>
          <p:cNvPr id="8" name="Image 1" descr="C:\Users\Lenovo\OneDrive\Desktop\Final_pro\BBSNS\For PPT Images\Working Proofs\Notary Action View Document for Notarisation.png">    </p:cNvPr>
          <p:cNvPicPr>
            <a:picLocks noChangeAspect="1"/>
          </p:cNvPicPr>
          <p:nvPr/>
        </p:nvPicPr>
        <p:blipFill>
          <a:blip r:embed="rId2"/>
          <a:stretch>
            <a:fillRect/>
          </a:stretch>
        </p:blipFill>
        <p:spPr>
          <a:xfrm>
            <a:off x="749808" y="978408"/>
            <a:ext cx="7644384" cy="3072384"/>
          </a:xfrm>
          <a:prstGeom prst="rect">
            <a:avLst/>
          </a:prstGeom>
        </p:spPr>
      </p:pic>
      <p:sp>
        <p:nvSpPr>
          <p:cNvPr id="9" name="Shape 5"/>
          <p:cNvSpPr/>
          <p:nvPr/>
        </p:nvSpPr>
        <p:spPr>
          <a:xfrm>
            <a:off x="731520" y="4160520"/>
            <a:ext cx="7680960" cy="548640"/>
          </a:xfrm>
          <a:prstGeom prst="rect">
            <a:avLst/>
          </a:prstGeom>
          <a:solidFill>
            <a:srgbClr val="EFF6FF"/>
          </a:solidFill>
          <a:ln w="12700">
            <a:solidFill>
              <a:srgbClr val="3B82F6"/>
            </a:solidFill>
            <a:prstDash val="solid"/>
          </a:ln>
        </p:spPr>
      </p:sp>
      <p:sp>
        <p:nvSpPr>
          <p:cNvPr id="10" name="Text 6"/>
          <p:cNvSpPr/>
          <p:nvPr/>
        </p:nvSpPr>
        <p:spPr>
          <a:xfrm>
            <a:off x="868680" y="4160520"/>
            <a:ext cx="7406640" cy="548640"/>
          </a:xfrm>
          <a:prstGeom prst="rect">
            <a:avLst/>
          </a:prstGeom>
          <a:noFill/>
          <a:ln/>
        </p:spPr>
        <p:txBody>
          <a:bodyPr wrap="square" rtlCol="0" anchor="ctr"/>
          <a:lstStyle/>
          <a:p>
            <a:pPr indent="0" marL="0">
              <a:buNone/>
            </a:pPr>
            <a:r>
              <a:rPr lang="en-US" sz="1050" dirty="0">
                <a:solidFill>
                  <a:srgbClr val="0F172A"/>
                </a:solidFill>
                <a:latin typeface="Calibri" pitchFamily="34" charset="0"/>
                <a:ea typeface="Calibri" pitchFamily="34" charset="-122"/>
                <a:cs typeface="Calibri" pitchFamily="34" charset="-120"/>
              </a:rPr>
              <a:t>🔍  Provides the licensed notary with a side-by-side view of document details, owner identity structure, and verification metadata before approval.</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274320"/>
            <a:ext cx="77724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11. Working Output: Notary Approved Logs Queue</a:t>
            </a:r>
            <a:endParaRPr lang="en-US" sz="1800" dirty="0"/>
          </a:p>
        </p:txBody>
      </p:sp>
      <p:sp>
        <p:nvSpPr>
          <p:cNvPr id="3" name="Shape 1"/>
          <p:cNvSpPr/>
          <p:nvPr/>
        </p:nvSpPr>
        <p:spPr>
          <a:xfrm>
            <a:off x="365760" y="777240"/>
            <a:ext cx="841248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229600" y="137160"/>
            <a:ext cx="594360" cy="594360"/>
          </a:xfrm>
          <a:prstGeom prst="rect">
            <a:avLst/>
          </a:prstGeom>
        </p:spPr>
      </p:pic>
      <p:sp>
        <p:nvSpPr>
          <p:cNvPr id="5" name="Text 2"/>
          <p:cNvSpPr/>
          <p:nvPr/>
        </p:nvSpPr>
        <p:spPr>
          <a:xfrm>
            <a:off x="36576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804672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33</a:t>
            </a:r>
            <a:endParaRPr lang="en-US" sz="850" dirty="0"/>
          </a:p>
        </p:txBody>
      </p:sp>
      <p:sp>
        <p:nvSpPr>
          <p:cNvPr id="7" name="Shape 4"/>
          <p:cNvSpPr/>
          <p:nvPr/>
        </p:nvSpPr>
        <p:spPr>
          <a:xfrm>
            <a:off x="731520" y="960120"/>
            <a:ext cx="7680960" cy="3108960"/>
          </a:xfrm>
          <a:prstGeom prst="rect">
            <a:avLst/>
          </a:prstGeom>
          <a:solidFill>
            <a:srgbClr val="FFFFFF"/>
          </a:solidFill>
          <a:ln w="12700">
            <a:solidFill>
              <a:srgbClr val="CBD5E1"/>
            </a:solidFill>
            <a:prstDash val="solid"/>
          </a:ln>
        </p:spPr>
      </p:sp>
      <p:pic>
        <p:nvPicPr>
          <p:cNvPr id="8" name="Image 1" descr="C:\Users\Lenovo\OneDrive\Desktop\Final_pro\BBSNS\For PPT Images\Working Proofs\Notary Approved View.png">    </p:cNvPr>
          <p:cNvPicPr>
            <a:picLocks noChangeAspect="1"/>
          </p:cNvPicPr>
          <p:nvPr/>
        </p:nvPicPr>
        <p:blipFill>
          <a:blip r:embed="rId2"/>
          <a:stretch>
            <a:fillRect/>
          </a:stretch>
        </p:blipFill>
        <p:spPr>
          <a:xfrm>
            <a:off x="749808" y="978408"/>
            <a:ext cx="7644384" cy="3072384"/>
          </a:xfrm>
          <a:prstGeom prst="rect">
            <a:avLst/>
          </a:prstGeom>
        </p:spPr>
      </p:pic>
      <p:sp>
        <p:nvSpPr>
          <p:cNvPr id="9" name="Shape 5"/>
          <p:cNvSpPr/>
          <p:nvPr/>
        </p:nvSpPr>
        <p:spPr>
          <a:xfrm>
            <a:off x="731520" y="4160520"/>
            <a:ext cx="7680960" cy="548640"/>
          </a:xfrm>
          <a:prstGeom prst="rect">
            <a:avLst/>
          </a:prstGeom>
          <a:solidFill>
            <a:srgbClr val="EFF6FF"/>
          </a:solidFill>
          <a:ln w="12700">
            <a:solidFill>
              <a:srgbClr val="3B82F6"/>
            </a:solidFill>
            <a:prstDash val="solid"/>
          </a:ln>
        </p:spPr>
      </p:sp>
      <p:sp>
        <p:nvSpPr>
          <p:cNvPr id="10" name="Text 6"/>
          <p:cNvSpPr/>
          <p:nvPr/>
        </p:nvSpPr>
        <p:spPr>
          <a:xfrm>
            <a:off x="868680" y="4160520"/>
            <a:ext cx="7406640" cy="548640"/>
          </a:xfrm>
          <a:prstGeom prst="rect">
            <a:avLst/>
          </a:prstGeom>
          <a:noFill/>
          <a:ln/>
        </p:spPr>
        <p:txBody>
          <a:bodyPr wrap="square" rtlCol="0" anchor="ctr"/>
          <a:lstStyle/>
          <a:p>
            <a:pPr indent="0" marL="0">
              <a:buNone/>
            </a:pPr>
            <a:r>
              <a:rPr lang="en-US" sz="1050" dirty="0">
                <a:solidFill>
                  <a:srgbClr val="0F172A"/>
                </a:solidFill>
                <a:latin typeface="Calibri" pitchFamily="34" charset="0"/>
                <a:ea typeface="Calibri" pitchFamily="34" charset="-122"/>
                <a:cs typeface="Calibri" pitchFamily="34" charset="-120"/>
              </a:rPr>
              <a:t>🔍  Log history showing approved and finalized notarizations. Displays document IDs, owner details, timestamps, and on-chain tx hashes.</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274320"/>
            <a:ext cx="77724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11. Working Output: Admin Auditing Panel — Notary Request</a:t>
            </a:r>
            <a:endParaRPr lang="en-US" sz="1800" dirty="0"/>
          </a:p>
        </p:txBody>
      </p:sp>
      <p:sp>
        <p:nvSpPr>
          <p:cNvPr id="3" name="Shape 1"/>
          <p:cNvSpPr/>
          <p:nvPr/>
        </p:nvSpPr>
        <p:spPr>
          <a:xfrm>
            <a:off x="365760" y="777240"/>
            <a:ext cx="841248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229600" y="137160"/>
            <a:ext cx="594360" cy="594360"/>
          </a:xfrm>
          <a:prstGeom prst="rect">
            <a:avLst/>
          </a:prstGeom>
        </p:spPr>
      </p:pic>
      <p:sp>
        <p:nvSpPr>
          <p:cNvPr id="5" name="Text 2"/>
          <p:cNvSpPr/>
          <p:nvPr/>
        </p:nvSpPr>
        <p:spPr>
          <a:xfrm>
            <a:off x="36576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804672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34</a:t>
            </a:r>
            <a:endParaRPr lang="en-US" sz="850" dirty="0"/>
          </a:p>
        </p:txBody>
      </p:sp>
      <p:sp>
        <p:nvSpPr>
          <p:cNvPr id="7" name="Shape 4"/>
          <p:cNvSpPr/>
          <p:nvPr/>
        </p:nvSpPr>
        <p:spPr>
          <a:xfrm>
            <a:off x="731520" y="960120"/>
            <a:ext cx="7680960" cy="3108960"/>
          </a:xfrm>
          <a:prstGeom prst="rect">
            <a:avLst/>
          </a:prstGeom>
          <a:solidFill>
            <a:srgbClr val="FFFFFF"/>
          </a:solidFill>
          <a:ln w="12700">
            <a:solidFill>
              <a:srgbClr val="CBD5E1"/>
            </a:solidFill>
            <a:prstDash val="solid"/>
          </a:ln>
        </p:spPr>
      </p:sp>
      <p:pic>
        <p:nvPicPr>
          <p:cNvPr id="8" name="Image 1" descr="C:\Users\Lenovo\OneDrive\Desktop\Final_pro\BBSNS\For PPT Images\Working Proofs\Admin Dashboard Notary Application Details.png">    </p:cNvPr>
          <p:cNvPicPr>
            <a:picLocks noChangeAspect="1"/>
          </p:cNvPicPr>
          <p:nvPr/>
        </p:nvPicPr>
        <p:blipFill>
          <a:blip r:embed="rId2"/>
          <a:stretch>
            <a:fillRect/>
          </a:stretch>
        </p:blipFill>
        <p:spPr>
          <a:xfrm>
            <a:off x="749808" y="978408"/>
            <a:ext cx="7644384" cy="3072384"/>
          </a:xfrm>
          <a:prstGeom prst="rect">
            <a:avLst/>
          </a:prstGeom>
        </p:spPr>
      </p:pic>
      <p:sp>
        <p:nvSpPr>
          <p:cNvPr id="9" name="Shape 5"/>
          <p:cNvSpPr/>
          <p:nvPr/>
        </p:nvSpPr>
        <p:spPr>
          <a:xfrm>
            <a:off x="731520" y="4160520"/>
            <a:ext cx="7680960" cy="548640"/>
          </a:xfrm>
          <a:prstGeom prst="rect">
            <a:avLst/>
          </a:prstGeom>
          <a:solidFill>
            <a:srgbClr val="EFF6FF"/>
          </a:solidFill>
          <a:ln w="12700">
            <a:solidFill>
              <a:srgbClr val="3B82F6"/>
            </a:solidFill>
            <a:prstDash val="solid"/>
          </a:ln>
        </p:spPr>
      </p:sp>
      <p:sp>
        <p:nvSpPr>
          <p:cNvPr id="10" name="Text 6"/>
          <p:cNvSpPr/>
          <p:nvPr/>
        </p:nvSpPr>
        <p:spPr>
          <a:xfrm>
            <a:off x="868680" y="4160520"/>
            <a:ext cx="7406640" cy="548640"/>
          </a:xfrm>
          <a:prstGeom prst="rect">
            <a:avLst/>
          </a:prstGeom>
          <a:noFill/>
          <a:ln/>
        </p:spPr>
        <p:txBody>
          <a:bodyPr wrap="square" rtlCol="0" anchor="ctr"/>
          <a:lstStyle/>
          <a:p>
            <a:pPr indent="0" marL="0">
              <a:buNone/>
            </a:pPr>
            <a:r>
              <a:rPr lang="en-US" sz="1050" dirty="0">
                <a:solidFill>
                  <a:srgbClr val="0F172A"/>
                </a:solidFill>
                <a:latin typeface="Calibri" pitchFamily="34" charset="0"/>
                <a:ea typeface="Calibri" pitchFamily="34" charset="-122"/>
                <a:cs typeface="Calibri" pitchFamily="34" charset="-120"/>
              </a:rPr>
              <a:t>🔍  Admin panel for inspecting notary applicants. Details certificates, identity cards, wallet address bindings, and verification reports.</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274320"/>
            <a:ext cx="77724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11. Working Output: On-Chain Notary License Activation</a:t>
            </a:r>
            <a:endParaRPr lang="en-US" sz="1800" dirty="0"/>
          </a:p>
        </p:txBody>
      </p:sp>
      <p:sp>
        <p:nvSpPr>
          <p:cNvPr id="3" name="Shape 1"/>
          <p:cNvSpPr/>
          <p:nvPr/>
        </p:nvSpPr>
        <p:spPr>
          <a:xfrm>
            <a:off x="365760" y="777240"/>
            <a:ext cx="841248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229600" y="137160"/>
            <a:ext cx="594360" cy="594360"/>
          </a:xfrm>
          <a:prstGeom prst="rect">
            <a:avLst/>
          </a:prstGeom>
        </p:spPr>
      </p:pic>
      <p:sp>
        <p:nvSpPr>
          <p:cNvPr id="5" name="Text 2"/>
          <p:cNvSpPr/>
          <p:nvPr/>
        </p:nvSpPr>
        <p:spPr>
          <a:xfrm>
            <a:off x="36576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804672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35</a:t>
            </a:r>
            <a:endParaRPr lang="en-US" sz="850" dirty="0"/>
          </a:p>
        </p:txBody>
      </p:sp>
      <p:sp>
        <p:nvSpPr>
          <p:cNvPr id="7" name="Shape 4"/>
          <p:cNvSpPr/>
          <p:nvPr/>
        </p:nvSpPr>
        <p:spPr>
          <a:xfrm>
            <a:off x="731520" y="960120"/>
            <a:ext cx="7680960" cy="3108960"/>
          </a:xfrm>
          <a:prstGeom prst="rect">
            <a:avLst/>
          </a:prstGeom>
          <a:solidFill>
            <a:srgbClr val="FFFFFF"/>
          </a:solidFill>
          <a:ln w="12700">
            <a:solidFill>
              <a:srgbClr val="CBD5E1"/>
            </a:solidFill>
            <a:prstDash val="solid"/>
          </a:ln>
        </p:spPr>
      </p:sp>
      <p:pic>
        <p:nvPicPr>
          <p:cNvPr id="8" name="Image 1" descr="C:\Users\Lenovo\OneDrive\Desktop\Final_pro\BBSNS\For PPT Images\Working Proofs\Admin Dashboard Notary Role Applied onchain confirmed.png">    </p:cNvPr>
          <p:cNvPicPr>
            <a:picLocks noChangeAspect="1"/>
          </p:cNvPicPr>
          <p:nvPr/>
        </p:nvPicPr>
        <p:blipFill>
          <a:blip r:embed="rId2"/>
          <a:stretch>
            <a:fillRect/>
          </a:stretch>
        </p:blipFill>
        <p:spPr>
          <a:xfrm>
            <a:off x="749808" y="978408"/>
            <a:ext cx="7644384" cy="3072384"/>
          </a:xfrm>
          <a:prstGeom prst="rect">
            <a:avLst/>
          </a:prstGeom>
        </p:spPr>
      </p:pic>
      <p:sp>
        <p:nvSpPr>
          <p:cNvPr id="9" name="Shape 5"/>
          <p:cNvSpPr/>
          <p:nvPr/>
        </p:nvSpPr>
        <p:spPr>
          <a:xfrm>
            <a:off x="731520" y="4160520"/>
            <a:ext cx="7680960" cy="548640"/>
          </a:xfrm>
          <a:prstGeom prst="rect">
            <a:avLst/>
          </a:prstGeom>
          <a:solidFill>
            <a:srgbClr val="EFF6FF"/>
          </a:solidFill>
          <a:ln w="12700">
            <a:solidFill>
              <a:srgbClr val="3B82F6"/>
            </a:solidFill>
            <a:prstDash val="solid"/>
          </a:ln>
        </p:spPr>
      </p:sp>
      <p:sp>
        <p:nvSpPr>
          <p:cNvPr id="10" name="Text 6"/>
          <p:cNvSpPr/>
          <p:nvPr/>
        </p:nvSpPr>
        <p:spPr>
          <a:xfrm>
            <a:off x="868680" y="4160520"/>
            <a:ext cx="7406640" cy="548640"/>
          </a:xfrm>
          <a:prstGeom prst="rect">
            <a:avLst/>
          </a:prstGeom>
          <a:noFill/>
          <a:ln/>
        </p:spPr>
        <p:txBody>
          <a:bodyPr wrap="square" rtlCol="0" anchor="ctr"/>
          <a:lstStyle/>
          <a:p>
            <a:pPr indent="0" marL="0">
              <a:buNone/>
            </a:pPr>
            <a:r>
              <a:rPr lang="en-US" sz="1050" dirty="0">
                <a:solidFill>
                  <a:srgbClr val="0F172A"/>
                </a:solidFill>
                <a:latin typeface="Calibri" pitchFamily="34" charset="0"/>
                <a:ea typeface="Calibri" pitchFamily="34" charset="-122"/>
                <a:cs typeface="Calibri" pitchFamily="34" charset="-120"/>
              </a:rPr>
              <a:t>🔍  Transaction confirmed on BNB Smart Chain. Updates smart contract registry state to grant the applicant notary role, allowing future document signing.</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274320"/>
            <a:ext cx="77724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11. Working Output: Public Document Verification Portal</a:t>
            </a:r>
            <a:endParaRPr lang="en-US" sz="1800" dirty="0"/>
          </a:p>
        </p:txBody>
      </p:sp>
      <p:sp>
        <p:nvSpPr>
          <p:cNvPr id="3" name="Shape 1"/>
          <p:cNvSpPr/>
          <p:nvPr/>
        </p:nvSpPr>
        <p:spPr>
          <a:xfrm>
            <a:off x="365760" y="777240"/>
            <a:ext cx="841248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229600" y="137160"/>
            <a:ext cx="594360" cy="594360"/>
          </a:xfrm>
          <a:prstGeom prst="rect">
            <a:avLst/>
          </a:prstGeom>
        </p:spPr>
      </p:pic>
      <p:sp>
        <p:nvSpPr>
          <p:cNvPr id="5" name="Text 2"/>
          <p:cNvSpPr/>
          <p:nvPr/>
        </p:nvSpPr>
        <p:spPr>
          <a:xfrm>
            <a:off x="36576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804672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36</a:t>
            </a:r>
            <a:endParaRPr lang="en-US" sz="850" dirty="0"/>
          </a:p>
        </p:txBody>
      </p:sp>
      <p:sp>
        <p:nvSpPr>
          <p:cNvPr id="7" name="Shape 4"/>
          <p:cNvSpPr/>
          <p:nvPr/>
        </p:nvSpPr>
        <p:spPr>
          <a:xfrm>
            <a:off x="731520" y="960120"/>
            <a:ext cx="7680960" cy="3108960"/>
          </a:xfrm>
          <a:prstGeom prst="rect">
            <a:avLst/>
          </a:prstGeom>
          <a:solidFill>
            <a:srgbClr val="FFFFFF"/>
          </a:solidFill>
          <a:ln w="12700">
            <a:solidFill>
              <a:srgbClr val="CBD5E1"/>
            </a:solidFill>
            <a:prstDash val="solid"/>
          </a:ln>
        </p:spPr>
      </p:sp>
      <p:pic>
        <p:nvPicPr>
          <p:cNvPr id="8" name="Image 1" descr="C:\Users\Lenovo\OneDrive\Desktop\Final_pro\BBSNS\For PPT Images\Working Proofs\z BBSNS Verification Of Document Hash For Tempering.png">    </p:cNvPr>
          <p:cNvPicPr>
            <a:picLocks noChangeAspect="1"/>
          </p:cNvPicPr>
          <p:nvPr/>
        </p:nvPicPr>
        <p:blipFill>
          <a:blip r:embed="rId2"/>
          <a:stretch>
            <a:fillRect/>
          </a:stretch>
        </p:blipFill>
        <p:spPr>
          <a:xfrm>
            <a:off x="749808" y="978408"/>
            <a:ext cx="7644384" cy="3072384"/>
          </a:xfrm>
          <a:prstGeom prst="rect">
            <a:avLst/>
          </a:prstGeom>
        </p:spPr>
      </p:pic>
      <p:sp>
        <p:nvSpPr>
          <p:cNvPr id="9" name="Shape 5"/>
          <p:cNvSpPr/>
          <p:nvPr/>
        </p:nvSpPr>
        <p:spPr>
          <a:xfrm>
            <a:off x="731520" y="4160520"/>
            <a:ext cx="7680960" cy="548640"/>
          </a:xfrm>
          <a:prstGeom prst="rect">
            <a:avLst/>
          </a:prstGeom>
          <a:solidFill>
            <a:srgbClr val="EFF6FF"/>
          </a:solidFill>
          <a:ln w="12700">
            <a:solidFill>
              <a:srgbClr val="3B82F6"/>
            </a:solidFill>
            <a:prstDash val="solid"/>
          </a:ln>
        </p:spPr>
      </p:sp>
      <p:sp>
        <p:nvSpPr>
          <p:cNvPr id="10" name="Text 6"/>
          <p:cNvSpPr/>
          <p:nvPr/>
        </p:nvSpPr>
        <p:spPr>
          <a:xfrm>
            <a:off x="868680" y="4160520"/>
            <a:ext cx="7406640" cy="548640"/>
          </a:xfrm>
          <a:prstGeom prst="rect">
            <a:avLst/>
          </a:prstGeom>
          <a:noFill/>
          <a:ln/>
        </p:spPr>
        <p:txBody>
          <a:bodyPr wrap="square" rtlCol="0" anchor="ctr"/>
          <a:lstStyle/>
          <a:p>
            <a:pPr indent="0" marL="0">
              <a:buNone/>
            </a:pPr>
            <a:r>
              <a:rPr lang="en-US" sz="1050" dirty="0">
                <a:solidFill>
                  <a:srgbClr val="0F172A"/>
                </a:solidFill>
                <a:latin typeface="Calibri" pitchFamily="34" charset="0"/>
                <a:ea typeface="Calibri" pitchFamily="34" charset="-122"/>
                <a:cs typeface="Calibri" pitchFamily="34" charset="-120"/>
              </a:rPr>
              <a:t>🔍  Publicly accessible portal where anyone can drag-and-drop a PDF to compare its client-side SHA-256 hash with records on the blockchain.</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274320"/>
            <a:ext cx="77724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11. Working Output: Verifiable Notarization Certificate</a:t>
            </a:r>
            <a:endParaRPr lang="en-US" sz="1800" dirty="0"/>
          </a:p>
        </p:txBody>
      </p:sp>
      <p:sp>
        <p:nvSpPr>
          <p:cNvPr id="3" name="Shape 1"/>
          <p:cNvSpPr/>
          <p:nvPr/>
        </p:nvSpPr>
        <p:spPr>
          <a:xfrm>
            <a:off x="365760" y="777240"/>
            <a:ext cx="841248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229600" y="137160"/>
            <a:ext cx="594360" cy="594360"/>
          </a:xfrm>
          <a:prstGeom prst="rect">
            <a:avLst/>
          </a:prstGeom>
        </p:spPr>
      </p:pic>
      <p:sp>
        <p:nvSpPr>
          <p:cNvPr id="5" name="Text 2"/>
          <p:cNvSpPr/>
          <p:nvPr/>
        </p:nvSpPr>
        <p:spPr>
          <a:xfrm>
            <a:off x="36576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804672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37</a:t>
            </a:r>
            <a:endParaRPr lang="en-US" sz="850" dirty="0"/>
          </a:p>
        </p:txBody>
      </p:sp>
      <p:sp>
        <p:nvSpPr>
          <p:cNvPr id="7" name="Shape 4"/>
          <p:cNvSpPr/>
          <p:nvPr/>
        </p:nvSpPr>
        <p:spPr>
          <a:xfrm>
            <a:off x="731520" y="960120"/>
            <a:ext cx="7680960" cy="3108960"/>
          </a:xfrm>
          <a:prstGeom prst="rect">
            <a:avLst/>
          </a:prstGeom>
          <a:solidFill>
            <a:srgbClr val="FFFFFF"/>
          </a:solidFill>
          <a:ln w="12700">
            <a:solidFill>
              <a:srgbClr val="CBD5E1"/>
            </a:solidFill>
            <a:prstDash val="solid"/>
          </a:ln>
        </p:spPr>
      </p:sp>
      <p:pic>
        <p:nvPicPr>
          <p:cNvPr id="8" name="Image 1" descr="C:\Users\Lenovo\OneDrive\Desktop\Final_pro\BBSNS\For PPT Images\Working Proofs\Owners Final Document Verifiable Certificate.png">    </p:cNvPr>
          <p:cNvPicPr>
            <a:picLocks noChangeAspect="1"/>
          </p:cNvPicPr>
          <p:nvPr/>
        </p:nvPicPr>
        <p:blipFill>
          <a:blip r:embed="rId2"/>
          <a:stretch>
            <a:fillRect/>
          </a:stretch>
        </p:blipFill>
        <p:spPr>
          <a:xfrm>
            <a:off x="749808" y="978408"/>
            <a:ext cx="7644384" cy="3072384"/>
          </a:xfrm>
          <a:prstGeom prst="rect">
            <a:avLst/>
          </a:prstGeom>
        </p:spPr>
      </p:pic>
      <p:sp>
        <p:nvSpPr>
          <p:cNvPr id="9" name="Shape 5"/>
          <p:cNvSpPr/>
          <p:nvPr/>
        </p:nvSpPr>
        <p:spPr>
          <a:xfrm>
            <a:off x="731520" y="4160520"/>
            <a:ext cx="7680960" cy="548640"/>
          </a:xfrm>
          <a:prstGeom prst="rect">
            <a:avLst/>
          </a:prstGeom>
          <a:solidFill>
            <a:srgbClr val="EFF6FF"/>
          </a:solidFill>
          <a:ln w="12700">
            <a:solidFill>
              <a:srgbClr val="3B82F6"/>
            </a:solidFill>
            <a:prstDash val="solid"/>
          </a:ln>
        </p:spPr>
      </p:sp>
      <p:sp>
        <p:nvSpPr>
          <p:cNvPr id="10" name="Text 6"/>
          <p:cNvSpPr/>
          <p:nvPr/>
        </p:nvSpPr>
        <p:spPr>
          <a:xfrm>
            <a:off x="868680" y="4160520"/>
            <a:ext cx="7406640" cy="548640"/>
          </a:xfrm>
          <a:prstGeom prst="rect">
            <a:avLst/>
          </a:prstGeom>
          <a:noFill/>
          <a:ln/>
        </p:spPr>
        <p:txBody>
          <a:bodyPr wrap="square" rtlCol="0" anchor="ctr"/>
          <a:lstStyle/>
          <a:p>
            <a:pPr indent="0" marL="0">
              <a:buNone/>
            </a:pPr>
            <a:r>
              <a:rPr lang="en-US" sz="1050" dirty="0">
                <a:solidFill>
                  <a:srgbClr val="0F172A"/>
                </a:solidFill>
                <a:latin typeface="Calibri" pitchFamily="34" charset="0"/>
                <a:ea typeface="Calibri" pitchFamily="34" charset="-122"/>
                <a:cs typeface="Calibri" pitchFamily="34" charset="-120"/>
              </a:rPr>
              <a:t>🔍  The resulting PDF certificate issued to the owner, containing the document metadata, notary signature, and QR code for public validation.</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274320"/>
            <a:ext cx="77724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11. Working Output: Production Environment Status</a:t>
            </a:r>
            <a:endParaRPr lang="en-US" sz="1800" dirty="0"/>
          </a:p>
        </p:txBody>
      </p:sp>
      <p:sp>
        <p:nvSpPr>
          <p:cNvPr id="3" name="Shape 1"/>
          <p:cNvSpPr/>
          <p:nvPr/>
        </p:nvSpPr>
        <p:spPr>
          <a:xfrm>
            <a:off x="365760" y="777240"/>
            <a:ext cx="841248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229600" y="137160"/>
            <a:ext cx="594360" cy="594360"/>
          </a:xfrm>
          <a:prstGeom prst="rect">
            <a:avLst/>
          </a:prstGeom>
        </p:spPr>
      </p:pic>
      <p:sp>
        <p:nvSpPr>
          <p:cNvPr id="5" name="Text 2"/>
          <p:cNvSpPr/>
          <p:nvPr/>
        </p:nvSpPr>
        <p:spPr>
          <a:xfrm>
            <a:off x="36576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804672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38</a:t>
            </a:r>
            <a:endParaRPr lang="en-US" sz="850" dirty="0"/>
          </a:p>
        </p:txBody>
      </p:sp>
      <p:sp>
        <p:nvSpPr>
          <p:cNvPr id="7" name="Shape 4"/>
          <p:cNvSpPr/>
          <p:nvPr/>
        </p:nvSpPr>
        <p:spPr>
          <a:xfrm>
            <a:off x="731520" y="960120"/>
            <a:ext cx="7680960" cy="3108960"/>
          </a:xfrm>
          <a:prstGeom prst="rect">
            <a:avLst/>
          </a:prstGeom>
          <a:solidFill>
            <a:srgbClr val="FFFFFF"/>
          </a:solidFill>
          <a:ln w="12700">
            <a:solidFill>
              <a:srgbClr val="CBD5E1"/>
            </a:solidFill>
            <a:prstDash val="solid"/>
          </a:ln>
        </p:spPr>
      </p:sp>
      <p:pic>
        <p:nvPicPr>
          <p:cNvPr id="8" name="Image 1" descr="C:\Users\Lenovo\OneDrive\Desktop\Final_pro\BBSNS\For PPT Images\Working Proofs\2 Running Processes On Cloud.png">    </p:cNvPr>
          <p:cNvPicPr>
            <a:picLocks noChangeAspect="1"/>
          </p:cNvPicPr>
          <p:nvPr/>
        </p:nvPicPr>
        <p:blipFill>
          <a:blip r:embed="rId2"/>
          <a:stretch>
            <a:fillRect/>
          </a:stretch>
        </p:blipFill>
        <p:spPr>
          <a:xfrm>
            <a:off x="749808" y="978408"/>
            <a:ext cx="7644384" cy="3072384"/>
          </a:xfrm>
          <a:prstGeom prst="rect">
            <a:avLst/>
          </a:prstGeom>
        </p:spPr>
      </p:pic>
      <p:sp>
        <p:nvSpPr>
          <p:cNvPr id="9" name="Shape 5"/>
          <p:cNvSpPr/>
          <p:nvPr/>
        </p:nvSpPr>
        <p:spPr>
          <a:xfrm>
            <a:off x="731520" y="4160520"/>
            <a:ext cx="7680960" cy="548640"/>
          </a:xfrm>
          <a:prstGeom prst="rect">
            <a:avLst/>
          </a:prstGeom>
          <a:solidFill>
            <a:srgbClr val="EFF6FF"/>
          </a:solidFill>
          <a:ln w="12700">
            <a:solidFill>
              <a:srgbClr val="3B82F6"/>
            </a:solidFill>
            <a:prstDash val="solid"/>
          </a:ln>
        </p:spPr>
      </p:sp>
      <p:sp>
        <p:nvSpPr>
          <p:cNvPr id="10" name="Text 6"/>
          <p:cNvSpPr/>
          <p:nvPr/>
        </p:nvSpPr>
        <p:spPr>
          <a:xfrm>
            <a:off x="868680" y="4160520"/>
            <a:ext cx="7406640" cy="548640"/>
          </a:xfrm>
          <a:prstGeom prst="rect">
            <a:avLst/>
          </a:prstGeom>
          <a:noFill/>
          <a:ln/>
        </p:spPr>
        <p:txBody>
          <a:bodyPr wrap="square" rtlCol="0" anchor="ctr"/>
          <a:lstStyle/>
          <a:p>
            <a:pPr indent="0" marL="0">
              <a:buNone/>
            </a:pPr>
            <a:r>
              <a:rPr lang="en-US" sz="1050" dirty="0">
                <a:solidFill>
                  <a:srgbClr val="0F172A"/>
                </a:solidFill>
                <a:latin typeface="Calibri" pitchFamily="34" charset="0"/>
                <a:ea typeface="Calibri" pitchFamily="34" charset="-122"/>
                <a:cs typeface="Calibri" pitchFamily="34" charset="-120"/>
              </a:rPr>
              <a:t>🔍  Confirms node backend clusters, scavenger workers, and logging relays running on AWS EC2 instance managed by PM2 process manager.</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274320"/>
            <a:ext cx="77724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12. Project Development Timeline &amp; Plan</a:t>
            </a:r>
            <a:endParaRPr lang="en-US" sz="1800" dirty="0"/>
          </a:p>
        </p:txBody>
      </p:sp>
      <p:sp>
        <p:nvSpPr>
          <p:cNvPr id="3" name="Shape 1"/>
          <p:cNvSpPr/>
          <p:nvPr/>
        </p:nvSpPr>
        <p:spPr>
          <a:xfrm>
            <a:off x="365760" y="777240"/>
            <a:ext cx="841248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229600" y="137160"/>
            <a:ext cx="594360" cy="594360"/>
          </a:xfrm>
          <a:prstGeom prst="rect">
            <a:avLst/>
          </a:prstGeom>
        </p:spPr>
      </p:pic>
      <p:sp>
        <p:nvSpPr>
          <p:cNvPr id="5" name="Text 2"/>
          <p:cNvSpPr/>
          <p:nvPr/>
        </p:nvSpPr>
        <p:spPr>
          <a:xfrm>
            <a:off x="36576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804672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39</a:t>
            </a:r>
            <a:endParaRPr lang="en-US" sz="85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1645920"/>
                <a:gridCol w="4023360"/>
                <a:gridCol w="1371600"/>
                <a:gridCol w="1371600"/>
              </a:tblGrid>
              <a:tr h="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Phase</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Activities / Deliverables</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Duration</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Status</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r>
              <a:tr h="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Phase 1: Initiation</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Requirement analysis, architectural design, literature survey and documentation.</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 Weeks</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b="1" dirty="0">
                          <a:solidFill>
                            <a:srgbClr val="10B981"/>
                          </a:solidFill>
                          <a:latin typeface="Calibri" pitchFamily="34" charset="0"/>
                          <a:ea typeface="Calibri" pitchFamily="34" charset="-122"/>
                          <a:cs typeface="Calibri" pitchFamily="34" charset="-120"/>
                        </a:rPr>
                        <a:t>Completed</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Phase 2: Database</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PostgreSQL database schema design, AWS S3 object bucket setup, REST API gateway.</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 Weeks</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b="1" dirty="0">
                          <a:solidFill>
                            <a:srgbClr val="10B981"/>
                          </a:solidFill>
                          <a:latin typeface="Calibri" pitchFamily="34" charset="0"/>
                          <a:ea typeface="Calibri" pitchFamily="34" charset="-122"/>
                          <a:cs typeface="Calibri" pitchFamily="34" charset="-120"/>
                        </a:rPr>
                        <a:t>Completed</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Phase 3: Blockchain</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Solidity smart contract coding, NTKR token design, Hardhat unit testing and scripting.</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 Weeks</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b="1" dirty="0">
                          <a:solidFill>
                            <a:srgbClr val="10B981"/>
                          </a:solidFill>
                          <a:latin typeface="Calibri" pitchFamily="34" charset="0"/>
                          <a:ea typeface="Calibri" pitchFamily="34" charset="-122"/>
                          <a:cs typeface="Calibri" pitchFamily="34" charset="-120"/>
                        </a:rPr>
                        <a:t>Completed</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Phase 4: Client Apps</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Next.js web owner portal development, FaceAPI integration, Electron notary client coding.</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 Weeks</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b="1" dirty="0">
                          <a:solidFill>
                            <a:srgbClr val="10B981"/>
                          </a:solidFill>
                          <a:latin typeface="Calibri" pitchFamily="34" charset="0"/>
                          <a:ea typeface="Calibri" pitchFamily="34" charset="-122"/>
                          <a:cs typeface="Calibri" pitchFamily="34" charset="-120"/>
                        </a:rPr>
                        <a:t>Completed</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Phase 5: Deploy &amp; Test</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AWS EC2 cloud server setup, PM2 process config, end-to-end integration and QA testing.</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 Weeks</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b="1" dirty="0">
                          <a:solidFill>
                            <a:srgbClr val="10B981"/>
                          </a:solidFill>
                          <a:latin typeface="Calibri" pitchFamily="34" charset="0"/>
                          <a:ea typeface="Calibri" pitchFamily="34" charset="-122"/>
                          <a:cs typeface="Calibri" pitchFamily="34" charset="-120"/>
                        </a:rPr>
                        <a:t>Completed</a:t>
                      </a:r>
                      <a:endParaRPr lang="en-US" sz="10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365760" y="274320"/>
            <a:ext cx="7772400" cy="411480"/>
          </a:xfrm>
          <a:prstGeom prst="rect">
            <a:avLst/>
          </a:prstGeom>
          <a:noFill/>
          <a:ln/>
        </p:spPr>
        <p:txBody>
          <a:bodyPr wrap="square" rtlCol="0" anchor="ctr"/>
          <a:lstStyle/>
          <a:p>
            <a:pPr algn="l" indent="0" marL="0">
              <a:buNone/>
            </a:pPr>
            <a:r>
              <a:rPr lang="en-US" sz="1800" b="1" dirty="0">
                <a:solidFill>
                  <a:srgbClr val="1E3A8A"/>
                </a:solidFill>
                <a:latin typeface="Calibri" pitchFamily="34" charset="0"/>
                <a:ea typeface="Calibri" pitchFamily="34" charset="-122"/>
                <a:cs typeface="Calibri" pitchFamily="34" charset="-120"/>
              </a:rPr>
              <a:t>13. Academic &amp; Technical References</a:t>
            </a:r>
            <a:endParaRPr lang="en-US" sz="1800" dirty="0"/>
          </a:p>
        </p:txBody>
      </p:sp>
      <p:sp>
        <p:nvSpPr>
          <p:cNvPr id="3" name="Shape 1"/>
          <p:cNvSpPr/>
          <p:nvPr/>
        </p:nvSpPr>
        <p:spPr>
          <a:xfrm>
            <a:off x="365760" y="777240"/>
            <a:ext cx="8412480" cy="0"/>
          </a:xfrm>
          <a:prstGeom prst="line">
            <a:avLst/>
          </a:prstGeom>
          <a:noFill/>
          <a:ln w="12700">
            <a:solidFill>
              <a:srgbClr val="CBD5E1"/>
            </a:solidFill>
            <a:prstDash val="solid"/>
          </a:ln>
        </p:spPr>
      </p:sp>
      <p:pic>
        <p:nvPicPr>
          <p:cNvPr id="4" name="Image 0" descr="C:\Users\Lenovo\OneDrive\Desktop\Final_pro\BBSNS\For PPT Images\college logo.png">    </p:cNvPr>
          <p:cNvPicPr>
            <a:picLocks noChangeAspect="1"/>
          </p:cNvPicPr>
          <p:nvPr/>
        </p:nvPicPr>
        <p:blipFill>
          <a:blip r:embed="rId1"/>
          <a:stretch>
            <a:fillRect/>
          </a:stretch>
        </p:blipFill>
        <p:spPr>
          <a:xfrm>
            <a:off x="8229600" y="137160"/>
            <a:ext cx="594360" cy="594360"/>
          </a:xfrm>
          <a:prstGeom prst="rect">
            <a:avLst/>
          </a:prstGeom>
        </p:spPr>
      </p:pic>
      <p:sp>
        <p:nvSpPr>
          <p:cNvPr id="5" name="Text 2"/>
          <p:cNvSpPr/>
          <p:nvPr/>
        </p:nvSpPr>
        <p:spPr>
          <a:xfrm>
            <a:off x="365760" y="4800600"/>
            <a:ext cx="5486400" cy="274320"/>
          </a:xfrm>
          <a:prstGeom prst="rect">
            <a:avLst/>
          </a:prstGeom>
          <a:noFill/>
          <a:ln/>
        </p:spPr>
        <p:txBody>
          <a:bodyPr wrap="square"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Block-Chain Based Secure Notarization System (BBSNS)</a:t>
            </a:r>
            <a:endParaRPr lang="en-US" sz="850" dirty="0"/>
          </a:p>
        </p:txBody>
      </p:sp>
      <p:sp>
        <p:nvSpPr>
          <p:cNvPr id="6" name="Text 3"/>
          <p:cNvSpPr/>
          <p:nvPr/>
        </p:nvSpPr>
        <p:spPr>
          <a:xfrm>
            <a:off x="8046720" y="4800600"/>
            <a:ext cx="731520" cy="274320"/>
          </a:xfrm>
          <a:prstGeom prst="rect">
            <a:avLst/>
          </a:prstGeom>
          <a:noFill/>
          <a:ln/>
        </p:spPr>
        <p:txBody>
          <a:bodyPr wrap="square"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Slide 40</a:t>
            </a:r>
            <a:endParaRPr lang="en-US" sz="850" dirty="0"/>
          </a:p>
        </p:txBody>
      </p:sp>
      <p:sp>
        <p:nvSpPr>
          <p:cNvPr id="7" name="Text 4"/>
          <p:cNvSpPr/>
          <p:nvPr/>
        </p:nvSpPr>
        <p:spPr>
          <a:xfrm>
            <a:off x="365760" y="1005840"/>
            <a:ext cx="8412480" cy="3566160"/>
          </a:xfrm>
          <a:prstGeom prst="rect">
            <a:avLst/>
          </a:prstGeom>
          <a:noFill/>
          <a:ln/>
        </p:spPr>
        <p:txBody>
          <a:bodyPr wrap="square" lIns="63500" tIns="63500" rIns="63500" bIns="63500" rtlCol="0" anchor="t"/>
          <a:lstStyle/>
          <a:p>
            <a:r>
              <a:rPr lang="en-US" sz="1100" dirty="0">
                <a:solidFill>
                  <a:srgbClr val="334155"/>
                </a:solidFill>
                <a:latin typeface="Calibri" pitchFamily="34" charset="0"/>
                <a:ea typeface="Calibri" pitchFamily="34" charset="-122"/>
                <a:cs typeface="Calibri" pitchFamily="34" charset="-120"/>
              </a:rPr>
              <a:t>[1] Satoshi Nakamoto, "Bitcoin: A Peer-to-Peer Electronic Cash System," Decentralized Ledger Standard Paper, 2008.</a:t>
            </a:r>
            <a:endParaRPr lang="en-US" sz="1100" dirty="0"/>
          </a:p>
          <a:p>
            <a:r>
              <a:rPr lang="en-US" sz="1100" dirty="0">
                <a:solidFill>
                  <a:srgbClr val="334155"/>
                </a:solidFill>
                <a:latin typeface="Calibri" pitchFamily="34" charset="0"/>
                <a:ea typeface="Calibri" pitchFamily="34" charset="-122"/>
                <a:cs typeface="Calibri" pitchFamily="34" charset="-120"/>
              </a:rPr>
              <a:t>[2] Fabian Vogelsteller, Vitalik Buterin, "ERC-20 Token Standard Specification Protocol," Ethereum Improvement Proposals, EIP-20, 2015.</a:t>
            </a:r>
            <a:endParaRPr lang="en-US" sz="1100" dirty="0"/>
          </a:p>
          <a:p>
            <a:r>
              <a:rPr lang="en-US" sz="1100" dirty="0">
                <a:solidFill>
                  <a:srgbClr val="334155"/>
                </a:solidFill>
                <a:latin typeface="Calibri" pitchFamily="34" charset="0"/>
                <a:ea typeface="Calibri" pitchFamily="34" charset="-122"/>
                <a:cs typeface="Calibri" pitchFamily="34" charset="-120"/>
              </a:rPr>
              <a:t>[3] William Entriken, Dieter Shirley, Jacob Evans, Nastassia Sachs, "ERC-721 Non-Fungible Token Standard," Ethereum Improvement Proposals, EIP-721, 2018.</a:t>
            </a:r>
            <a:endParaRPr lang="en-US" sz="1100" dirty="0"/>
          </a:p>
          <a:p>
            <a:r>
              <a:rPr lang="en-US" sz="1100" dirty="0">
                <a:solidFill>
                  <a:srgbClr val="334155"/>
                </a:solidFill>
                <a:latin typeface="Calibri" pitchFamily="34" charset="0"/>
                <a:ea typeface="Calibri" pitchFamily="34" charset="-122"/>
                <a:cs typeface="Calibri" pitchFamily="34" charset="-120"/>
              </a:rPr>
              <a:t>[4] Nick Johnson, "EIP-712: Typed structured data hashing and signing," Ethereum Improvement Proposals, EIP-712, 2018.</a:t>
            </a:r>
            <a:endParaRPr lang="en-US" sz="1100" dirty="0"/>
          </a:p>
          <a:p>
            <a:r>
              <a:rPr lang="en-US" sz="1100" dirty="0">
                <a:solidFill>
                  <a:srgbClr val="334155"/>
                </a:solidFill>
                <a:latin typeface="Calibri" pitchFamily="34" charset="0"/>
                <a:ea typeface="Calibri" pitchFamily="34" charset="-122"/>
                <a:cs typeface="Calibri" pitchFamily="34" charset="-120"/>
              </a:rPr>
              <a:t>[5] John J. G. McAvoy, "Zero Trust Networks: Providing Secure Communications in Untrusted Environments," IEEE Security &amp; Privacy Journal, 2019.</a:t>
            </a:r>
            <a:endParaRPr lang="en-US" sz="1100" dirty="0"/>
          </a:p>
          <a:p>
            <a:r>
              <a:rPr lang="en-US" sz="1100" dirty="0">
                <a:solidFill>
                  <a:srgbClr val="334155"/>
                </a:solidFill>
                <a:latin typeface="Calibri" pitchFamily="34" charset="0"/>
                <a:ea typeface="Calibri" pitchFamily="34" charset="-122"/>
                <a:cs typeface="Calibri" pitchFamily="34" charset="-120"/>
              </a:rPr>
              <a:t>[6] FaceAPI.js Core Reference Manual, "TensorFlow-backed Facial Landmark Recognition in Browser Sandboxes," Web3-Crypto Conference, 2021.</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 cy="5143500"/>
          </a:xfrm>
          <a:prstGeom prst="rect">
            <a:avLst/>
          </a:prstGeom>
          <a:solidFill>
            <a:srgbClr val="1E3A8A"/>
          </a:solidFill>
          <a:ln w="12700">
            <a:solidFill>
              <a:srgbClr val="1E3A8A"/>
            </a:solidFill>
            <a:prstDash val="solid"/>
          </a:ln>
        </p:spPr>
      </p:sp>
      <p:pic>
        <p:nvPicPr>
          <p:cNvPr id="3" name="Image 0" descr="C:\Users\Lenovo\OneDrive\Desktop\Final_pro\BBSNS\For PPT Images\college logo.png">    </p:cNvPr>
          <p:cNvPicPr>
            <a:picLocks noChangeAspect="1"/>
          </p:cNvPicPr>
          <p:nvPr/>
        </p:nvPicPr>
        <p:blipFill>
          <a:blip r:embed="rId1"/>
          <a:stretch>
            <a:fillRect/>
          </a:stretch>
        </p:blipFill>
        <p:spPr>
          <a:xfrm>
            <a:off x="4069080" y="731520"/>
            <a:ext cx="1005840" cy="1005840"/>
          </a:xfrm>
          <a:prstGeom prst="rect">
            <a:avLst/>
          </a:prstGeom>
        </p:spPr>
      </p:pic>
      <p:sp>
        <p:nvSpPr>
          <p:cNvPr id="4" name="Text 1"/>
          <p:cNvSpPr/>
          <p:nvPr/>
        </p:nvSpPr>
        <p:spPr>
          <a:xfrm>
            <a:off x="457200" y="1920240"/>
            <a:ext cx="8229600" cy="365760"/>
          </a:xfrm>
          <a:prstGeom prst="rect">
            <a:avLst/>
          </a:prstGeom>
          <a:noFill/>
          <a:ln/>
        </p:spPr>
        <p:txBody>
          <a:bodyPr wrap="square" rtlCol="0" anchor="ctr"/>
          <a:lstStyle/>
          <a:p>
            <a:pPr algn="ctr" indent="0" marL="0">
              <a:buNone/>
            </a:pPr>
            <a:r>
              <a:rPr lang="en-US" sz="1350" b="1" dirty="0">
                <a:solidFill>
                  <a:srgbClr val="1E3A8A"/>
                </a:solidFill>
                <a:latin typeface="Calibri" pitchFamily="34" charset="0"/>
                <a:ea typeface="Calibri" pitchFamily="34" charset="-122"/>
                <a:cs typeface="Calibri" pitchFamily="34" charset="-120"/>
              </a:rPr>
              <a:t>Matoshri College of Engineering &amp; Research Centre, Nashik</a:t>
            </a:r>
            <a:endParaRPr lang="en-US" sz="1350" dirty="0"/>
          </a:p>
        </p:txBody>
      </p:sp>
      <p:sp>
        <p:nvSpPr>
          <p:cNvPr id="5" name="Text 2"/>
          <p:cNvSpPr/>
          <p:nvPr/>
        </p:nvSpPr>
        <p:spPr>
          <a:xfrm>
            <a:off x="457200" y="2286000"/>
            <a:ext cx="8229600" cy="27432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Department of Computer Engineering</a:t>
            </a:r>
            <a:endParaRPr lang="en-US" sz="1100" dirty="0"/>
          </a:p>
        </p:txBody>
      </p:sp>
      <p:sp>
        <p:nvSpPr>
          <p:cNvPr id="6" name="Text 3"/>
          <p:cNvSpPr/>
          <p:nvPr/>
        </p:nvSpPr>
        <p:spPr>
          <a:xfrm>
            <a:off x="457200" y="2834640"/>
            <a:ext cx="8229600" cy="548640"/>
          </a:xfrm>
          <a:prstGeom prst="rect">
            <a:avLst/>
          </a:prstGeom>
          <a:noFill/>
          <a:ln/>
        </p:spPr>
        <p:txBody>
          <a:bodyPr wrap="square" rtlCol="0" anchor="ctr"/>
          <a:lstStyle/>
          <a:p>
            <a:pPr algn="ctr" indent="0" marL="0">
              <a:buNone/>
            </a:pPr>
            <a:r>
              <a:rPr lang="en-US" sz="3600" b="1" dirty="0">
                <a:solidFill>
                  <a:srgbClr val="0F172A"/>
                </a:solidFill>
                <a:latin typeface="Calibri" pitchFamily="34" charset="0"/>
                <a:ea typeface="Calibri" pitchFamily="34" charset="-122"/>
                <a:cs typeface="Calibri" pitchFamily="34" charset="-120"/>
              </a:rPr>
              <a:t>THANK YOU!</a:t>
            </a:r>
            <a:endParaRPr lang="en-US" sz="3600" dirty="0"/>
          </a:p>
        </p:txBody>
      </p:sp>
      <p:sp>
        <p:nvSpPr>
          <p:cNvPr id="7" name="Text 4"/>
          <p:cNvSpPr/>
          <p:nvPr/>
        </p:nvSpPr>
        <p:spPr>
          <a:xfrm>
            <a:off x="457200" y="3474720"/>
            <a:ext cx="8229600" cy="274320"/>
          </a:xfrm>
          <a:prstGeom prst="rect">
            <a:avLst/>
          </a:prstGeom>
          <a:noFill/>
          <a:ln/>
        </p:spPr>
        <p:txBody>
          <a:bodyPr wrap="square"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Questions &amp; Discussion</a:t>
            </a:r>
            <a:endParaRPr lang="en-US" sz="1200" dirty="0"/>
          </a:p>
        </p:txBody>
      </p:sp>
      <p:sp>
        <p:nvSpPr>
          <p:cNvPr id="8" name="Text 5"/>
          <p:cNvSpPr/>
          <p:nvPr/>
        </p:nvSpPr>
        <p:spPr>
          <a:xfrm>
            <a:off x="457200" y="4114800"/>
            <a:ext cx="8229600" cy="548640"/>
          </a:xfrm>
          <a:prstGeom prst="rect">
            <a:avLst/>
          </a:prstGeom>
          <a:noFill/>
          <a:ln/>
        </p:spPr>
        <p:txBody>
          <a:bodyPr wrap="square"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Group Members: Adhude Ganesh Sanjay, Mate Shubham Vilas, Shaikh Humera Ibrahim, Shivale Bhakti Bhagwan</a:t>
            </a:r>
            <a:endParaRPr lang="en-US" sz="1000" dirty="0"/>
          </a:p>
          <a:p>
            <a:pPr algn="ctr" indent="0" marL="0">
              <a:buNone/>
            </a:pPr>
            <a:r>
              <a:rPr lang="en-US" sz="1000" dirty="0">
                <a:solidFill>
                  <a:srgbClr val="334155"/>
                </a:solidFill>
                <a:latin typeface="Calibri" pitchFamily="34" charset="0"/>
                <a:ea typeface="Calibri" pitchFamily="34" charset="-122"/>
                <a:cs typeface="Calibri" pitchFamily="34" charset="-120"/>
              </a:rPr>
              <a:t>Project Guide: Mrs. Riya B. Shikare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Blockchain Based Secure Notarization System</dc:title>
  <dc:subject>PptxGenJS Presentation</dc:subject>
  <dc:creator>BBSNS Capstone Team</dc:creator>
  <cp:lastModifiedBy>BBSNS Capstone Team</cp:lastModifiedBy>
  <cp:revision>1</cp:revision>
  <dcterms:created xsi:type="dcterms:W3CDTF">2026-06-21T19:16:11Z</dcterms:created>
  <dcterms:modified xsi:type="dcterms:W3CDTF">2026-06-21T19:16:11Z</dcterms:modified>
</cp:coreProperties>
</file>