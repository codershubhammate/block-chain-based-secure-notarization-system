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60" r:id="rId5"/>
    <p:sldId id="351" r:id="rId6"/>
    <p:sldId id="265" r:id="rId7"/>
    <p:sldId id="261" r:id="rId8"/>
    <p:sldId id="262" r:id="rId9"/>
    <p:sldId id="266" r:id="rId10"/>
    <p:sldId id="272" r:id="rId11"/>
    <p:sldId id="300" r:id="rId12"/>
    <p:sldId id="288" r:id="rId13"/>
    <p:sldId id="317" r:id="rId14"/>
    <p:sldId id="290" r:id="rId15"/>
    <p:sldId id="342" r:id="rId16"/>
    <p:sldId id="285" r:id="rId17"/>
    <p:sldId id="330" r:id="rId18"/>
    <p:sldId id="333" r:id="rId19"/>
    <p:sldId id="335" r:id="rId20"/>
    <p:sldId id="338" r:id="rId21"/>
    <p:sldId id="267" r:id="rId22"/>
    <p:sldId id="270" r:id="rId23"/>
    <p:sldId id="297" r:id="rId24"/>
    <p:sldId id="329" r:id="rId25"/>
    <p:sldId id="341" r:id="rId26"/>
    <p:sldId id="344" r:id="rId27"/>
    <p:sldId id="355" r:id="rId28"/>
    <p:sldId id="347" r:id="rId29"/>
    <p:sldId id="348" r:id="rId30"/>
    <p:sldId id="349" r:id="rId31"/>
    <p:sldId id="350" r:id="rId32"/>
    <p:sldId id="352" r:id="rId33"/>
    <p:sldId id="353" r:id="rId34"/>
    <p:sldId id="354" r:id="rId35"/>
    <p:sldId id="356" r:id="rId36"/>
    <p:sldId id="357" r:id="rId37"/>
    <p:sldId id="358" r:id="rId38"/>
    <p:sldId id="359" r:id="rId39"/>
    <p:sldId id="345" r:id="rId40"/>
    <p:sldId id="282" r:id="rId41"/>
    <p:sldId id="283" r:id="rId42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CFD5"/>
          </a:solidFill>
        </a:fill>
      </a:tcStyle>
    </a:wholeTbl>
    <a:band2H>
      <a:tcTxStyle/>
      <a:tcStyle>
        <a:tcBdr/>
        <a:fill>
          <a:solidFill>
            <a:srgbClr val="E8E9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E1EB"/>
          </a:solidFill>
        </a:fill>
      </a:tcStyle>
    </a:wholeTbl>
    <a:band2H>
      <a:tcTxStyle/>
      <a:tcStyle>
        <a:tcBdr/>
        <a:fill>
          <a:solidFill>
            <a:srgbClr val="EEF1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D4CA"/>
          </a:solidFill>
        </a:fill>
      </a:tcStyle>
    </a:wholeTbl>
    <a:band2H>
      <a:tcTxStyle/>
      <a:tcStyle>
        <a:tcBdr/>
        <a:fill>
          <a:solidFill>
            <a:srgbClr val="F7EB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chemeClr val="accent2"/>
        </a:fontRef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chemeClr val="accent2"/>
        </a:fontRef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CCE"/>
          </a:solidFill>
        </a:fill>
      </a:tcStyle>
    </a:wholeTbl>
    <a:band2H>
      <a:tcTxStyle/>
      <a:tcStyle>
        <a:tcBdr/>
        <a:fill>
          <a:solidFill>
            <a:srgbClr val="E7E7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firstCol>
    <a:lastRow>
      <a:tcTxStyle b="on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chemeClr val="accent2"/>
        </a:fontRef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8988670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89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571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11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952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94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;p2"/>
          <p:cNvSpPr/>
          <p:nvPr/>
        </p:nvSpPr>
        <p:spPr>
          <a:xfrm>
            <a:off x="7544482" y="657775"/>
            <a:ext cx="1299301" cy="432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7004" y="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pPr>
            <a:endParaRPr/>
          </a:p>
        </p:txBody>
      </p:sp>
      <p:grpSp>
        <p:nvGrpSpPr>
          <p:cNvPr id="14" name="Google Shape;11;p2"/>
          <p:cNvGrpSpPr/>
          <p:nvPr/>
        </p:nvGrpSpPr>
        <p:grpSpPr>
          <a:xfrm>
            <a:off x="0" y="-7089"/>
            <a:ext cx="8661398" cy="5150590"/>
            <a:chOff x="0" y="0"/>
            <a:chExt cx="8661396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7087"/>
              <a:ext cx="3525000" cy="514350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7" y="-1"/>
              <a:ext cx="5143500" cy="5143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defRPr>
              </a:pPr>
              <a:endParaRPr/>
            </a:p>
          </p:txBody>
        </p:sp>
      </p:grpSp>
      <p:grpSp>
        <p:nvGrpSpPr>
          <p:cNvPr id="17" name="Google Shape;14;p2"/>
          <p:cNvGrpSpPr/>
          <p:nvPr/>
        </p:nvGrpSpPr>
        <p:grpSpPr>
          <a:xfrm>
            <a:off x="0" y="1090762"/>
            <a:ext cx="8847502" cy="2961977"/>
            <a:chOff x="0" y="0"/>
            <a:chExt cx="8847501" cy="2961975"/>
          </a:xfrm>
        </p:grpSpPr>
        <p:sp>
          <p:nvSpPr>
            <p:cNvPr id="15" name="Google Shape;15;p2"/>
            <p:cNvSpPr/>
            <p:nvPr/>
          </p:nvSpPr>
          <p:spPr>
            <a:xfrm rot="10800000" flipH="1">
              <a:off x="0" y="0"/>
              <a:ext cx="5888951" cy="29619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defRPr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10800000" flipH="1">
              <a:off x="5885588" y="61"/>
              <a:ext cx="2961913" cy="2961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defRPr>
              </a:pPr>
              <a:endParaRPr/>
            </a:p>
          </p:txBody>
        </p:sp>
      </p:grpSp>
      <p:grpSp>
        <p:nvGrpSpPr>
          <p:cNvPr id="22" name="Google Shape;17;p2"/>
          <p:cNvGrpSpPr/>
          <p:nvPr/>
        </p:nvGrpSpPr>
        <p:grpSpPr>
          <a:xfrm>
            <a:off x="3677236" y="4278348"/>
            <a:ext cx="5480828" cy="432997"/>
            <a:chOff x="0" y="0"/>
            <a:chExt cx="5480828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-1" y="301596"/>
              <a:ext cx="394201" cy="131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004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21" name="Google Shape;19;p2"/>
            <p:cNvGrpSpPr/>
            <p:nvPr/>
          </p:nvGrpSpPr>
          <p:grpSpPr>
            <a:xfrm>
              <a:off x="2967" y="-1"/>
              <a:ext cx="5477862" cy="304552"/>
              <a:chOff x="0" y="0"/>
              <a:chExt cx="5477860" cy="304550"/>
            </a:xfrm>
          </p:grpSpPr>
          <p:sp>
            <p:nvSpPr>
              <p:cNvPr id="19" name="Google Shape;20;p2"/>
              <p:cNvSpPr/>
              <p:nvPr/>
            </p:nvSpPr>
            <p:spPr>
              <a:xfrm flipH="1">
                <a:off x="297547" y="1"/>
                <a:ext cx="5180314" cy="30455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0" name="Google Shape;21;p2"/>
              <p:cNvSpPr/>
              <p:nvPr/>
            </p:nvSpPr>
            <p:spPr>
              <a:xfrm flipH="1">
                <a:off x="0" y="0"/>
                <a:ext cx="304551" cy="3045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xfrm>
            <a:off x="685800" y="1090749"/>
            <a:ext cx="5367900" cy="2961902"/>
          </a:xfrm>
          <a:prstGeom prst="rect">
            <a:avLst/>
          </a:prstGeom>
        </p:spPr>
        <p:txBody>
          <a:bodyPr lIns="91424" tIns="91424" rIns="91424" bIns="91424"/>
          <a:lstStyle>
            <a:lvl1pPr defTabSz="914400">
              <a:lnSpc>
                <a:spcPct val="100000"/>
              </a:lnSpc>
              <a:defRPr sz="4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586937"/>
            <a:ext cx="2133600" cy="36065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62;p5"/>
          <p:cNvGrpSpPr/>
          <p:nvPr/>
        </p:nvGrpSpPr>
        <p:grpSpPr>
          <a:xfrm>
            <a:off x="6946841" y="4472723"/>
            <a:ext cx="2202831" cy="670795"/>
            <a:chOff x="0" y="0"/>
            <a:chExt cx="2202830" cy="670794"/>
          </a:xfrm>
        </p:grpSpPr>
        <p:sp>
          <p:nvSpPr>
            <p:cNvPr id="31" name="Google Shape;63;p5"/>
            <p:cNvSpPr/>
            <p:nvPr/>
          </p:nvSpPr>
          <p:spPr>
            <a:xfrm rot="10800000">
              <a:off x="0" y="475610"/>
              <a:ext cx="394201" cy="131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004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34" name="Google Shape;64;p5"/>
            <p:cNvGrpSpPr/>
            <p:nvPr/>
          </p:nvGrpSpPr>
          <p:grpSpPr>
            <a:xfrm>
              <a:off x="159608" y="-1"/>
              <a:ext cx="2040837" cy="670796"/>
              <a:chOff x="0" y="0"/>
              <a:chExt cx="2040836" cy="670794"/>
            </a:xfrm>
          </p:grpSpPr>
          <p:sp>
            <p:nvSpPr>
              <p:cNvPr id="32" name="Google Shape;65;p5"/>
              <p:cNvSpPr/>
              <p:nvPr/>
            </p:nvSpPr>
            <p:spPr>
              <a:xfrm flipH="1">
                <a:off x="668235" y="2"/>
                <a:ext cx="1372602" cy="670793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3" name="Google Shape;66;p5"/>
              <p:cNvSpPr/>
              <p:nvPr/>
            </p:nvSpPr>
            <p:spPr>
              <a:xfrm flipH="1">
                <a:off x="0" y="0"/>
                <a:ext cx="670963" cy="6707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37" name="Google Shape;67;p5"/>
            <p:cNvGrpSpPr/>
            <p:nvPr/>
          </p:nvGrpSpPr>
          <p:grpSpPr>
            <a:xfrm>
              <a:off x="2967" y="174015"/>
              <a:ext cx="2199864" cy="304563"/>
              <a:chOff x="0" y="0"/>
              <a:chExt cx="2199862" cy="304562"/>
            </a:xfrm>
          </p:grpSpPr>
          <p:sp>
            <p:nvSpPr>
              <p:cNvPr id="35" name="Google Shape;68;p5"/>
              <p:cNvSpPr/>
              <p:nvPr/>
            </p:nvSpPr>
            <p:spPr>
              <a:xfrm flipH="1">
                <a:off x="298156" y="12"/>
                <a:ext cx="1901707" cy="304551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6" name="Google Shape;69;p5"/>
              <p:cNvSpPr/>
              <p:nvPr/>
            </p:nvSpPr>
            <p:spPr>
              <a:xfrm flipH="1">
                <a:off x="0" y="0"/>
                <a:ext cx="304551" cy="3045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</p:grpSp>
      <p:grpSp>
        <p:nvGrpSpPr>
          <p:cNvPr id="46" name="Google Shape;70;p5"/>
          <p:cNvGrpSpPr/>
          <p:nvPr/>
        </p:nvGrpSpPr>
        <p:grpSpPr>
          <a:xfrm>
            <a:off x="-8" y="120"/>
            <a:ext cx="7072431" cy="1327316"/>
            <a:chOff x="-3" y="80"/>
            <a:chExt cx="7072430" cy="1327315"/>
          </a:xfrm>
        </p:grpSpPr>
        <p:sp>
          <p:nvSpPr>
            <p:cNvPr id="39" name="Google Shape;71;p5"/>
            <p:cNvSpPr/>
            <p:nvPr/>
          </p:nvSpPr>
          <p:spPr>
            <a:xfrm>
              <a:off x="6292649" y="126424"/>
              <a:ext cx="779701" cy="259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004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defRPr>
              </a:pPr>
              <a:endParaRPr/>
            </a:p>
          </p:txBody>
        </p:sp>
        <p:grpSp>
          <p:nvGrpSpPr>
            <p:cNvPr id="42" name="Google Shape;72;p5"/>
            <p:cNvGrpSpPr/>
            <p:nvPr/>
          </p:nvGrpSpPr>
          <p:grpSpPr>
            <a:xfrm>
              <a:off x="6" y="80"/>
              <a:ext cx="6756168" cy="1327316"/>
              <a:chOff x="3" y="40"/>
              <a:chExt cx="6756167" cy="1327315"/>
            </a:xfrm>
          </p:grpSpPr>
          <p:sp>
            <p:nvSpPr>
              <p:cNvPr id="40" name="Google Shape;73;p5"/>
              <p:cNvSpPr/>
              <p:nvPr/>
            </p:nvSpPr>
            <p:spPr>
              <a:xfrm rot="10800000" flipH="1">
                <a:off x="3" y="40"/>
                <a:ext cx="5434355" cy="1327311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  <p:sp>
            <p:nvSpPr>
              <p:cNvPr id="41" name="Google Shape;74;p5"/>
              <p:cNvSpPr/>
              <p:nvPr/>
            </p:nvSpPr>
            <p:spPr>
              <a:xfrm rot="10800000" flipH="1">
                <a:off x="5428861" y="44"/>
                <a:ext cx="1327310" cy="13273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</p:grpSp>
        <p:grpSp>
          <p:nvGrpSpPr>
            <p:cNvPr id="45" name="Google Shape;75;p5"/>
            <p:cNvGrpSpPr/>
            <p:nvPr/>
          </p:nvGrpSpPr>
          <p:grpSpPr>
            <a:xfrm>
              <a:off x="-4" y="381007"/>
              <a:ext cx="7072431" cy="771745"/>
              <a:chOff x="0" y="0"/>
              <a:chExt cx="7072430" cy="771743"/>
            </a:xfrm>
          </p:grpSpPr>
          <p:sp>
            <p:nvSpPr>
              <p:cNvPr id="43" name="Google Shape;76;p5"/>
              <p:cNvSpPr/>
              <p:nvPr/>
            </p:nvSpPr>
            <p:spPr>
              <a:xfrm rot="10800000" flipH="1">
                <a:off x="0" y="0"/>
                <a:ext cx="6303908" cy="7717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  <p:sp>
            <p:nvSpPr>
              <p:cNvPr id="44" name="Google Shape;77;p5"/>
              <p:cNvSpPr/>
              <p:nvPr/>
            </p:nvSpPr>
            <p:spPr>
              <a:xfrm rot="10800000" flipH="1">
                <a:off x="6300687" y="0"/>
                <a:ext cx="771744" cy="7717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</p:grpSp>
      </p:grpSp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1"/>
          </a:xfrm>
          <a:prstGeom prst="rect">
            <a:avLst/>
          </a:prstGeom>
        </p:spPr>
        <p:txBody>
          <a:bodyPr lIns="91424" tIns="91424" rIns="91424" bIns="91424"/>
          <a:lstStyle>
            <a:lvl1pPr defTabSz="914400">
              <a:lnSpc>
                <a:spcPct val="10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idx="1"/>
          </p:nvPr>
        </p:nvSpPr>
        <p:spPr>
          <a:xfrm>
            <a:off x="814275" y="1327349"/>
            <a:ext cx="6132601" cy="3145502"/>
          </a:xfrm>
          <a:prstGeom prst="rect">
            <a:avLst/>
          </a:prstGeom>
        </p:spPr>
        <p:txBody>
          <a:bodyPr lIns="91424" tIns="91424" rIns="91424" bIns="91424" anchor="ctr"/>
          <a:lstStyle>
            <a:lvl1pPr marL="4572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▰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40334" y="4613974"/>
            <a:ext cx="365067" cy="36065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82;p6"/>
          <p:cNvGrpSpPr/>
          <p:nvPr/>
        </p:nvGrpSpPr>
        <p:grpSpPr>
          <a:xfrm>
            <a:off x="-8" y="120"/>
            <a:ext cx="7072431" cy="1327316"/>
            <a:chOff x="-3" y="80"/>
            <a:chExt cx="7072430" cy="1327315"/>
          </a:xfrm>
        </p:grpSpPr>
        <p:sp>
          <p:nvSpPr>
            <p:cNvPr id="56" name="Google Shape;83;p6"/>
            <p:cNvSpPr/>
            <p:nvPr/>
          </p:nvSpPr>
          <p:spPr>
            <a:xfrm>
              <a:off x="6292649" y="126424"/>
              <a:ext cx="779701" cy="259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004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defRPr>
              </a:pPr>
              <a:endParaRPr/>
            </a:p>
          </p:txBody>
        </p:sp>
        <p:grpSp>
          <p:nvGrpSpPr>
            <p:cNvPr id="59" name="Google Shape;84;p6"/>
            <p:cNvGrpSpPr/>
            <p:nvPr/>
          </p:nvGrpSpPr>
          <p:grpSpPr>
            <a:xfrm>
              <a:off x="6" y="80"/>
              <a:ext cx="6756168" cy="1327316"/>
              <a:chOff x="3" y="40"/>
              <a:chExt cx="6756167" cy="1327315"/>
            </a:xfrm>
          </p:grpSpPr>
          <p:sp>
            <p:nvSpPr>
              <p:cNvPr id="57" name="Google Shape;85;p6"/>
              <p:cNvSpPr/>
              <p:nvPr/>
            </p:nvSpPr>
            <p:spPr>
              <a:xfrm rot="10800000" flipH="1">
                <a:off x="3" y="40"/>
                <a:ext cx="5434355" cy="1327311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  <p:sp>
            <p:nvSpPr>
              <p:cNvPr id="58" name="Google Shape;86;p6"/>
              <p:cNvSpPr/>
              <p:nvPr/>
            </p:nvSpPr>
            <p:spPr>
              <a:xfrm rot="10800000" flipH="1">
                <a:off x="5428861" y="44"/>
                <a:ext cx="1327310" cy="13273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</p:grpSp>
        <p:grpSp>
          <p:nvGrpSpPr>
            <p:cNvPr id="62" name="Google Shape;87;p6"/>
            <p:cNvGrpSpPr/>
            <p:nvPr/>
          </p:nvGrpSpPr>
          <p:grpSpPr>
            <a:xfrm>
              <a:off x="-4" y="381007"/>
              <a:ext cx="7072431" cy="771745"/>
              <a:chOff x="0" y="0"/>
              <a:chExt cx="7072430" cy="771743"/>
            </a:xfrm>
          </p:grpSpPr>
          <p:sp>
            <p:nvSpPr>
              <p:cNvPr id="60" name="Google Shape;88;p6"/>
              <p:cNvSpPr/>
              <p:nvPr/>
            </p:nvSpPr>
            <p:spPr>
              <a:xfrm rot="10800000" flipH="1">
                <a:off x="0" y="0"/>
                <a:ext cx="6303908" cy="771744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  <p:sp>
            <p:nvSpPr>
              <p:cNvPr id="61" name="Google Shape;89;p6"/>
              <p:cNvSpPr/>
              <p:nvPr/>
            </p:nvSpPr>
            <p:spPr>
              <a:xfrm rot="10800000" flipH="1">
                <a:off x="6300687" y="0"/>
                <a:ext cx="771744" cy="7717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  <a:latin typeface="Arvo"/>
                    <a:ea typeface="Arvo"/>
                    <a:cs typeface="Arvo"/>
                    <a:sym typeface="Arvo"/>
                  </a:defRPr>
                </a:pPr>
                <a:endParaRPr/>
              </a:p>
            </p:txBody>
          </p:sp>
        </p:grpSp>
      </p:grpSp>
      <p:grpSp>
        <p:nvGrpSpPr>
          <p:cNvPr id="71" name="Google Shape;90;p6"/>
          <p:cNvGrpSpPr/>
          <p:nvPr/>
        </p:nvGrpSpPr>
        <p:grpSpPr>
          <a:xfrm>
            <a:off x="6946841" y="4472723"/>
            <a:ext cx="2202831" cy="670795"/>
            <a:chOff x="0" y="0"/>
            <a:chExt cx="2202830" cy="670794"/>
          </a:xfrm>
        </p:grpSpPr>
        <p:sp>
          <p:nvSpPr>
            <p:cNvPr id="64" name="Google Shape;91;p6"/>
            <p:cNvSpPr/>
            <p:nvPr/>
          </p:nvSpPr>
          <p:spPr>
            <a:xfrm rot="10800000">
              <a:off x="0" y="475610"/>
              <a:ext cx="394201" cy="131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004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67" name="Google Shape;92;p6"/>
            <p:cNvGrpSpPr/>
            <p:nvPr/>
          </p:nvGrpSpPr>
          <p:grpSpPr>
            <a:xfrm>
              <a:off x="159608" y="-1"/>
              <a:ext cx="2040837" cy="670796"/>
              <a:chOff x="0" y="0"/>
              <a:chExt cx="2040836" cy="670794"/>
            </a:xfrm>
          </p:grpSpPr>
          <p:sp>
            <p:nvSpPr>
              <p:cNvPr id="65" name="Google Shape;93;p6"/>
              <p:cNvSpPr/>
              <p:nvPr/>
            </p:nvSpPr>
            <p:spPr>
              <a:xfrm flipH="1">
                <a:off x="668235" y="2"/>
                <a:ext cx="1372602" cy="670793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6" name="Google Shape;94;p6"/>
              <p:cNvSpPr/>
              <p:nvPr/>
            </p:nvSpPr>
            <p:spPr>
              <a:xfrm flipH="1">
                <a:off x="0" y="0"/>
                <a:ext cx="670963" cy="6707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70" name="Google Shape;95;p6"/>
            <p:cNvGrpSpPr/>
            <p:nvPr/>
          </p:nvGrpSpPr>
          <p:grpSpPr>
            <a:xfrm>
              <a:off x="2967" y="174015"/>
              <a:ext cx="2199864" cy="304563"/>
              <a:chOff x="0" y="0"/>
              <a:chExt cx="2199862" cy="304562"/>
            </a:xfrm>
          </p:grpSpPr>
          <p:sp>
            <p:nvSpPr>
              <p:cNvPr id="68" name="Google Shape;96;p6"/>
              <p:cNvSpPr/>
              <p:nvPr/>
            </p:nvSpPr>
            <p:spPr>
              <a:xfrm flipH="1">
                <a:off x="298156" y="12"/>
                <a:ext cx="1901707" cy="304551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9" name="Google Shape;97;p6"/>
              <p:cNvSpPr/>
              <p:nvPr/>
            </p:nvSpPr>
            <p:spPr>
              <a:xfrm flipH="1">
                <a:off x="0" y="0"/>
                <a:ext cx="304551" cy="3045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258400" cy="766201"/>
          </a:xfrm>
          <a:prstGeom prst="rect">
            <a:avLst/>
          </a:prstGeom>
        </p:spPr>
        <p:txBody>
          <a:bodyPr lIns="91424" tIns="91424" rIns="91424" bIns="91424"/>
          <a:lstStyle>
            <a:lvl1pPr defTabSz="914400">
              <a:lnSpc>
                <a:spcPct val="10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14275" y="1537988"/>
            <a:ext cx="3378301" cy="2724300"/>
          </a:xfrm>
          <a:prstGeom prst="rect">
            <a:avLst/>
          </a:prstGeom>
        </p:spPr>
        <p:txBody>
          <a:bodyPr lIns="91424" tIns="91424" rIns="91424" bIns="91424"/>
          <a:lstStyle>
            <a:lvl1pPr marL="457200" indent="-3556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000"/>
              <a:buFont typeface="Helvetica"/>
              <a:buChar char="▰"/>
              <a:defRPr sz="20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indent="-3556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000"/>
              <a:buFont typeface="Helvetica"/>
              <a:buChar char="▻"/>
              <a:defRPr sz="20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indent="-3556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000"/>
              <a:buFont typeface="Helvetica"/>
              <a:buChar char="▻"/>
              <a:defRPr sz="20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indent="-3556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000"/>
              <a:buFont typeface="Helvetica"/>
              <a:buChar char="▻"/>
              <a:defRPr sz="20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indent="-3556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000"/>
              <a:buFont typeface="Helvetica"/>
              <a:buChar char="▻"/>
              <a:defRPr sz="20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Google Shape;100;p6"/>
          <p:cNvSpPr txBox="1">
            <a:spLocks noGrp="1"/>
          </p:cNvSpPr>
          <p:nvPr>
            <p:ph type="body" sz="quarter" idx="21"/>
          </p:nvPr>
        </p:nvSpPr>
        <p:spPr>
          <a:xfrm>
            <a:off x="4396123" y="1537988"/>
            <a:ext cx="3378301" cy="2724300"/>
          </a:xfrm>
          <a:prstGeom prst="rect">
            <a:avLst/>
          </a:prstGeom>
        </p:spPr>
        <p:txBody>
          <a:bodyPr lIns="91424" tIns="91424" rIns="91424" bIns="91424"/>
          <a:lstStyle/>
          <a:p>
            <a:pPr marL="457200" indent="-3556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000"/>
              <a:buFont typeface="Helvetica"/>
              <a:buChar char="▰"/>
              <a:defRPr sz="20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40334" y="4613974"/>
            <a:ext cx="365067" cy="36065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258400" cy="766201"/>
          </a:xfrm>
          <a:prstGeom prst="rect">
            <a:avLst/>
          </a:prstGeom>
        </p:spPr>
        <p:txBody>
          <a:bodyPr lIns="91424" tIns="91424" rIns="91424" bIns="91424"/>
          <a:lstStyle>
            <a:lvl1pPr defTabSz="914400">
              <a:lnSpc>
                <a:spcPct val="10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idx="1"/>
          </p:nvPr>
        </p:nvSpPr>
        <p:spPr>
          <a:xfrm>
            <a:off x="814275" y="1327349"/>
            <a:ext cx="6132601" cy="3145502"/>
          </a:xfrm>
          <a:prstGeom prst="rect">
            <a:avLst/>
          </a:prstGeom>
        </p:spPr>
        <p:txBody>
          <a:bodyPr lIns="91424" tIns="91424" rIns="91424" bIns="91424" anchor="ctr"/>
          <a:lstStyle>
            <a:lvl1pPr marL="4572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▰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indent="-381000" defTabSz="914400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SzPts val="2400"/>
              <a:buFont typeface="Helvetica"/>
              <a:buChar char="▻"/>
              <a:defRPr sz="2400">
                <a:solidFill>
                  <a:schemeClr val="accent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40334" y="4613974"/>
            <a:ext cx="365067" cy="36065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2701527"/>
            <a:ext cx="6858000" cy="124182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Text"/>
          <p:cNvSpPr txBox="1">
            <a:spLocks noGrp="1"/>
          </p:cNvSpPr>
          <p:nvPr>
            <p:ph type="title"/>
          </p:nvPr>
        </p:nvSpPr>
        <p:spPr>
          <a:xfrm>
            <a:off x="623887" y="1282303"/>
            <a:ext cx="7886701" cy="2139554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1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3442098"/>
            <a:ext cx="7886701" cy="112514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Text"/>
          <p:cNvSpPr txBox="1">
            <a:spLocks noGrp="1"/>
          </p:cNvSpPr>
          <p:nvPr>
            <p:ph type="title"/>
          </p:nvPr>
        </p:nvSpPr>
        <p:spPr>
          <a:xfrm>
            <a:off x="629841" y="273843"/>
            <a:ext cx="7886701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260871"/>
            <a:ext cx="3868341" cy="61793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800" b="1"/>
            </a:lvl1pPr>
            <a:lvl2pPr marL="0" indent="342900">
              <a:buSzTx/>
              <a:buFontTx/>
              <a:buNone/>
              <a:defRPr sz="1800" b="1"/>
            </a:lvl2pPr>
            <a:lvl3pPr marL="0" indent="685800">
              <a:buSzTx/>
              <a:buFontTx/>
              <a:buNone/>
              <a:defRPr sz="1800" b="1"/>
            </a:lvl3pPr>
            <a:lvl4pPr marL="0" indent="1028700">
              <a:buSzTx/>
              <a:buFontTx/>
              <a:buNone/>
              <a:defRPr sz="1800" b="1"/>
            </a:lvl4pPr>
            <a:lvl5pPr marL="0" indent="1371600">
              <a:buSzTx/>
              <a:buFontTx/>
              <a:buNone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50" y="1260871"/>
            <a:ext cx="3887392" cy="617935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800" b="1"/>
            </a:pPr>
            <a:endParaRPr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2" indent="-195942">
              <a:defRPr sz="2400"/>
            </a:lvl2pPr>
            <a:lvl3pPr marL="914400" indent="-228600">
              <a:defRPr sz="2400"/>
            </a:lvl3pPr>
            <a:lvl4pPr marL="1303019" indent="-274319">
              <a:defRPr sz="2400"/>
            </a:lvl4pPr>
            <a:lvl5pPr marL="1645920" indent="-274320"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1543050"/>
            <a:ext cx="2949180" cy="285869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200"/>
            </a:pPr>
            <a:endParaRPr/>
          </a:p>
        </p:txBody>
      </p:sp>
      <p:sp>
        <p:nvSpPr>
          <p:cNvPr id="1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87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543050"/>
            <a:ext cx="2949178" cy="28586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342900">
              <a:buSzTx/>
              <a:buFontTx/>
              <a:buNone/>
              <a:defRPr sz="1200"/>
            </a:lvl2pPr>
            <a:lvl3pPr marL="0" indent="685800">
              <a:buSzTx/>
              <a:buFontTx/>
              <a:buNone/>
              <a:defRPr sz="1200"/>
            </a:lvl3pPr>
            <a:lvl4pPr marL="0" indent="1028700">
              <a:buSzTx/>
              <a:buFontTx/>
              <a:buNone/>
              <a:defRPr sz="1200"/>
            </a:lvl4pPr>
            <a:lvl5pPr marL="0" indent="1371600">
              <a:buSzTx/>
              <a:buFont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84073" y="4796834"/>
            <a:ext cx="231278" cy="21470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285875" marR="0" indent="-25717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1628775" marR="0" indent="-25717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1971675" marR="0" indent="-25717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2314575" marR="0" indent="-25717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2657475" marR="0" indent="-25717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3000375" marR="0" indent="-25717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7"/>
          <p:cNvSpPr txBox="1"/>
          <p:nvPr/>
        </p:nvSpPr>
        <p:spPr>
          <a:xfrm>
            <a:off x="767385" y="822244"/>
            <a:ext cx="7742454" cy="931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90" tIns="34290" rIns="34290" bIns="34290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/>
              <a:t> </a:t>
            </a:r>
            <a:endParaRPr sz="2400" dirty="0"/>
          </a:p>
          <a:p>
            <a:pPr>
              <a:defRPr sz="16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/>
              <a:t>      </a:t>
            </a:r>
            <a:r>
              <a:rPr lang="en-US" sz="2800" dirty="0"/>
              <a:t>    </a:t>
            </a:r>
            <a:r>
              <a:rPr sz="2800" dirty="0"/>
              <a:t>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Blockchain Based Tender Allocation System </a:t>
            </a:r>
            <a:endParaRPr sz="23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Box 8"/>
          <p:cNvSpPr txBox="1"/>
          <p:nvPr/>
        </p:nvSpPr>
        <p:spPr>
          <a:xfrm>
            <a:off x="2676530" y="2291352"/>
            <a:ext cx="4554145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pPr>
            <a:endParaRPr dirty="0"/>
          </a:p>
        </p:txBody>
      </p:sp>
      <p:sp>
        <p:nvSpPr>
          <p:cNvPr id="204" name="Rectangle 1"/>
          <p:cNvSpPr/>
          <p:nvPr/>
        </p:nvSpPr>
        <p:spPr>
          <a:xfrm>
            <a:off x="101600" y="71119"/>
            <a:ext cx="8961120" cy="4978401"/>
          </a:xfrm>
          <a:prstGeom prst="rect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208" name="Content Placeholder 4" descr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665" y="113234"/>
            <a:ext cx="1444261" cy="102794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F7CB1-BB0F-0E6A-5301-4E7953C032D7}"/>
              </a:ext>
            </a:extLst>
          </p:cNvPr>
          <p:cNvSpPr txBox="1"/>
          <p:nvPr/>
        </p:nvSpPr>
        <p:spPr>
          <a:xfrm>
            <a:off x="2220865" y="-49198"/>
            <a:ext cx="4641156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Project Presentation</a:t>
            </a:r>
            <a:br>
              <a:rPr lang="en-US" sz="1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1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Name of Topic</a:t>
            </a:r>
            <a:endParaRPr 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09B3F-0DF4-0623-2D8D-A3BE9CB26279}"/>
              </a:ext>
            </a:extLst>
          </p:cNvPr>
          <p:cNvSpPr txBox="1"/>
          <p:nvPr/>
        </p:nvSpPr>
        <p:spPr>
          <a:xfrm>
            <a:off x="1496645" y="1771308"/>
            <a:ext cx="608959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 and Roll No. of Students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99CDE-EF83-831D-03EA-9156CA0328F1}"/>
              </a:ext>
            </a:extLst>
          </p:cNvPr>
          <p:cNvSpPr txBox="1"/>
          <p:nvPr/>
        </p:nvSpPr>
        <p:spPr>
          <a:xfrm>
            <a:off x="1184442" y="3593552"/>
            <a:ext cx="6604426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Name of Guide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Minakshi Gite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Department of Information Technology</a:t>
            </a:r>
          </a:p>
          <a:p>
            <a:pPr algn="ctr"/>
            <a:r>
              <a:rPr lang="en-US" sz="1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Matoshri  College of Engineering &amp; Research Centre, Nashik .</a:t>
            </a:r>
          </a:p>
          <a:p>
            <a:pPr algn="ctr"/>
            <a:r>
              <a:rPr lang="en-US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SAVITRIBAI PHULE PUNE UNIVERSITY 2024-2025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F0C938-DCB4-A3A8-B293-9A53B9B1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825124"/>
              </p:ext>
            </p:extLst>
          </p:nvPr>
        </p:nvGraphicFramePr>
        <p:xfrm>
          <a:off x="2919412" y="2330609"/>
          <a:ext cx="3305175" cy="1341120"/>
        </p:xfrm>
        <a:graphic>
          <a:graphicData uri="http://schemas.openxmlformats.org/drawingml/2006/table">
            <a:tbl>
              <a:tblPr/>
              <a:tblGrid>
                <a:gridCol w="2600325">
                  <a:extLst>
                    <a:ext uri="{9D8B030D-6E8A-4147-A177-3AD203B41FA5}">
                      <a16:colId xmlns:a16="http://schemas.microsoft.com/office/drawing/2014/main" val="119106941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36431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Ankita Kashinath Kahandal 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(6)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565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Pragati Prakash </a:t>
                      </a:r>
                      <a:r>
                        <a:rPr lang="en-IN" sz="1600" b="0" i="0" dirty="0" err="1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Bhor</a:t>
                      </a: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 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(11)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518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Puja Arun Pawar 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(42)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05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Roshani Arun </a:t>
                      </a:r>
                      <a:r>
                        <a:rPr lang="en-IN" sz="1600" b="0" i="0" dirty="0" err="1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Randhe</a:t>
                      </a: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 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dirty="0">
                          <a:solidFill>
                            <a:srgbClr val="292B2C"/>
                          </a:solidFill>
                          <a:effectLst/>
                          <a:latin typeface="TimesNewRomanPSMT"/>
                        </a:rPr>
                        <a:t>(44)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93080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C220F65F-5EC2-D3AD-325A-7D9F704D4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2330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184;p11"/>
          <p:cNvSpPr txBox="1">
            <a:spLocks noGrp="1"/>
          </p:cNvSpPr>
          <p:nvPr>
            <p:ph type="title"/>
          </p:nvPr>
        </p:nvSpPr>
        <p:spPr>
          <a:xfrm>
            <a:off x="103552" y="838446"/>
            <a:ext cx="7729775" cy="2961902"/>
          </a:xfrm>
          <a:prstGeom prst="rect">
            <a:avLst/>
          </a:prstGeom>
        </p:spPr>
        <p:txBody>
          <a:bodyPr/>
          <a:lstStyle>
            <a:lvl1pPr marL="571500" indent="-571500">
              <a:buClr>
                <a:srgbClr val="FFFFFF"/>
              </a:buClr>
              <a:buSzPts val="4000"/>
              <a:buChar char="➢"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Blockchain Based Tender Allocation System</a:t>
            </a:r>
            <a:endParaRPr lang="en-US" dirty="0">
              <a:solidFill>
                <a:schemeClr val="bg1"/>
              </a:solidFill>
              <a:latin typeface="TimesNewRomanPSMT"/>
              <a:cs typeface="Times New Roman" panose="02020603050405020304" pitchFamily="18" charset="0"/>
            </a:endParaRPr>
          </a:p>
        </p:txBody>
      </p:sp>
      <p:sp>
        <p:nvSpPr>
          <p:cNvPr id="211" name="Rectangle 5"/>
          <p:cNvSpPr/>
          <p:nvPr/>
        </p:nvSpPr>
        <p:spPr>
          <a:xfrm>
            <a:off x="101600" y="71119"/>
            <a:ext cx="8961120" cy="497840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2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823" y="154799"/>
            <a:ext cx="940401" cy="856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D06687B-E819-61CF-954C-FD5DD2D68A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682840" y="4240817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258400" cy="766202"/>
          </a:xfrm>
          <a:prstGeom prst="rect">
            <a:avLst/>
          </a:prstGeom>
        </p:spPr>
        <p:txBody>
          <a:bodyPr/>
          <a:lstStyle/>
          <a:p>
            <a:r>
              <a:rPr dirty="0"/>
              <a:t>Content of this Project</a:t>
            </a:r>
          </a:p>
        </p:txBody>
      </p:sp>
      <p:sp>
        <p:nvSpPr>
          <p:cNvPr id="215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53788" y="1402277"/>
            <a:ext cx="4410635" cy="2938940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Literature Review  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System Architecture and High level design of the project (DFD , UML).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Project Requirement specification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6000" b="1" dirty="0"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r>
              <a:rPr lang="en-US" sz="60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Models Used</a:t>
            </a:r>
          </a:p>
          <a:p>
            <a:pPr marL="582930" indent="-28575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6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60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60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443484" indent="-344931" defTabSz="886968">
              <a:spcBef>
                <a:spcPts val="500"/>
              </a:spcBef>
              <a:buClr>
                <a:srgbClr val="426294"/>
              </a:buClr>
              <a:buSzPts val="1800"/>
              <a:buFontTx/>
              <a:buChar char="▪"/>
              <a:defRPr sz="1843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</p:txBody>
      </p:sp>
      <p:sp>
        <p:nvSpPr>
          <p:cNvPr id="216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2</a:t>
            </a:r>
            <a:endParaRPr dirty="0"/>
          </a:p>
        </p:txBody>
      </p:sp>
      <p:grpSp>
        <p:nvGrpSpPr>
          <p:cNvPr id="222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218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19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20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21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23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252FCF2-E4FD-D7E4-B3D8-2176C396CDCE}"/>
              </a:ext>
            </a:extLst>
          </p:cNvPr>
          <p:cNvSpPr txBox="1">
            <a:spLocks/>
          </p:cNvSpPr>
          <p:nvPr/>
        </p:nvSpPr>
        <p:spPr>
          <a:xfrm>
            <a:off x="4572000" y="1402277"/>
            <a:ext cx="4465252" cy="214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 fontScale="25000" lnSpcReduction="20000"/>
          </a:bodyPr>
          <a:lstStyle>
            <a:lvl1pPr marL="457200" marR="0" indent="-355600" algn="l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Helvetica"/>
              <a:buChar char="▰"/>
              <a:tabLst/>
              <a:defRPr sz="2000" b="0" i="0" u="none" strike="noStrike" cap="none" spc="0" baseline="0">
                <a:solidFill>
                  <a:schemeClr val="accent2"/>
                </a:solidFill>
                <a:uFillTx/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indent="-355600" algn="l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Helvetica"/>
              <a:buChar char="▻"/>
              <a:tabLst/>
              <a:defRPr sz="2000" b="0" i="0" u="none" strike="noStrike" cap="none" spc="0" baseline="0">
                <a:solidFill>
                  <a:schemeClr val="accent2"/>
                </a:solidFill>
                <a:uFillTx/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indent="-355600" algn="l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Helvetica"/>
              <a:buChar char="▻"/>
              <a:tabLst/>
              <a:defRPr sz="2000" b="0" i="0" u="none" strike="noStrike" cap="none" spc="0" baseline="0">
                <a:solidFill>
                  <a:schemeClr val="accent2"/>
                </a:solidFill>
                <a:uFillTx/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indent="-355600" algn="l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Helvetica"/>
              <a:buChar char="▻"/>
              <a:tabLst/>
              <a:defRPr sz="2000" b="0" i="0" u="none" strike="noStrike" cap="none" spc="0" baseline="0">
                <a:solidFill>
                  <a:schemeClr val="accent2"/>
                </a:solidFill>
                <a:uFillTx/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indent="-355600" algn="l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Helvetica"/>
              <a:buChar char="▻"/>
              <a:tabLst/>
              <a:defRPr sz="2000" b="0" i="0" u="none" strike="noStrike" cap="none" spc="0" baseline="0">
                <a:solidFill>
                  <a:schemeClr val="accent2"/>
                </a:solidFill>
                <a:uFillTx/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1971675" marR="0" indent="-257175" algn="l" defTabSz="685800" rtl="0" latinLnBrk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1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2314575" marR="0" indent="-257175" algn="l" defTabSz="685800" rtl="0" latinLnBrk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1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2657475" marR="0" indent="-257175" algn="l" defTabSz="685800" rtl="0" latinLnBrk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1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3000375" marR="0" indent="-257175" algn="l" defTabSz="685800" rtl="0" latinLnBrk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1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</a:t>
            </a: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anose="02020603050405020304" pitchFamily="18" charset="0"/>
                <a:cs typeface="Times New Roman" pitchFamily="18" charset="0"/>
              </a:rPr>
              <a:t>Advantages </a:t>
            </a: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6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anose="02020603050405020304" pitchFamily="18" charset="0"/>
                <a:cs typeface="Times New Roman" pitchFamily="18" charset="0"/>
              </a:rPr>
              <a:t>Conclusions  </a:t>
            </a: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anose="02020603050405020304" pitchFamily="18" charset="0"/>
                <a:cs typeface="Times New Roman" pitchFamily="18" charset="0"/>
              </a:rPr>
              <a:t>Future Scope</a:t>
            </a: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outputs</a:t>
            </a: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  <a:endParaRPr lang="en-US" sz="6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6000" b="1" dirty="0">
                <a:latin typeface="Times New Roman" panose="02020603050405020304" pitchFamily="18" charset="0"/>
                <a:cs typeface="Times New Roman" pitchFamily="18" charset="0"/>
              </a:rPr>
              <a:t>References</a:t>
            </a:r>
          </a:p>
          <a:p>
            <a:pPr marL="582930" indent="-285750" algn="just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582930" indent="-285750" algn="just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443484" indent="-344931" defTabSz="886968" hangingPunct="1">
              <a:spcBef>
                <a:spcPts val="500"/>
              </a:spcBef>
              <a:buClr>
                <a:srgbClr val="426294"/>
              </a:buClr>
              <a:buSzPts val="1800"/>
              <a:buFontTx/>
              <a:buChar char="▪"/>
              <a:defRPr sz="1843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1843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1"/>
          <p:cNvSpPr txBox="1">
            <a:spLocks noGrp="1"/>
          </p:cNvSpPr>
          <p:nvPr>
            <p:ph type="title"/>
          </p:nvPr>
        </p:nvSpPr>
        <p:spPr>
          <a:xfrm>
            <a:off x="791581" y="392065"/>
            <a:ext cx="5492402" cy="766202"/>
          </a:xfrm>
          <a:prstGeom prst="rect">
            <a:avLst/>
          </a:prstGeom>
        </p:spPr>
        <p:txBody>
          <a:bodyPr>
            <a:normAutofit/>
          </a:bodyPr>
          <a:lstStyle>
            <a:lvl1pPr defTabSz="859536">
              <a:defRPr sz="1879"/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Introduction</a:t>
            </a:r>
          </a:p>
        </p:txBody>
      </p:sp>
      <p:sp>
        <p:nvSpPr>
          <p:cNvPr id="237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225837" y="1741084"/>
            <a:ext cx="6107791" cy="272186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SzPts val="2200"/>
              <a:buFontTx/>
              <a:buChar char="▪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ym typeface="Times New Roman" panose="02020603050405020304"/>
              </a:rPr>
              <a:t>Blockchain is a decentralized ledger ensuring transparency and immutability. </a:t>
            </a:r>
          </a:p>
          <a:p>
            <a:pPr>
              <a:buSzPts val="2200"/>
              <a:buFontTx/>
              <a:buChar char="▪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ym typeface="Times New Roman" panose="02020603050405020304"/>
              </a:rPr>
              <a:t>Traditional tender allocation is centralized and prone to corruption. </a:t>
            </a:r>
          </a:p>
          <a:p>
            <a:pPr>
              <a:buSzPts val="2200"/>
              <a:buFontTx/>
              <a:buChar char="▪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ym typeface="Times New Roman" panose="02020603050405020304"/>
              </a:rPr>
              <a:t>Blockchain introduces trustless, secure, and fair tendering.</a:t>
            </a:r>
            <a:endParaRPr lang="en-US" dirty="0"/>
          </a:p>
          <a:p>
            <a:pPr marL="76200" indent="0">
              <a:buSzPts val="22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23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3</a:t>
            </a:r>
            <a:endParaRPr dirty="0"/>
          </a:p>
        </p:txBody>
      </p:sp>
      <p:grpSp>
        <p:nvGrpSpPr>
          <p:cNvPr id="243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239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40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41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42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44" name="object 3"/>
          <p:cNvSpPr/>
          <p:nvPr/>
        </p:nvSpPr>
        <p:spPr>
          <a:xfrm>
            <a:off x="7229223" y="91"/>
            <a:ext cx="1912920" cy="4636618"/>
          </a:xfrm>
          <a:prstGeom prst="rect">
            <a:avLst/>
          </a:prstGeom>
          <a:solidFill>
            <a:srgbClr val="627CAC"/>
          </a:solidFill>
          <a:ln>
            <a:solidFill>
              <a:srgbClr val="96A8C8"/>
            </a:solidFill>
          </a:ln>
        </p:spPr>
        <p:txBody>
          <a:bodyPr lIns="45719" rIns="45719"/>
          <a:lstStyle/>
          <a:p>
            <a:pPr>
              <a:defRPr sz="1800"/>
            </a:pPr>
            <a:endParaRPr/>
          </a:p>
        </p:txBody>
      </p:sp>
      <p:sp>
        <p:nvSpPr>
          <p:cNvPr id="245" name="object 5"/>
          <p:cNvSpPr/>
          <p:nvPr/>
        </p:nvSpPr>
        <p:spPr>
          <a:xfrm>
            <a:off x="6269973" y="1555712"/>
            <a:ext cx="2225927" cy="22176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0614" y="21598"/>
                </a:lnTo>
                <a:lnTo>
                  <a:pt x="10429" y="21594"/>
                </a:lnTo>
                <a:lnTo>
                  <a:pt x="10244" y="21586"/>
                </a:lnTo>
                <a:lnTo>
                  <a:pt x="10061" y="21575"/>
                </a:lnTo>
                <a:lnTo>
                  <a:pt x="9878" y="21561"/>
                </a:lnTo>
                <a:lnTo>
                  <a:pt x="9696" y="21544"/>
                </a:lnTo>
                <a:lnTo>
                  <a:pt x="9515" y="21524"/>
                </a:lnTo>
                <a:lnTo>
                  <a:pt x="9335" y="21501"/>
                </a:lnTo>
                <a:lnTo>
                  <a:pt x="9155" y="21476"/>
                </a:lnTo>
                <a:lnTo>
                  <a:pt x="8977" y="21447"/>
                </a:lnTo>
                <a:lnTo>
                  <a:pt x="8800" y="21415"/>
                </a:lnTo>
                <a:lnTo>
                  <a:pt x="8623" y="21381"/>
                </a:lnTo>
                <a:lnTo>
                  <a:pt x="8448" y="21343"/>
                </a:lnTo>
                <a:lnTo>
                  <a:pt x="8274" y="21303"/>
                </a:lnTo>
                <a:lnTo>
                  <a:pt x="8101" y="21260"/>
                </a:lnTo>
                <a:lnTo>
                  <a:pt x="7929" y="21214"/>
                </a:lnTo>
                <a:lnTo>
                  <a:pt x="7758" y="21166"/>
                </a:lnTo>
                <a:lnTo>
                  <a:pt x="7588" y="21114"/>
                </a:lnTo>
                <a:lnTo>
                  <a:pt x="7420" y="21061"/>
                </a:lnTo>
                <a:lnTo>
                  <a:pt x="7253" y="21004"/>
                </a:lnTo>
                <a:lnTo>
                  <a:pt x="7087" y="20945"/>
                </a:lnTo>
                <a:lnTo>
                  <a:pt x="6922" y="20883"/>
                </a:lnTo>
                <a:lnTo>
                  <a:pt x="6758" y="20818"/>
                </a:lnTo>
                <a:lnTo>
                  <a:pt x="6596" y="20751"/>
                </a:lnTo>
                <a:lnTo>
                  <a:pt x="6435" y="20682"/>
                </a:lnTo>
                <a:lnTo>
                  <a:pt x="6276" y="20610"/>
                </a:lnTo>
                <a:lnTo>
                  <a:pt x="6118" y="20535"/>
                </a:lnTo>
                <a:lnTo>
                  <a:pt x="5961" y="20458"/>
                </a:lnTo>
                <a:lnTo>
                  <a:pt x="5806" y="20378"/>
                </a:lnTo>
                <a:lnTo>
                  <a:pt x="5652" y="20296"/>
                </a:lnTo>
                <a:lnTo>
                  <a:pt x="5500" y="20212"/>
                </a:lnTo>
                <a:lnTo>
                  <a:pt x="5349" y="20125"/>
                </a:lnTo>
                <a:lnTo>
                  <a:pt x="5200" y="20036"/>
                </a:lnTo>
                <a:lnTo>
                  <a:pt x="5052" y="19945"/>
                </a:lnTo>
                <a:lnTo>
                  <a:pt x="4906" y="19851"/>
                </a:lnTo>
                <a:lnTo>
                  <a:pt x="4762" y="19756"/>
                </a:lnTo>
                <a:lnTo>
                  <a:pt x="4619" y="19657"/>
                </a:lnTo>
                <a:lnTo>
                  <a:pt x="4478" y="19557"/>
                </a:lnTo>
                <a:lnTo>
                  <a:pt x="4338" y="19454"/>
                </a:lnTo>
                <a:lnTo>
                  <a:pt x="4200" y="19350"/>
                </a:lnTo>
                <a:lnTo>
                  <a:pt x="4064" y="19243"/>
                </a:lnTo>
                <a:lnTo>
                  <a:pt x="3930" y="19134"/>
                </a:lnTo>
                <a:lnTo>
                  <a:pt x="3798" y="19023"/>
                </a:lnTo>
                <a:lnTo>
                  <a:pt x="3667" y="18910"/>
                </a:lnTo>
                <a:lnTo>
                  <a:pt x="3538" y="18794"/>
                </a:lnTo>
                <a:lnTo>
                  <a:pt x="3411" y="18677"/>
                </a:lnTo>
                <a:lnTo>
                  <a:pt x="3286" y="18558"/>
                </a:lnTo>
                <a:lnTo>
                  <a:pt x="3163" y="18437"/>
                </a:lnTo>
                <a:lnTo>
                  <a:pt x="3042" y="18314"/>
                </a:lnTo>
                <a:lnTo>
                  <a:pt x="2923" y="18189"/>
                </a:lnTo>
                <a:lnTo>
                  <a:pt x="2806" y="18062"/>
                </a:lnTo>
                <a:lnTo>
                  <a:pt x="2690" y="17933"/>
                </a:lnTo>
                <a:lnTo>
                  <a:pt x="2577" y="17802"/>
                </a:lnTo>
                <a:lnTo>
                  <a:pt x="2466" y="17670"/>
                </a:lnTo>
                <a:lnTo>
                  <a:pt x="2357" y="17536"/>
                </a:lnTo>
                <a:lnTo>
                  <a:pt x="2250" y="17400"/>
                </a:lnTo>
                <a:lnTo>
                  <a:pt x="2146" y="17262"/>
                </a:lnTo>
                <a:lnTo>
                  <a:pt x="2043" y="17122"/>
                </a:lnTo>
                <a:lnTo>
                  <a:pt x="1943" y="16981"/>
                </a:lnTo>
                <a:lnTo>
                  <a:pt x="1844" y="16838"/>
                </a:lnTo>
                <a:lnTo>
                  <a:pt x="1749" y="16694"/>
                </a:lnTo>
                <a:lnTo>
                  <a:pt x="1655" y="16548"/>
                </a:lnTo>
                <a:lnTo>
                  <a:pt x="1564" y="16400"/>
                </a:lnTo>
                <a:lnTo>
                  <a:pt x="1475" y="16251"/>
                </a:lnTo>
                <a:lnTo>
                  <a:pt x="1388" y="16100"/>
                </a:lnTo>
                <a:lnTo>
                  <a:pt x="1303" y="15948"/>
                </a:lnTo>
                <a:lnTo>
                  <a:pt x="1222" y="15794"/>
                </a:lnTo>
                <a:lnTo>
                  <a:pt x="1142" y="15639"/>
                </a:lnTo>
                <a:lnTo>
                  <a:pt x="1065" y="15482"/>
                </a:lnTo>
                <a:lnTo>
                  <a:pt x="990" y="15324"/>
                </a:lnTo>
                <a:lnTo>
                  <a:pt x="918" y="15165"/>
                </a:lnTo>
                <a:lnTo>
                  <a:pt x="849" y="15004"/>
                </a:lnTo>
                <a:lnTo>
                  <a:pt x="782" y="14842"/>
                </a:lnTo>
                <a:lnTo>
                  <a:pt x="717" y="14678"/>
                </a:lnTo>
                <a:lnTo>
                  <a:pt x="655" y="14513"/>
                </a:lnTo>
                <a:lnTo>
                  <a:pt x="596" y="14347"/>
                </a:lnTo>
                <a:lnTo>
                  <a:pt x="539" y="14180"/>
                </a:lnTo>
                <a:lnTo>
                  <a:pt x="486" y="14012"/>
                </a:lnTo>
                <a:lnTo>
                  <a:pt x="434" y="13842"/>
                </a:lnTo>
                <a:lnTo>
                  <a:pt x="386" y="13671"/>
                </a:lnTo>
                <a:lnTo>
                  <a:pt x="340" y="13499"/>
                </a:lnTo>
                <a:lnTo>
                  <a:pt x="297" y="13326"/>
                </a:lnTo>
                <a:lnTo>
                  <a:pt x="257" y="13152"/>
                </a:lnTo>
                <a:lnTo>
                  <a:pt x="219" y="12977"/>
                </a:lnTo>
                <a:lnTo>
                  <a:pt x="185" y="12800"/>
                </a:lnTo>
                <a:lnTo>
                  <a:pt x="153" y="12623"/>
                </a:lnTo>
                <a:lnTo>
                  <a:pt x="124" y="12445"/>
                </a:lnTo>
                <a:lnTo>
                  <a:pt x="99" y="12265"/>
                </a:lnTo>
                <a:lnTo>
                  <a:pt x="76" y="12085"/>
                </a:lnTo>
                <a:lnTo>
                  <a:pt x="56" y="11904"/>
                </a:lnTo>
                <a:lnTo>
                  <a:pt x="39" y="11722"/>
                </a:lnTo>
                <a:lnTo>
                  <a:pt x="25" y="11539"/>
                </a:lnTo>
                <a:lnTo>
                  <a:pt x="14" y="11356"/>
                </a:lnTo>
                <a:lnTo>
                  <a:pt x="6" y="11171"/>
                </a:lnTo>
                <a:lnTo>
                  <a:pt x="2" y="10986"/>
                </a:lnTo>
                <a:lnTo>
                  <a:pt x="0" y="10800"/>
                </a:lnTo>
                <a:lnTo>
                  <a:pt x="2" y="10614"/>
                </a:lnTo>
                <a:lnTo>
                  <a:pt x="6" y="10429"/>
                </a:lnTo>
                <a:lnTo>
                  <a:pt x="14" y="10244"/>
                </a:lnTo>
                <a:lnTo>
                  <a:pt x="25" y="10061"/>
                </a:lnTo>
                <a:lnTo>
                  <a:pt x="39" y="9878"/>
                </a:lnTo>
                <a:lnTo>
                  <a:pt x="56" y="9696"/>
                </a:lnTo>
                <a:lnTo>
                  <a:pt x="76" y="9515"/>
                </a:lnTo>
                <a:lnTo>
                  <a:pt x="99" y="9335"/>
                </a:lnTo>
                <a:lnTo>
                  <a:pt x="124" y="9155"/>
                </a:lnTo>
                <a:lnTo>
                  <a:pt x="153" y="8977"/>
                </a:lnTo>
                <a:lnTo>
                  <a:pt x="185" y="8800"/>
                </a:lnTo>
                <a:lnTo>
                  <a:pt x="219" y="8623"/>
                </a:lnTo>
                <a:lnTo>
                  <a:pt x="257" y="8448"/>
                </a:lnTo>
                <a:lnTo>
                  <a:pt x="297" y="8274"/>
                </a:lnTo>
                <a:lnTo>
                  <a:pt x="340" y="8101"/>
                </a:lnTo>
                <a:lnTo>
                  <a:pt x="386" y="7929"/>
                </a:lnTo>
                <a:lnTo>
                  <a:pt x="434" y="7758"/>
                </a:lnTo>
                <a:lnTo>
                  <a:pt x="486" y="7588"/>
                </a:lnTo>
                <a:lnTo>
                  <a:pt x="539" y="7420"/>
                </a:lnTo>
                <a:lnTo>
                  <a:pt x="596" y="7253"/>
                </a:lnTo>
                <a:lnTo>
                  <a:pt x="655" y="7087"/>
                </a:lnTo>
                <a:lnTo>
                  <a:pt x="717" y="6922"/>
                </a:lnTo>
                <a:lnTo>
                  <a:pt x="782" y="6758"/>
                </a:lnTo>
                <a:lnTo>
                  <a:pt x="849" y="6596"/>
                </a:lnTo>
                <a:lnTo>
                  <a:pt x="918" y="6435"/>
                </a:lnTo>
                <a:lnTo>
                  <a:pt x="990" y="6276"/>
                </a:lnTo>
                <a:lnTo>
                  <a:pt x="1065" y="6118"/>
                </a:lnTo>
                <a:lnTo>
                  <a:pt x="1142" y="5961"/>
                </a:lnTo>
                <a:lnTo>
                  <a:pt x="1222" y="5806"/>
                </a:lnTo>
                <a:lnTo>
                  <a:pt x="1303" y="5652"/>
                </a:lnTo>
                <a:lnTo>
                  <a:pt x="1388" y="5500"/>
                </a:lnTo>
                <a:lnTo>
                  <a:pt x="1475" y="5349"/>
                </a:lnTo>
                <a:lnTo>
                  <a:pt x="1564" y="5200"/>
                </a:lnTo>
                <a:lnTo>
                  <a:pt x="1655" y="5052"/>
                </a:lnTo>
                <a:lnTo>
                  <a:pt x="1749" y="4906"/>
                </a:lnTo>
                <a:lnTo>
                  <a:pt x="1844" y="4762"/>
                </a:lnTo>
                <a:lnTo>
                  <a:pt x="1943" y="4619"/>
                </a:lnTo>
                <a:lnTo>
                  <a:pt x="2043" y="4478"/>
                </a:lnTo>
                <a:lnTo>
                  <a:pt x="2146" y="4338"/>
                </a:lnTo>
                <a:lnTo>
                  <a:pt x="2250" y="4200"/>
                </a:lnTo>
                <a:lnTo>
                  <a:pt x="2357" y="4064"/>
                </a:lnTo>
                <a:lnTo>
                  <a:pt x="2466" y="3930"/>
                </a:lnTo>
                <a:lnTo>
                  <a:pt x="2577" y="3798"/>
                </a:lnTo>
                <a:lnTo>
                  <a:pt x="2690" y="3667"/>
                </a:lnTo>
                <a:lnTo>
                  <a:pt x="2806" y="3538"/>
                </a:lnTo>
                <a:lnTo>
                  <a:pt x="2923" y="3411"/>
                </a:lnTo>
                <a:lnTo>
                  <a:pt x="3042" y="3286"/>
                </a:lnTo>
                <a:lnTo>
                  <a:pt x="3163" y="3163"/>
                </a:lnTo>
                <a:lnTo>
                  <a:pt x="3286" y="3042"/>
                </a:lnTo>
                <a:lnTo>
                  <a:pt x="3411" y="2923"/>
                </a:lnTo>
                <a:lnTo>
                  <a:pt x="3538" y="2806"/>
                </a:lnTo>
                <a:lnTo>
                  <a:pt x="3667" y="2690"/>
                </a:lnTo>
                <a:lnTo>
                  <a:pt x="3798" y="2577"/>
                </a:lnTo>
                <a:lnTo>
                  <a:pt x="3930" y="2466"/>
                </a:lnTo>
                <a:lnTo>
                  <a:pt x="4064" y="2357"/>
                </a:lnTo>
                <a:lnTo>
                  <a:pt x="4200" y="2250"/>
                </a:lnTo>
                <a:lnTo>
                  <a:pt x="4338" y="2146"/>
                </a:lnTo>
                <a:lnTo>
                  <a:pt x="4478" y="2043"/>
                </a:lnTo>
                <a:lnTo>
                  <a:pt x="4619" y="1943"/>
                </a:lnTo>
                <a:lnTo>
                  <a:pt x="4762" y="1844"/>
                </a:lnTo>
                <a:lnTo>
                  <a:pt x="4906" y="1749"/>
                </a:lnTo>
                <a:lnTo>
                  <a:pt x="5052" y="1655"/>
                </a:lnTo>
                <a:lnTo>
                  <a:pt x="5200" y="1564"/>
                </a:lnTo>
                <a:lnTo>
                  <a:pt x="5349" y="1475"/>
                </a:lnTo>
                <a:lnTo>
                  <a:pt x="5500" y="1388"/>
                </a:lnTo>
                <a:lnTo>
                  <a:pt x="5652" y="1303"/>
                </a:lnTo>
                <a:lnTo>
                  <a:pt x="5806" y="1222"/>
                </a:lnTo>
                <a:lnTo>
                  <a:pt x="5961" y="1142"/>
                </a:lnTo>
                <a:lnTo>
                  <a:pt x="6118" y="1065"/>
                </a:lnTo>
                <a:lnTo>
                  <a:pt x="6276" y="990"/>
                </a:lnTo>
                <a:lnTo>
                  <a:pt x="6435" y="918"/>
                </a:lnTo>
                <a:lnTo>
                  <a:pt x="6596" y="849"/>
                </a:lnTo>
                <a:lnTo>
                  <a:pt x="6758" y="782"/>
                </a:lnTo>
                <a:lnTo>
                  <a:pt x="6922" y="717"/>
                </a:lnTo>
                <a:lnTo>
                  <a:pt x="7087" y="655"/>
                </a:lnTo>
                <a:lnTo>
                  <a:pt x="7253" y="596"/>
                </a:lnTo>
                <a:lnTo>
                  <a:pt x="7420" y="539"/>
                </a:lnTo>
                <a:lnTo>
                  <a:pt x="7588" y="486"/>
                </a:lnTo>
                <a:lnTo>
                  <a:pt x="7758" y="434"/>
                </a:lnTo>
                <a:lnTo>
                  <a:pt x="7929" y="386"/>
                </a:lnTo>
                <a:lnTo>
                  <a:pt x="8101" y="340"/>
                </a:lnTo>
                <a:lnTo>
                  <a:pt x="8274" y="297"/>
                </a:lnTo>
                <a:lnTo>
                  <a:pt x="8448" y="257"/>
                </a:lnTo>
                <a:lnTo>
                  <a:pt x="8623" y="219"/>
                </a:lnTo>
                <a:lnTo>
                  <a:pt x="8800" y="185"/>
                </a:lnTo>
                <a:lnTo>
                  <a:pt x="8977" y="153"/>
                </a:lnTo>
                <a:lnTo>
                  <a:pt x="9155" y="124"/>
                </a:lnTo>
                <a:lnTo>
                  <a:pt x="9335" y="99"/>
                </a:lnTo>
                <a:lnTo>
                  <a:pt x="9515" y="76"/>
                </a:lnTo>
                <a:lnTo>
                  <a:pt x="9696" y="56"/>
                </a:lnTo>
                <a:lnTo>
                  <a:pt x="9878" y="39"/>
                </a:lnTo>
                <a:lnTo>
                  <a:pt x="10061" y="25"/>
                </a:lnTo>
                <a:lnTo>
                  <a:pt x="10244" y="14"/>
                </a:lnTo>
                <a:lnTo>
                  <a:pt x="10429" y="6"/>
                </a:lnTo>
                <a:lnTo>
                  <a:pt x="10614" y="2"/>
                </a:lnTo>
                <a:lnTo>
                  <a:pt x="10800" y="0"/>
                </a:lnTo>
                <a:lnTo>
                  <a:pt x="10986" y="2"/>
                </a:lnTo>
                <a:lnTo>
                  <a:pt x="11171" y="6"/>
                </a:lnTo>
                <a:lnTo>
                  <a:pt x="11356" y="14"/>
                </a:lnTo>
                <a:lnTo>
                  <a:pt x="11539" y="25"/>
                </a:lnTo>
                <a:lnTo>
                  <a:pt x="11722" y="39"/>
                </a:lnTo>
                <a:lnTo>
                  <a:pt x="11904" y="56"/>
                </a:lnTo>
                <a:lnTo>
                  <a:pt x="12085" y="76"/>
                </a:lnTo>
                <a:lnTo>
                  <a:pt x="12265" y="99"/>
                </a:lnTo>
                <a:lnTo>
                  <a:pt x="12445" y="124"/>
                </a:lnTo>
                <a:lnTo>
                  <a:pt x="12623" y="153"/>
                </a:lnTo>
                <a:lnTo>
                  <a:pt x="12800" y="185"/>
                </a:lnTo>
                <a:lnTo>
                  <a:pt x="12977" y="219"/>
                </a:lnTo>
                <a:lnTo>
                  <a:pt x="13152" y="257"/>
                </a:lnTo>
                <a:lnTo>
                  <a:pt x="13326" y="297"/>
                </a:lnTo>
                <a:lnTo>
                  <a:pt x="13499" y="340"/>
                </a:lnTo>
                <a:lnTo>
                  <a:pt x="13671" y="386"/>
                </a:lnTo>
                <a:lnTo>
                  <a:pt x="13842" y="434"/>
                </a:lnTo>
                <a:lnTo>
                  <a:pt x="14012" y="486"/>
                </a:lnTo>
                <a:lnTo>
                  <a:pt x="14180" y="539"/>
                </a:lnTo>
                <a:lnTo>
                  <a:pt x="14347" y="596"/>
                </a:lnTo>
                <a:lnTo>
                  <a:pt x="14513" y="655"/>
                </a:lnTo>
                <a:lnTo>
                  <a:pt x="14678" y="717"/>
                </a:lnTo>
                <a:lnTo>
                  <a:pt x="14842" y="782"/>
                </a:lnTo>
                <a:lnTo>
                  <a:pt x="15004" y="849"/>
                </a:lnTo>
                <a:lnTo>
                  <a:pt x="15165" y="918"/>
                </a:lnTo>
                <a:lnTo>
                  <a:pt x="15324" y="990"/>
                </a:lnTo>
                <a:lnTo>
                  <a:pt x="15482" y="1065"/>
                </a:lnTo>
                <a:lnTo>
                  <a:pt x="15639" y="1142"/>
                </a:lnTo>
                <a:lnTo>
                  <a:pt x="15794" y="1222"/>
                </a:lnTo>
                <a:lnTo>
                  <a:pt x="15948" y="1303"/>
                </a:lnTo>
                <a:lnTo>
                  <a:pt x="16100" y="1388"/>
                </a:lnTo>
                <a:lnTo>
                  <a:pt x="16251" y="1475"/>
                </a:lnTo>
                <a:lnTo>
                  <a:pt x="16400" y="1564"/>
                </a:lnTo>
                <a:lnTo>
                  <a:pt x="16548" y="1655"/>
                </a:lnTo>
                <a:lnTo>
                  <a:pt x="16694" y="1749"/>
                </a:lnTo>
                <a:lnTo>
                  <a:pt x="16838" y="1844"/>
                </a:lnTo>
                <a:lnTo>
                  <a:pt x="16981" y="1943"/>
                </a:lnTo>
                <a:lnTo>
                  <a:pt x="17122" y="2043"/>
                </a:lnTo>
                <a:lnTo>
                  <a:pt x="17262" y="2146"/>
                </a:lnTo>
                <a:lnTo>
                  <a:pt x="17400" y="2250"/>
                </a:lnTo>
                <a:lnTo>
                  <a:pt x="17536" y="2357"/>
                </a:lnTo>
                <a:lnTo>
                  <a:pt x="17670" y="2466"/>
                </a:lnTo>
                <a:lnTo>
                  <a:pt x="17802" y="2577"/>
                </a:lnTo>
                <a:lnTo>
                  <a:pt x="17933" y="2690"/>
                </a:lnTo>
                <a:lnTo>
                  <a:pt x="18062" y="2806"/>
                </a:lnTo>
                <a:lnTo>
                  <a:pt x="18189" y="2923"/>
                </a:lnTo>
                <a:lnTo>
                  <a:pt x="18314" y="3042"/>
                </a:lnTo>
                <a:lnTo>
                  <a:pt x="18437" y="3163"/>
                </a:lnTo>
                <a:lnTo>
                  <a:pt x="18558" y="3286"/>
                </a:lnTo>
                <a:lnTo>
                  <a:pt x="18677" y="3411"/>
                </a:lnTo>
                <a:lnTo>
                  <a:pt x="18794" y="3538"/>
                </a:lnTo>
                <a:lnTo>
                  <a:pt x="18910" y="3667"/>
                </a:lnTo>
                <a:lnTo>
                  <a:pt x="19023" y="3798"/>
                </a:lnTo>
                <a:lnTo>
                  <a:pt x="19134" y="3930"/>
                </a:lnTo>
                <a:lnTo>
                  <a:pt x="19243" y="4064"/>
                </a:lnTo>
                <a:lnTo>
                  <a:pt x="19350" y="4200"/>
                </a:lnTo>
                <a:lnTo>
                  <a:pt x="19454" y="4338"/>
                </a:lnTo>
                <a:lnTo>
                  <a:pt x="19557" y="4478"/>
                </a:lnTo>
                <a:lnTo>
                  <a:pt x="19657" y="4619"/>
                </a:lnTo>
                <a:lnTo>
                  <a:pt x="19756" y="4762"/>
                </a:lnTo>
                <a:lnTo>
                  <a:pt x="19851" y="4906"/>
                </a:lnTo>
                <a:lnTo>
                  <a:pt x="19945" y="5052"/>
                </a:lnTo>
                <a:lnTo>
                  <a:pt x="20036" y="5200"/>
                </a:lnTo>
                <a:lnTo>
                  <a:pt x="20125" y="5349"/>
                </a:lnTo>
                <a:lnTo>
                  <a:pt x="20212" y="5500"/>
                </a:lnTo>
                <a:lnTo>
                  <a:pt x="20296" y="5652"/>
                </a:lnTo>
                <a:lnTo>
                  <a:pt x="20378" y="5806"/>
                </a:lnTo>
                <a:lnTo>
                  <a:pt x="20458" y="5961"/>
                </a:lnTo>
                <a:lnTo>
                  <a:pt x="20535" y="6118"/>
                </a:lnTo>
                <a:lnTo>
                  <a:pt x="20610" y="6276"/>
                </a:lnTo>
                <a:lnTo>
                  <a:pt x="20682" y="6435"/>
                </a:lnTo>
                <a:lnTo>
                  <a:pt x="20751" y="6596"/>
                </a:lnTo>
                <a:lnTo>
                  <a:pt x="20818" y="6758"/>
                </a:lnTo>
                <a:lnTo>
                  <a:pt x="20883" y="6922"/>
                </a:lnTo>
                <a:lnTo>
                  <a:pt x="20945" y="7087"/>
                </a:lnTo>
                <a:lnTo>
                  <a:pt x="21004" y="7253"/>
                </a:lnTo>
                <a:lnTo>
                  <a:pt x="21061" y="7420"/>
                </a:lnTo>
                <a:lnTo>
                  <a:pt x="21114" y="7588"/>
                </a:lnTo>
                <a:lnTo>
                  <a:pt x="21166" y="7758"/>
                </a:lnTo>
                <a:lnTo>
                  <a:pt x="21214" y="7929"/>
                </a:lnTo>
                <a:lnTo>
                  <a:pt x="21260" y="8101"/>
                </a:lnTo>
                <a:lnTo>
                  <a:pt x="21303" y="8274"/>
                </a:lnTo>
                <a:lnTo>
                  <a:pt x="21343" y="8448"/>
                </a:lnTo>
                <a:lnTo>
                  <a:pt x="21381" y="8623"/>
                </a:lnTo>
                <a:lnTo>
                  <a:pt x="21415" y="8800"/>
                </a:lnTo>
                <a:lnTo>
                  <a:pt x="21447" y="8977"/>
                </a:lnTo>
                <a:lnTo>
                  <a:pt x="21476" y="9155"/>
                </a:lnTo>
                <a:lnTo>
                  <a:pt x="21501" y="9335"/>
                </a:lnTo>
                <a:lnTo>
                  <a:pt x="21524" y="9515"/>
                </a:lnTo>
                <a:lnTo>
                  <a:pt x="21544" y="9696"/>
                </a:lnTo>
                <a:lnTo>
                  <a:pt x="21561" y="9878"/>
                </a:lnTo>
                <a:lnTo>
                  <a:pt x="21575" y="10061"/>
                </a:lnTo>
                <a:lnTo>
                  <a:pt x="21586" y="10244"/>
                </a:lnTo>
                <a:lnTo>
                  <a:pt x="21594" y="10429"/>
                </a:lnTo>
                <a:lnTo>
                  <a:pt x="21598" y="10614"/>
                </a:lnTo>
                <a:lnTo>
                  <a:pt x="21600" y="10800"/>
                </a:lnTo>
                <a:lnTo>
                  <a:pt x="21598" y="10986"/>
                </a:lnTo>
                <a:lnTo>
                  <a:pt x="21594" y="11171"/>
                </a:lnTo>
                <a:lnTo>
                  <a:pt x="21586" y="11356"/>
                </a:lnTo>
                <a:lnTo>
                  <a:pt x="21575" y="11539"/>
                </a:lnTo>
                <a:lnTo>
                  <a:pt x="21561" y="11722"/>
                </a:lnTo>
                <a:lnTo>
                  <a:pt x="21544" y="11904"/>
                </a:lnTo>
                <a:lnTo>
                  <a:pt x="21524" y="12085"/>
                </a:lnTo>
                <a:lnTo>
                  <a:pt x="21501" y="12265"/>
                </a:lnTo>
                <a:lnTo>
                  <a:pt x="21476" y="12445"/>
                </a:lnTo>
                <a:lnTo>
                  <a:pt x="21447" y="12623"/>
                </a:lnTo>
                <a:lnTo>
                  <a:pt x="21415" y="12800"/>
                </a:lnTo>
                <a:lnTo>
                  <a:pt x="21381" y="12977"/>
                </a:lnTo>
                <a:lnTo>
                  <a:pt x="21343" y="13152"/>
                </a:lnTo>
                <a:lnTo>
                  <a:pt x="21303" y="13326"/>
                </a:lnTo>
                <a:lnTo>
                  <a:pt x="21260" y="13499"/>
                </a:lnTo>
                <a:lnTo>
                  <a:pt x="21214" y="13671"/>
                </a:lnTo>
                <a:lnTo>
                  <a:pt x="21166" y="13842"/>
                </a:lnTo>
                <a:lnTo>
                  <a:pt x="21114" y="14012"/>
                </a:lnTo>
                <a:lnTo>
                  <a:pt x="21061" y="14180"/>
                </a:lnTo>
                <a:lnTo>
                  <a:pt x="21004" y="14347"/>
                </a:lnTo>
                <a:lnTo>
                  <a:pt x="20945" y="14513"/>
                </a:lnTo>
                <a:lnTo>
                  <a:pt x="20883" y="14678"/>
                </a:lnTo>
                <a:lnTo>
                  <a:pt x="20818" y="14842"/>
                </a:lnTo>
                <a:lnTo>
                  <a:pt x="20751" y="15004"/>
                </a:lnTo>
                <a:lnTo>
                  <a:pt x="20682" y="15165"/>
                </a:lnTo>
                <a:lnTo>
                  <a:pt x="20610" y="15324"/>
                </a:lnTo>
                <a:lnTo>
                  <a:pt x="20535" y="15482"/>
                </a:lnTo>
                <a:lnTo>
                  <a:pt x="20458" y="15639"/>
                </a:lnTo>
                <a:lnTo>
                  <a:pt x="20378" y="15794"/>
                </a:lnTo>
                <a:lnTo>
                  <a:pt x="20296" y="15948"/>
                </a:lnTo>
                <a:lnTo>
                  <a:pt x="20212" y="16100"/>
                </a:lnTo>
                <a:lnTo>
                  <a:pt x="20125" y="16251"/>
                </a:lnTo>
                <a:lnTo>
                  <a:pt x="20036" y="16400"/>
                </a:lnTo>
                <a:lnTo>
                  <a:pt x="19945" y="16548"/>
                </a:lnTo>
                <a:lnTo>
                  <a:pt x="19851" y="16694"/>
                </a:lnTo>
                <a:lnTo>
                  <a:pt x="19756" y="16838"/>
                </a:lnTo>
                <a:lnTo>
                  <a:pt x="19657" y="16981"/>
                </a:lnTo>
                <a:lnTo>
                  <a:pt x="19557" y="17122"/>
                </a:lnTo>
                <a:lnTo>
                  <a:pt x="19454" y="17262"/>
                </a:lnTo>
                <a:lnTo>
                  <a:pt x="19350" y="17400"/>
                </a:lnTo>
                <a:lnTo>
                  <a:pt x="19243" y="17536"/>
                </a:lnTo>
                <a:lnTo>
                  <a:pt x="19134" y="17670"/>
                </a:lnTo>
                <a:lnTo>
                  <a:pt x="19023" y="17802"/>
                </a:lnTo>
                <a:lnTo>
                  <a:pt x="18910" y="17933"/>
                </a:lnTo>
                <a:lnTo>
                  <a:pt x="18794" y="18062"/>
                </a:lnTo>
                <a:lnTo>
                  <a:pt x="18677" y="18189"/>
                </a:lnTo>
                <a:lnTo>
                  <a:pt x="18558" y="18314"/>
                </a:lnTo>
                <a:lnTo>
                  <a:pt x="18437" y="18437"/>
                </a:lnTo>
                <a:lnTo>
                  <a:pt x="18314" y="18558"/>
                </a:lnTo>
                <a:lnTo>
                  <a:pt x="18189" y="18677"/>
                </a:lnTo>
                <a:lnTo>
                  <a:pt x="18062" y="18794"/>
                </a:lnTo>
                <a:lnTo>
                  <a:pt x="17933" y="18910"/>
                </a:lnTo>
                <a:lnTo>
                  <a:pt x="17802" y="19023"/>
                </a:lnTo>
                <a:lnTo>
                  <a:pt x="17670" y="19134"/>
                </a:lnTo>
                <a:lnTo>
                  <a:pt x="17536" y="19243"/>
                </a:lnTo>
                <a:lnTo>
                  <a:pt x="17400" y="19350"/>
                </a:lnTo>
                <a:lnTo>
                  <a:pt x="17262" y="19454"/>
                </a:lnTo>
                <a:lnTo>
                  <a:pt x="17122" y="19557"/>
                </a:lnTo>
                <a:lnTo>
                  <a:pt x="16981" y="19657"/>
                </a:lnTo>
                <a:lnTo>
                  <a:pt x="16838" y="19756"/>
                </a:lnTo>
                <a:lnTo>
                  <a:pt x="16694" y="19851"/>
                </a:lnTo>
                <a:lnTo>
                  <a:pt x="16548" y="19945"/>
                </a:lnTo>
                <a:lnTo>
                  <a:pt x="16400" y="20036"/>
                </a:lnTo>
                <a:lnTo>
                  <a:pt x="16251" y="20125"/>
                </a:lnTo>
                <a:lnTo>
                  <a:pt x="16100" y="20212"/>
                </a:lnTo>
                <a:lnTo>
                  <a:pt x="15948" y="20296"/>
                </a:lnTo>
                <a:lnTo>
                  <a:pt x="15794" y="20378"/>
                </a:lnTo>
                <a:lnTo>
                  <a:pt x="15639" y="20458"/>
                </a:lnTo>
                <a:lnTo>
                  <a:pt x="15482" y="20535"/>
                </a:lnTo>
                <a:lnTo>
                  <a:pt x="15324" y="20610"/>
                </a:lnTo>
                <a:lnTo>
                  <a:pt x="15165" y="20682"/>
                </a:lnTo>
                <a:lnTo>
                  <a:pt x="15004" y="20751"/>
                </a:lnTo>
                <a:lnTo>
                  <a:pt x="14842" y="20818"/>
                </a:lnTo>
                <a:lnTo>
                  <a:pt x="14678" y="20883"/>
                </a:lnTo>
                <a:lnTo>
                  <a:pt x="14513" y="20945"/>
                </a:lnTo>
                <a:lnTo>
                  <a:pt x="14347" y="21004"/>
                </a:lnTo>
                <a:lnTo>
                  <a:pt x="14180" y="21061"/>
                </a:lnTo>
                <a:lnTo>
                  <a:pt x="14012" y="21114"/>
                </a:lnTo>
                <a:lnTo>
                  <a:pt x="13842" y="21166"/>
                </a:lnTo>
                <a:lnTo>
                  <a:pt x="13671" y="21214"/>
                </a:lnTo>
                <a:lnTo>
                  <a:pt x="13499" y="21260"/>
                </a:lnTo>
                <a:lnTo>
                  <a:pt x="13326" y="21303"/>
                </a:lnTo>
                <a:lnTo>
                  <a:pt x="13152" y="21343"/>
                </a:lnTo>
                <a:lnTo>
                  <a:pt x="12977" y="21381"/>
                </a:lnTo>
                <a:lnTo>
                  <a:pt x="12800" y="21415"/>
                </a:lnTo>
                <a:lnTo>
                  <a:pt x="12623" y="21447"/>
                </a:lnTo>
                <a:lnTo>
                  <a:pt x="12445" y="21476"/>
                </a:lnTo>
                <a:lnTo>
                  <a:pt x="12265" y="21501"/>
                </a:lnTo>
                <a:lnTo>
                  <a:pt x="12085" y="21524"/>
                </a:lnTo>
                <a:lnTo>
                  <a:pt x="11904" y="21544"/>
                </a:lnTo>
                <a:lnTo>
                  <a:pt x="11722" y="21561"/>
                </a:lnTo>
                <a:lnTo>
                  <a:pt x="11539" y="21575"/>
                </a:lnTo>
                <a:lnTo>
                  <a:pt x="11356" y="21586"/>
                </a:lnTo>
                <a:lnTo>
                  <a:pt x="11171" y="21594"/>
                </a:lnTo>
                <a:lnTo>
                  <a:pt x="10986" y="21598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59E2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/>
            </a:pPr>
            <a:endParaRPr/>
          </a:p>
        </p:txBody>
      </p:sp>
      <p:grpSp>
        <p:nvGrpSpPr>
          <p:cNvPr id="248" name="object 6"/>
          <p:cNvGrpSpPr/>
          <p:nvPr/>
        </p:nvGrpSpPr>
        <p:grpSpPr>
          <a:xfrm>
            <a:off x="6345623" y="1979259"/>
            <a:ext cx="2138249" cy="1648765"/>
            <a:chOff x="0" y="0"/>
            <a:chExt cx="2138247" cy="1648764"/>
          </a:xfrm>
        </p:grpSpPr>
        <p:sp>
          <p:nvSpPr>
            <p:cNvPr id="246" name="Shape"/>
            <p:cNvSpPr/>
            <p:nvPr/>
          </p:nvSpPr>
          <p:spPr>
            <a:xfrm>
              <a:off x="-1" y="1241286"/>
              <a:ext cx="2138249" cy="407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5183"/>
                  </a:lnTo>
                  <a:lnTo>
                    <a:pt x="20" y="6182"/>
                  </a:lnTo>
                  <a:lnTo>
                    <a:pt x="77" y="7113"/>
                  </a:lnTo>
                  <a:lnTo>
                    <a:pt x="168" y="7956"/>
                  </a:lnTo>
                  <a:lnTo>
                    <a:pt x="288" y="8690"/>
                  </a:lnTo>
                  <a:lnTo>
                    <a:pt x="434" y="9296"/>
                  </a:lnTo>
                  <a:lnTo>
                    <a:pt x="601" y="9753"/>
                  </a:lnTo>
                  <a:lnTo>
                    <a:pt x="786" y="10042"/>
                  </a:lnTo>
                  <a:lnTo>
                    <a:pt x="985" y="10143"/>
                  </a:lnTo>
                  <a:lnTo>
                    <a:pt x="8339" y="10143"/>
                  </a:lnTo>
                  <a:lnTo>
                    <a:pt x="8327" y="11023"/>
                  </a:lnTo>
                  <a:lnTo>
                    <a:pt x="8295" y="13128"/>
                  </a:lnTo>
                  <a:lnTo>
                    <a:pt x="8249" y="15656"/>
                  </a:lnTo>
                  <a:lnTo>
                    <a:pt x="8196" y="17806"/>
                  </a:lnTo>
                  <a:lnTo>
                    <a:pt x="8130" y="18916"/>
                  </a:lnTo>
                  <a:lnTo>
                    <a:pt x="8026" y="19706"/>
                  </a:lnTo>
                  <a:lnTo>
                    <a:pt x="7893" y="20237"/>
                  </a:lnTo>
                  <a:lnTo>
                    <a:pt x="7741" y="20565"/>
                  </a:lnTo>
                  <a:lnTo>
                    <a:pt x="7582" y="20751"/>
                  </a:lnTo>
                  <a:lnTo>
                    <a:pt x="7423" y="20854"/>
                  </a:lnTo>
                  <a:lnTo>
                    <a:pt x="7276" y="20931"/>
                  </a:lnTo>
                  <a:lnTo>
                    <a:pt x="7151" y="21043"/>
                  </a:lnTo>
                  <a:lnTo>
                    <a:pt x="7057" y="21248"/>
                  </a:lnTo>
                  <a:lnTo>
                    <a:pt x="7043" y="21350"/>
                  </a:lnTo>
                  <a:lnTo>
                    <a:pt x="7043" y="21466"/>
                  </a:lnTo>
                  <a:lnTo>
                    <a:pt x="7056" y="21561"/>
                  </a:lnTo>
                  <a:lnTo>
                    <a:pt x="7079" y="21600"/>
                  </a:lnTo>
                  <a:lnTo>
                    <a:pt x="14514" y="21600"/>
                  </a:lnTo>
                  <a:lnTo>
                    <a:pt x="14537" y="21561"/>
                  </a:lnTo>
                  <a:lnTo>
                    <a:pt x="14550" y="21466"/>
                  </a:lnTo>
                  <a:lnTo>
                    <a:pt x="14550" y="21350"/>
                  </a:lnTo>
                  <a:lnTo>
                    <a:pt x="14536" y="21248"/>
                  </a:lnTo>
                  <a:lnTo>
                    <a:pt x="14442" y="21043"/>
                  </a:lnTo>
                  <a:lnTo>
                    <a:pt x="14317" y="20931"/>
                  </a:lnTo>
                  <a:lnTo>
                    <a:pt x="14170" y="20854"/>
                  </a:lnTo>
                  <a:lnTo>
                    <a:pt x="14011" y="20751"/>
                  </a:lnTo>
                  <a:lnTo>
                    <a:pt x="13851" y="20565"/>
                  </a:lnTo>
                  <a:lnTo>
                    <a:pt x="13700" y="20237"/>
                  </a:lnTo>
                  <a:lnTo>
                    <a:pt x="13567" y="19706"/>
                  </a:lnTo>
                  <a:lnTo>
                    <a:pt x="13463" y="18916"/>
                  </a:lnTo>
                  <a:lnTo>
                    <a:pt x="13397" y="17806"/>
                  </a:lnTo>
                  <a:lnTo>
                    <a:pt x="13344" y="15656"/>
                  </a:lnTo>
                  <a:lnTo>
                    <a:pt x="13298" y="13128"/>
                  </a:lnTo>
                  <a:lnTo>
                    <a:pt x="13266" y="11023"/>
                  </a:lnTo>
                  <a:lnTo>
                    <a:pt x="13254" y="10143"/>
                  </a:lnTo>
                  <a:lnTo>
                    <a:pt x="20615" y="10143"/>
                  </a:lnTo>
                  <a:lnTo>
                    <a:pt x="20814" y="10042"/>
                  </a:lnTo>
                  <a:lnTo>
                    <a:pt x="20999" y="9753"/>
                  </a:lnTo>
                  <a:lnTo>
                    <a:pt x="21166" y="9296"/>
                  </a:lnTo>
                  <a:lnTo>
                    <a:pt x="21312" y="8690"/>
                  </a:lnTo>
                  <a:lnTo>
                    <a:pt x="21432" y="7956"/>
                  </a:lnTo>
                  <a:lnTo>
                    <a:pt x="21523" y="7113"/>
                  </a:lnTo>
                  <a:lnTo>
                    <a:pt x="21580" y="6182"/>
                  </a:lnTo>
                  <a:lnTo>
                    <a:pt x="21600" y="518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A213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247" name="Shape"/>
            <p:cNvSpPr/>
            <p:nvPr/>
          </p:nvSpPr>
          <p:spPr>
            <a:xfrm>
              <a:off x="-1" y="0"/>
              <a:ext cx="2138249" cy="1240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629"/>
                  </a:moveTo>
                  <a:lnTo>
                    <a:pt x="21580" y="1301"/>
                  </a:lnTo>
                  <a:lnTo>
                    <a:pt x="21523" y="995"/>
                  </a:lnTo>
                  <a:lnTo>
                    <a:pt x="21432" y="718"/>
                  </a:lnTo>
                  <a:lnTo>
                    <a:pt x="21312" y="477"/>
                  </a:lnTo>
                  <a:lnTo>
                    <a:pt x="21166" y="278"/>
                  </a:lnTo>
                  <a:lnTo>
                    <a:pt x="20999" y="128"/>
                  </a:lnTo>
                  <a:lnTo>
                    <a:pt x="20814" y="33"/>
                  </a:lnTo>
                  <a:lnTo>
                    <a:pt x="20660" y="7"/>
                  </a:lnTo>
                  <a:lnTo>
                    <a:pt x="20660" y="20044"/>
                  </a:lnTo>
                  <a:lnTo>
                    <a:pt x="911" y="20044"/>
                  </a:lnTo>
                  <a:lnTo>
                    <a:pt x="911" y="1690"/>
                  </a:lnTo>
                  <a:lnTo>
                    <a:pt x="20660" y="1690"/>
                  </a:lnTo>
                  <a:lnTo>
                    <a:pt x="20660" y="7"/>
                  </a:lnTo>
                  <a:lnTo>
                    <a:pt x="20616" y="0"/>
                  </a:lnTo>
                  <a:lnTo>
                    <a:pt x="985" y="0"/>
                  </a:lnTo>
                  <a:lnTo>
                    <a:pt x="786" y="33"/>
                  </a:lnTo>
                  <a:lnTo>
                    <a:pt x="601" y="128"/>
                  </a:lnTo>
                  <a:lnTo>
                    <a:pt x="434" y="278"/>
                  </a:lnTo>
                  <a:lnTo>
                    <a:pt x="288" y="477"/>
                  </a:lnTo>
                  <a:lnTo>
                    <a:pt x="168" y="718"/>
                  </a:lnTo>
                  <a:lnTo>
                    <a:pt x="77" y="995"/>
                  </a:lnTo>
                  <a:lnTo>
                    <a:pt x="20" y="1301"/>
                  </a:lnTo>
                  <a:lnTo>
                    <a:pt x="0" y="162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629"/>
                  </a:lnTo>
                  <a:close/>
                </a:path>
              </a:pathLst>
            </a:custGeom>
            <a:solidFill>
              <a:srgbClr val="1A213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/>
              </a:pPr>
              <a:endParaRPr/>
            </a:p>
          </p:txBody>
        </p:sp>
      </p:grpSp>
      <p:pic>
        <p:nvPicPr>
          <p:cNvPr id="249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48" y="2103420"/>
            <a:ext cx="1886674" cy="9985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Content Placeholder 4" descr="Content Placeholder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823" y="186740"/>
            <a:ext cx="940401" cy="8568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47934-4110-ECD2-D416-FBAD62BC7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514" y="1342218"/>
            <a:ext cx="6132601" cy="31455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Blockchain-based Tender Allocation System uses blockchain and smart contracts to make the tendering process transparent, secure, and tamper-proof.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transparency, prevents fraud or manipulation, and builds trust among all participants.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middlemen, reduces corruption, and ensures fair and efficient selection of contractors through automated and verifiable transactions.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4A217-411E-A0D6-96D5-BD76F5E78B60}"/>
              </a:ext>
            </a:extLst>
          </p:cNvPr>
          <p:cNvSpPr txBox="1"/>
          <p:nvPr/>
        </p:nvSpPr>
        <p:spPr>
          <a:xfrm>
            <a:off x="919976" y="551702"/>
            <a:ext cx="4575716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735631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</a:t>
            </a:r>
            <a:r>
              <a:rPr dirty="0"/>
              <a:t>. Problem Statement</a:t>
            </a:r>
          </a:p>
        </p:txBody>
      </p:sp>
      <p:sp>
        <p:nvSpPr>
          <p:cNvPr id="296" name="Google Shape;237;p16"/>
          <p:cNvSpPr txBox="1">
            <a:spLocks noGrp="1"/>
          </p:cNvSpPr>
          <p:nvPr>
            <p:ph type="body" sz="half" idx="1"/>
          </p:nvPr>
        </p:nvSpPr>
        <p:spPr>
          <a:xfrm>
            <a:off x="2939969" y="1767840"/>
            <a:ext cx="6126480" cy="26595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government tendering systems are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prone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tampering and manipulation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Bribery, favoritism, and corruption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leads to mistrust among contractors and reduced participation.</a:t>
            </a:r>
          </a:p>
          <a:p>
            <a:pPr marL="762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supervision in tender evaluation is time-consuming, costly, and error-prone.</a:t>
            </a:r>
          </a:p>
          <a:p>
            <a:pPr marL="762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typically made based on the lowest bid price ,neglecting essential factors such as contractor reputation ,project quality and risk assessment .</a:t>
            </a:r>
          </a:p>
          <a:p>
            <a:pPr marL="762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pressing need for a secure, transparent, and decentralized solution that can make tender allocation tamper-proof, fair, and efficient.</a:t>
            </a:r>
          </a:p>
          <a:p>
            <a:pPr marL="0" indent="60198" defTabSz="722376">
              <a:spcBef>
                <a:spcPts val="400"/>
              </a:spcBef>
              <a:buSzTx/>
              <a:buNone/>
              <a:defRPr sz="1896"/>
            </a:pP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Google Shape;238;p16"/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8</a:t>
            </a:r>
            <a:endParaRPr dirty="0"/>
          </a:p>
        </p:txBody>
      </p:sp>
      <p:grpSp>
        <p:nvGrpSpPr>
          <p:cNvPr id="302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298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99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00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01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0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023" y="2235468"/>
            <a:ext cx="3020992" cy="301375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Content Placeholder 4" descr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Literature Survey</a:t>
            </a:r>
          </a:p>
        </p:txBody>
      </p:sp>
      <p:sp>
        <p:nvSpPr>
          <p:cNvPr id="253" name="Tex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5</a:t>
            </a:r>
            <a:endParaRPr dirty="0"/>
          </a:p>
        </p:txBody>
      </p:sp>
      <p:grpSp>
        <p:nvGrpSpPr>
          <p:cNvPr id="259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255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56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57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58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aphicFrame>
        <p:nvGraphicFramePr>
          <p:cNvPr id="260" name="Table 24"/>
          <p:cNvGraphicFramePr/>
          <p:nvPr>
            <p:extLst>
              <p:ext uri="{D42A27DB-BD31-4B8C-83A1-F6EECF244321}">
                <p14:modId xmlns:p14="http://schemas.microsoft.com/office/powerpoint/2010/main" val="2782323936"/>
              </p:ext>
            </p:extLst>
          </p:nvPr>
        </p:nvGraphicFramePr>
        <p:xfrm>
          <a:off x="0" y="1158776"/>
          <a:ext cx="8707124" cy="3908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733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4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8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235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Published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Our Research is Better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04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Fair and Transparent </a:t>
                      </a:r>
                      <a:r>
                        <a:rPr lang="en-US" sz="1200" b="0" i="0" u="none" strike="noStrike" cap="none" spc="0" baseline="0" dirty="0" err="1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Blockchain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-based Tendering Framework</a:t>
                      </a:r>
                      <a:r>
                        <a:rPr lang="en-US" sz="14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  <a:endParaRPr sz="11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2018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Proposes a smart-contract based tendering framework to make government tenders auditable using a Hyperledger Fabric . presents several blockchain-variant designs public and private</a:t>
                      </a:r>
                      <a:r>
                        <a:rPr lang="en-US" sz="14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  <a:endParaRPr sz="11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No Privacy for sealed bids, not scalable ,and no clear user roles or identity system.</a:t>
                      </a:r>
                      <a:endParaRPr sz="12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 uses a secure permissioned blockchain ,keeps bid 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private,improves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speed and scalability with off chain ai work and clear roles for 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Admin,Contractor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algn="l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auditor 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400" dirty="0"/>
                        <a:t>.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071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 err="1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AuditChain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: A Trading Audit Platform Over </a:t>
                      </a:r>
                      <a:r>
                        <a:rPr lang="en-US" sz="1200" b="0" i="0" u="none" strike="noStrike" cap="none" spc="0" baseline="0" dirty="0" err="1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Blockchain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</a:t>
                      </a:r>
                      <a:r>
                        <a:rPr lang="en-US" sz="1200" b="0" i="0" u="none" strike="noStrike" cap="none" spc="0" baseline="0" dirty="0" err="1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Vishnia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&amp; Peters) 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2019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Presents blockchain architecture for audit trails using </a:t>
                      </a:r>
                      <a:r>
                        <a:rPr lang="en-US" sz="1200" b="0" i="0" u="none" strike="noStrike" cap="none" spc="0" baseline="0" dirty="0" err="1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ethereum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like public chain used mainly for audit trails in financial trading system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Focuses only on Financial Systems ,Faces speed and delay ,and is not suitable for government tendering 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 is specifically design for public procurement using a permissioned blockchain for faster performance and include ai based evaluation to handle tender related data efficiently </a:t>
                      </a:r>
                      <a:endParaRPr lang="en-IN" sz="1200" dirty="0"/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61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pPr defTabSz="859536">
              <a:defRPr sz="1879"/>
            </a:pPr>
            <a:r>
              <a:t> </a:t>
            </a:r>
            <a:br/>
            <a:endParaRPr/>
          </a:p>
        </p:txBody>
      </p:sp>
      <p:sp>
        <p:nvSpPr>
          <p:cNvPr id="26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6</a:t>
            </a:r>
            <a:endParaRPr dirty="0"/>
          </a:p>
        </p:txBody>
      </p:sp>
      <p:graphicFrame>
        <p:nvGraphicFramePr>
          <p:cNvPr id="265" name="Table 2"/>
          <p:cNvGraphicFramePr/>
          <p:nvPr>
            <p:extLst>
              <p:ext uri="{D42A27DB-BD31-4B8C-83A1-F6EECF244321}">
                <p14:modId xmlns:p14="http://schemas.microsoft.com/office/powerpoint/2010/main" val="2546251844"/>
              </p:ext>
            </p:extLst>
          </p:nvPr>
        </p:nvGraphicFramePr>
        <p:xfrm>
          <a:off x="0" y="1158776"/>
          <a:ext cx="8291126" cy="395847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567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3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88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Published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Des</a:t>
                      </a:r>
                      <a:r>
                        <a:rPr lang="en-IN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ription</a:t>
                      </a:r>
                      <a:endParaRPr sz="14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How Our Research is Better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897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Blockchain-Based Sealed-Bid e-Auction Scheme with Smart Contract &amp; ZK Proof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</a:t>
                      </a: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Designs sealed-bid auctions using smart contracts and Zero-Knowledge Proofs (e.g., Bulletproofs) to ensure privacy and verifiability without exposing bids.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ZKP constructions are complex to implement take a lot of time to </a:t>
                      </a:r>
                      <a:r>
                        <a:rPr lang="en-US" sz="1200" b="0" i="0" u="none" strike="noStrike" cap="none" spc="0" baseline="0" dirty="0" err="1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process,and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cost more on the blockchain.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 uses a simpler permissioned blockchain for privacy and security ,and plans to add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ZKProf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the future with optimized implementation,</a:t>
                      </a:r>
                    </a:p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making it more scalable and cost effective for public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tendors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4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Secure Framework for Government Tender Allocation using Blockchain.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</a:t>
                      </a: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Shows a blockchain-based tender system that improves transparency and removes manual auction processes.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Small project with no proper roles ,weak admin security, and no smart way to compare bids 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has clear roles ,strong security using a permissioned blockchain ,and ai based bid scoring for fair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slection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25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Government Tender Allocation Using Blockchain Technology.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2023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This study uses blockchain and smart contracts to make government tendering more transparent, secure, and efficient.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Complex Setup ,High computational cost ,limited security features ,no ai for bid scoring and scalability issues for large data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Our system uses a permissioned blockchain for faster and </a:t>
                      </a:r>
                      <a:r>
                        <a:rPr lang="en-IN" sz="1200" b="0" dirty="0" err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costr</a:t>
                      </a:r>
                      <a:r>
                        <a:rPr lang="en-IN" sz="12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-efficient performance, adds ai based bid scoring and evaluation and data privacy support for handling large tender data.</a:t>
                      </a:r>
                      <a:endParaRPr sz="12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653470858"/>
                  </a:ext>
                </a:extLst>
              </a:tr>
            </a:tbl>
          </a:graphicData>
        </a:graphic>
      </p:graphicFrame>
      <p:sp>
        <p:nvSpPr>
          <p:cNvPr id="266" name="TextBox 6"/>
          <p:cNvSpPr txBox="1"/>
          <p:nvPr/>
        </p:nvSpPr>
        <p:spPr>
          <a:xfrm>
            <a:off x="803197" y="532879"/>
            <a:ext cx="448837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Literature Survey</a:t>
            </a:r>
          </a:p>
        </p:txBody>
      </p:sp>
      <p:pic>
        <p:nvPicPr>
          <p:cNvPr id="272" name="Content Placeholder 4" descr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66" y="111528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Objective</a:t>
            </a:r>
          </a:p>
        </p:txBody>
      </p:sp>
      <p:sp>
        <p:nvSpPr>
          <p:cNvPr id="307" name="Text Placeholder 2"/>
          <p:cNvSpPr txBox="1">
            <a:spLocks noGrp="1"/>
          </p:cNvSpPr>
          <p:nvPr>
            <p:ph type="body" idx="1"/>
          </p:nvPr>
        </p:nvSpPr>
        <p:spPr>
          <a:xfrm>
            <a:off x="574063" y="1405055"/>
            <a:ext cx="7889725" cy="3790485"/>
          </a:xfrm>
          <a:prstGeom prst="rect">
            <a:avLst/>
          </a:prstGeom>
        </p:spPr>
        <p:txBody>
          <a:bodyPr>
            <a:normAutofit fontScale="32500" lnSpcReduction="20000"/>
          </a:bodyPr>
          <a:lstStyle/>
          <a:p>
            <a:pPr>
              <a:buClr>
                <a:schemeClr val="tx1">
                  <a:lumMod val="50000"/>
                </a:schemeClr>
              </a:buClr>
              <a:buSzPts val="2200"/>
              <a:buFont typeface="Arial" panose="020B0604020202020204" pitchFamily="34" charset="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5600" b="1" dirty="0">
                <a:ln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Secure Smart Contract Design</a:t>
            </a:r>
          </a:p>
          <a:p>
            <a:pPr marL="533400" lvl="1" indent="0">
              <a:buClr>
                <a:schemeClr val="tx1">
                  <a:lumMod val="50000"/>
                </a:schemeClr>
              </a:buClr>
              <a:buSzPts val="22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5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Design and develop a secure Solidity smart contract for the full tender lifecycle. 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50000"/>
                </a:schemeClr>
              </a:buClr>
              <a:buSzPts val="2200"/>
              <a:buFont typeface="Arial" panose="020B0604020202020204" pitchFamily="34" charset="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5600" b="1" dirty="0">
                <a:ln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Transparent Ledger Establishment</a:t>
            </a:r>
          </a:p>
          <a:p>
            <a:pPr marL="533400" lvl="1" indent="0">
              <a:buClr>
                <a:schemeClr val="tx1">
                  <a:lumMod val="50000"/>
                </a:schemeClr>
              </a:buClr>
              <a:buSzPts val="22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5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Establish an immutable ledger for all tenders, bids, and awards to ensure transparency. Transparent operations help reduce corruption.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50000"/>
                </a:schemeClr>
              </a:buClr>
              <a:buSzPts val="2200"/>
              <a:buFont typeface="Arial" panose="020B0604020202020204" pitchFamily="34" charset="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56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User Role System Development</a:t>
            </a:r>
          </a:p>
          <a:p>
            <a:pPr marL="533400" lvl="1" indent="0">
              <a:buClr>
                <a:schemeClr val="tx1">
                  <a:lumMod val="50000"/>
                </a:schemeClr>
              </a:buClr>
              <a:buSzPts val="22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5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Create a role-based system (Admin, Contractor, Auditor) to enforce policy controls. Distinct roles will enhance efficiency and control.</a:t>
            </a:r>
            <a:endParaRPr lang="en-US" altLang="zh-CN" sz="56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50000"/>
                </a:schemeClr>
              </a:buClr>
              <a:buSzPts val="2200"/>
              <a:buFont typeface="Arial" panose="020B0604020202020204" pitchFamily="34" charset="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56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Web Interface Development</a:t>
            </a:r>
          </a:p>
          <a:p>
            <a:pPr marL="533400" lvl="1" indent="0">
              <a:buClr>
                <a:schemeClr val="tx1">
                  <a:lumMod val="50000"/>
                </a:schemeClr>
              </a:buClr>
              <a:buSzPts val="22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5600" dirty="0">
                <a:ln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Develop a user-friendly web interface (Frontend) for seamless blockchain interaction. Smooth user experince encourages participation.</a:t>
            </a:r>
            <a:endParaRPr lang="en-US" altLang="zh-CN" sz="56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>
              <a:buSzPts val="2200"/>
              <a:buFontTx/>
              <a:buChar char="▪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30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4</a:t>
            </a:r>
            <a:endParaRPr dirty="0"/>
          </a:p>
        </p:txBody>
      </p:sp>
      <p:grpSp>
        <p:nvGrpSpPr>
          <p:cNvPr id="313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309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10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11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12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14" name="Content Placeholder 4" descr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5.</a:t>
            </a:r>
            <a:r>
              <a:rPr dirty="0"/>
              <a:t> System Architecture</a:t>
            </a:r>
          </a:p>
        </p:txBody>
      </p:sp>
      <p:sp>
        <p:nvSpPr>
          <p:cNvPr id="37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10</a:t>
            </a:r>
            <a:endParaRPr dirty="0"/>
          </a:p>
        </p:txBody>
      </p:sp>
      <p:grpSp>
        <p:nvGrpSpPr>
          <p:cNvPr id="382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378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79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80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81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84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5F234B-71C4-71FD-E8A0-13F7AA298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709" y="1158777"/>
            <a:ext cx="4801967" cy="3984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42908-7C0D-B72B-E2BA-E6D8DB45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Datasets Used">
            <a:extLst>
              <a:ext uri="{FF2B5EF4-FFF2-40B4-BE49-F238E27FC236}">
                <a16:creationId xmlns:a16="http://schemas.microsoft.com/office/drawing/2014/main" id="{7F8109C2-BA9D-58EF-045E-814130B0C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en-IN" b="1" dirty="0"/>
              <a:t>6. </a:t>
            </a:r>
            <a:r>
              <a:rPr lang="en-IN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DFD Diagrams - Level 0</a:t>
            </a:r>
            <a:endParaRPr b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10" name="Slide Number">
            <a:extLst>
              <a:ext uri="{FF2B5EF4-FFF2-40B4-BE49-F238E27FC236}">
                <a16:creationId xmlns:a16="http://schemas.microsoft.com/office/drawing/2014/main" id="{E6EA1D7F-DEE9-C0C4-016E-0A616326854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11</a:t>
            </a:r>
            <a:endParaRPr dirty="0"/>
          </a:p>
        </p:txBody>
      </p:sp>
      <p:pic>
        <p:nvPicPr>
          <p:cNvPr id="2" name="Content Placeholder 4" descr="Content Placeholder 4">
            <a:extLst>
              <a:ext uri="{FF2B5EF4-FFF2-40B4-BE49-F238E27FC236}">
                <a16:creationId xmlns:a16="http://schemas.microsoft.com/office/drawing/2014/main" id="{877D2C29-6BD7-637F-885D-CA20AB871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ED6013B9-68C4-E9B7-C26B-84A552DC2421}"/>
              </a:ext>
            </a:extLst>
          </p:cNvPr>
          <p:cNvGrpSpPr/>
          <p:nvPr/>
        </p:nvGrpSpPr>
        <p:grpSpPr>
          <a:xfrm>
            <a:off x="336025" y="590921"/>
            <a:ext cx="369484" cy="369505"/>
            <a:chOff x="21" y="0"/>
            <a:chExt cx="369483" cy="369504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8B925E36-51AE-537B-A66E-5AB78CBBBF66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DCE2C9A3-6053-0D2A-FBE6-AE546BBA5D78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194DE5B3-6202-267A-9A2B-BC13401FCB7E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C4791D1E-7E78-4BC4-A48B-BDB9E4904CA1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FCDDF51-8F22-5D1B-0452-BE7B569AA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5" y="1158775"/>
            <a:ext cx="7127858" cy="398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23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DBCF-B331-4CF4-2850-CDA4D745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Datasets Used">
            <a:extLst>
              <a:ext uri="{FF2B5EF4-FFF2-40B4-BE49-F238E27FC236}">
                <a16:creationId xmlns:a16="http://schemas.microsoft.com/office/drawing/2014/main" id="{AC2344DD-AFDA-B645-E0F8-C52AC5575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en-IN" b="1" dirty="0"/>
              <a:t>7. </a:t>
            </a:r>
            <a:r>
              <a:rPr lang="en-IN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DFD Diagrams - Level 1</a:t>
            </a:r>
            <a:endParaRPr b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10" name="Slide Number">
            <a:extLst>
              <a:ext uri="{FF2B5EF4-FFF2-40B4-BE49-F238E27FC236}">
                <a16:creationId xmlns:a16="http://schemas.microsoft.com/office/drawing/2014/main" id="{13D1AE7E-3D4D-80DD-6162-8A6CD5E31BB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12</a:t>
            </a:r>
            <a:endParaRPr dirty="0"/>
          </a:p>
        </p:txBody>
      </p:sp>
      <p:pic>
        <p:nvPicPr>
          <p:cNvPr id="2" name="Content Placeholder 4" descr="Content Placeholder 4">
            <a:extLst>
              <a:ext uri="{FF2B5EF4-FFF2-40B4-BE49-F238E27FC236}">
                <a16:creationId xmlns:a16="http://schemas.microsoft.com/office/drawing/2014/main" id="{FAF8D9AB-560E-0CB3-62C0-3677B743A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04742386-3AF3-413A-20AE-B06A43CA8324}"/>
              </a:ext>
            </a:extLst>
          </p:cNvPr>
          <p:cNvGrpSpPr/>
          <p:nvPr/>
        </p:nvGrpSpPr>
        <p:grpSpPr>
          <a:xfrm>
            <a:off x="336025" y="590921"/>
            <a:ext cx="369484" cy="369505"/>
            <a:chOff x="21" y="0"/>
            <a:chExt cx="369483" cy="369504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0C98D967-386D-7F17-C187-59F3C8893582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84221C15-5E0C-CD9F-C002-4C84C28631CB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E9EFD7A8-6D19-F04F-B72B-913EFD4D4BBC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F2C0172E-8709-0F75-D809-B83DECB92EFB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5FBF4D7-6B4B-E67A-4004-A86BBD2D9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51" y="1114975"/>
            <a:ext cx="7032861" cy="402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7916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2C51-892D-67E7-3B7D-1F5D51E9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itle 1">
            <a:extLst>
              <a:ext uri="{FF2B5EF4-FFF2-40B4-BE49-F238E27FC236}">
                <a16:creationId xmlns:a16="http://schemas.microsoft.com/office/drawing/2014/main" id="{9D8347BA-C6DF-7986-2807-CF669F263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1</a:t>
            </a:r>
            <a:r>
              <a:rPr lang="en-US" dirty="0"/>
              <a:t>2</a:t>
            </a:r>
            <a:r>
              <a:rPr dirty="0"/>
              <a:t>.</a:t>
            </a:r>
            <a:r>
              <a:rPr lang="en-US" dirty="0"/>
              <a:t>AI in Blockchain-Based Tender Allocation System</a:t>
            </a:r>
            <a:endParaRPr dirty="0"/>
          </a:p>
        </p:txBody>
      </p:sp>
      <p:sp>
        <p:nvSpPr>
          <p:cNvPr id="388" name="Slide Number Placeholder 3">
            <a:extLst>
              <a:ext uri="{FF2B5EF4-FFF2-40B4-BE49-F238E27FC236}">
                <a16:creationId xmlns:a16="http://schemas.microsoft.com/office/drawing/2014/main" id="{71FAA607-7CEB-2707-AC72-3EC37C54A43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16</a:t>
            </a:r>
            <a:endParaRPr dirty="0"/>
          </a:p>
        </p:txBody>
      </p:sp>
      <p:grpSp>
        <p:nvGrpSpPr>
          <p:cNvPr id="394" name="Google Shape;239;p16">
            <a:extLst>
              <a:ext uri="{FF2B5EF4-FFF2-40B4-BE49-F238E27FC236}">
                <a16:creationId xmlns:a16="http://schemas.microsoft.com/office/drawing/2014/main" id="{092FA065-D962-AF88-DF84-CA54426F1431}"/>
              </a:ext>
            </a:extLst>
          </p:cNvPr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390" name="Google Shape;240;p16">
              <a:extLst>
                <a:ext uri="{FF2B5EF4-FFF2-40B4-BE49-F238E27FC236}">
                  <a16:creationId xmlns:a16="http://schemas.microsoft.com/office/drawing/2014/main" id="{0E6B584E-BAE2-08BB-9795-B0DB90537482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91" name="Google Shape;241;p16">
              <a:extLst>
                <a:ext uri="{FF2B5EF4-FFF2-40B4-BE49-F238E27FC236}">
                  <a16:creationId xmlns:a16="http://schemas.microsoft.com/office/drawing/2014/main" id="{1D237ED6-C358-31F1-FB9A-D14244066F44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92" name="Google Shape;242;p16">
              <a:extLst>
                <a:ext uri="{FF2B5EF4-FFF2-40B4-BE49-F238E27FC236}">
                  <a16:creationId xmlns:a16="http://schemas.microsoft.com/office/drawing/2014/main" id="{99C71ED6-A6FE-EFA2-280E-AE421C394A58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93" name="Google Shape;243;p16">
              <a:extLst>
                <a:ext uri="{FF2B5EF4-FFF2-40B4-BE49-F238E27FC236}">
                  <a16:creationId xmlns:a16="http://schemas.microsoft.com/office/drawing/2014/main" id="{79A79EE0-6A4B-4034-0D4D-F286498FF299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95" name="Content Placeholder 4" descr="Content Placeholder 4">
            <a:extLst>
              <a:ext uri="{FF2B5EF4-FFF2-40B4-BE49-F238E27FC236}">
                <a16:creationId xmlns:a16="http://schemas.microsoft.com/office/drawing/2014/main" id="{EAE6CF52-D84F-ED98-A3AF-5BA96F852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4751EAC7-B2A3-87F8-ACD4-712A0B7263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606EB0F-94E1-3E3C-54A4-699278A141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6406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061F4EC5-8DF8-7E04-D7C3-18A886484C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D0C29F-67BD-660A-822C-16A449133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63" y="1158776"/>
            <a:ext cx="7198161" cy="399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0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>
      <p:transition spd="slow"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6F2B-FF68-47A2-A5CC-70872D71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Hardware Used">
            <a:extLst>
              <a:ext uri="{FF2B5EF4-FFF2-40B4-BE49-F238E27FC236}">
                <a16:creationId xmlns:a16="http://schemas.microsoft.com/office/drawing/2014/main" id="{A3E7A0E8-FEA3-7CB7-7E4F-470EB9E02A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430994"/>
            <a:ext cx="5492401" cy="7662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en-IN" sz="2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Project Requirement Specification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6" name="Slide Number">
            <a:extLst>
              <a:ext uri="{FF2B5EF4-FFF2-40B4-BE49-F238E27FC236}">
                <a16:creationId xmlns:a16="http://schemas.microsoft.com/office/drawing/2014/main" id="{214DB39B-4C49-BE45-195E-256C930416F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842220" y="4609650"/>
            <a:ext cx="263181" cy="369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9</a:t>
            </a:r>
            <a:endParaRPr dirty="0"/>
          </a:p>
        </p:txBody>
      </p:sp>
      <p:pic>
        <p:nvPicPr>
          <p:cNvPr id="2" name="Content Placeholder 4" descr="Content Placeholder 4">
            <a:extLst>
              <a:ext uri="{FF2B5EF4-FFF2-40B4-BE49-F238E27FC236}">
                <a16:creationId xmlns:a16="http://schemas.microsoft.com/office/drawing/2014/main" id="{629D9380-C8B8-42A0-2BC1-6827C0657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" name="Google Shape;239;p16">
            <a:extLst>
              <a:ext uri="{FF2B5EF4-FFF2-40B4-BE49-F238E27FC236}">
                <a16:creationId xmlns:a16="http://schemas.microsoft.com/office/drawing/2014/main" id="{A50134C6-1F86-6874-0FF2-98149325C7B4}"/>
              </a:ext>
            </a:extLst>
          </p:cNvPr>
          <p:cNvGrpSpPr/>
          <p:nvPr/>
        </p:nvGrpSpPr>
        <p:grpSpPr>
          <a:xfrm>
            <a:off x="312973" y="629341"/>
            <a:ext cx="369484" cy="369505"/>
            <a:chOff x="21" y="0"/>
            <a:chExt cx="369483" cy="369504"/>
          </a:xfrm>
        </p:grpSpPr>
        <p:sp>
          <p:nvSpPr>
            <p:cNvPr id="5" name="Google Shape;240;p16">
              <a:extLst>
                <a:ext uri="{FF2B5EF4-FFF2-40B4-BE49-F238E27FC236}">
                  <a16:creationId xmlns:a16="http://schemas.microsoft.com/office/drawing/2014/main" id="{1253B288-FBC3-8003-A35D-0B2CD091863F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" name="Google Shape;241;p16">
              <a:extLst>
                <a:ext uri="{FF2B5EF4-FFF2-40B4-BE49-F238E27FC236}">
                  <a16:creationId xmlns:a16="http://schemas.microsoft.com/office/drawing/2014/main" id="{68606838-6D58-3257-56F5-9922F2280D87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2;p16">
              <a:extLst>
                <a:ext uri="{FF2B5EF4-FFF2-40B4-BE49-F238E27FC236}">
                  <a16:creationId xmlns:a16="http://schemas.microsoft.com/office/drawing/2014/main" id="{B7E30554-12CB-46A8-83A3-9045046E6A59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3;p16">
              <a:extLst>
                <a:ext uri="{FF2B5EF4-FFF2-40B4-BE49-F238E27FC236}">
                  <a16:creationId xmlns:a16="http://schemas.microsoft.com/office/drawing/2014/main" id="{6DA1C298-7082-2635-13DF-C67EDEE20A10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" name="Rectangle 4">
            <a:extLst>
              <a:ext uri="{FF2B5EF4-FFF2-40B4-BE49-F238E27FC236}">
                <a16:creationId xmlns:a16="http://schemas.microsoft.com/office/drawing/2014/main" id="{13EB372B-452E-955D-3767-0EA35A574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844" y="918719"/>
            <a:ext cx="390795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Authentication</a:t>
            </a:r>
          </a:p>
          <a:p>
            <a:pPr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Contractor Registration</a:t>
            </a:r>
          </a:p>
          <a:p>
            <a:pPr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Tender </a:t>
            </a:r>
          </a:p>
          <a:p>
            <a:pPr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Bid Submission </a:t>
            </a:r>
          </a:p>
          <a:p>
            <a:pPr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AI-Based Reputation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Security 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Transparency 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Reliability 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Scalability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higherRAM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 GB 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Storage: 256 GB SSD or higher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1FBA0-381B-570F-7C9F-51430DDB4C6C}"/>
              </a:ext>
            </a:extLst>
          </p:cNvPr>
          <p:cNvSpPr txBox="1"/>
          <p:nvPr/>
        </p:nvSpPr>
        <p:spPr>
          <a:xfrm>
            <a:off x="4666787" y="1344826"/>
            <a:ext cx="4575716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 Python, JavaScript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Platform: Ethereum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 Language: Solidity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</a:t>
            </a:r>
          </a:p>
          <a:p>
            <a:pPr marL="457200" lvl="0" indent="-4572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Authority</a:t>
            </a:r>
          </a:p>
          <a:p>
            <a:pPr marL="457200" lvl="0" indent="-4572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Contractors</a:t>
            </a:r>
          </a:p>
          <a:p>
            <a:pPr marL="457200" lvl="0" indent="-4572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Engine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88316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8C47-0EB7-A894-767D-6320FC1F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15</a:t>
            </a:r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imes New Roman"/>
              </a:rPr>
              <a:t> Techniques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4A887-D844-1D02-7064-40321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6583680" cy="3223259"/>
          </a:xfrm>
        </p:spPr>
        <p:txBody>
          <a:bodyPr>
            <a:normAutofit fontScale="25000" lnSpcReduction="20000"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6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Solidity for Contracts</a:t>
            </a:r>
            <a:endParaRPr lang="en-US" altLang="zh-CN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64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Solidity is used for smart contract development, ensuring secure and reliable contract execution. Secure contracts can be guaranteed with the use of Solidity.</a:t>
            </a:r>
            <a:endParaRPr lang="en-IN" altLang="zh-CN" sz="64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6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Ethereum Network</a:t>
            </a:r>
            <a:endParaRPr lang="en-IN" altLang="zh-CN" sz="64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64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Ethereum is a secure and reliable public blockchain for smart contract deployment. Ethereum creates a robust operational environment.</a:t>
            </a:r>
            <a:endParaRPr lang="en-IN" altLang="zh-CN" sz="64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6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Tools &amp; Libraries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64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Includes Hardhat, Ethers.js, and MetaMask for streamlined development and secure interactions. These tools help to manage the Ethereum blockchain.</a:t>
            </a:r>
            <a:endParaRPr lang="en-IN" altLang="zh-CN" sz="64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zh-CN" altLang="en-US" sz="6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Frontend Technologies</a:t>
            </a:r>
            <a:endParaRPr lang="en-IN" altLang="zh-CN" sz="6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64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HTML, CSS, and JavaScript</a:t>
            </a:r>
            <a:endParaRPr lang="en-IN" altLang="zh-CN" sz="6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zh-CN" altLang="en-US" sz="6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Backend Technologies</a:t>
            </a:r>
            <a:endParaRPr lang="en-IN" altLang="zh-CN" sz="6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64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Python and Flask are utilized for the server-side logic, API endpoints and management of the AI-scoring. These technologies create a robust server environment and functionality.</a:t>
            </a:r>
            <a:endParaRPr lang="zh-CN" altLang="en-US" sz="6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None/>
            </a:pPr>
            <a:endParaRPr lang="zh-CN" altLang="en-US" sz="56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</a:pPr>
            <a:endParaRPr lang="zh-CN" altLang="en-US" sz="5600" b="1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200" dirty="0"/>
          </a:p>
        </p:txBody>
      </p:sp>
      <p:pic>
        <p:nvPicPr>
          <p:cNvPr id="4" name="Content Placeholder 4" descr="Content Placeholder 4">
            <a:extLst>
              <a:ext uri="{FF2B5EF4-FFF2-40B4-BE49-F238E27FC236}">
                <a16:creationId xmlns:a16="http://schemas.microsoft.com/office/drawing/2014/main" id="{EF8C852A-6C69-E283-CD94-44DCDE9D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4DF5A50E-3AFD-AE86-F013-A5B079EFD32E}"/>
              </a:ext>
            </a:extLst>
          </p:cNvPr>
          <p:cNvGrpSpPr/>
          <p:nvPr/>
        </p:nvGrpSpPr>
        <p:grpSpPr>
          <a:xfrm>
            <a:off x="312973" y="629341"/>
            <a:ext cx="369484" cy="369505"/>
            <a:chOff x="21" y="0"/>
            <a:chExt cx="369483" cy="369504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DD324ED6-2D19-20E8-D061-DCED35A054E6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A5CE8FD9-E9AE-03DF-39E8-0335E41F7316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EFB5210C-A0CF-0A6B-D80B-F240323C6528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B2B046E4-8CD7-B8AB-F9DD-54DFFBF8B697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859747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Hardware Used"/>
          <p:cNvSpPr txBox="1">
            <a:spLocks noGrp="1"/>
          </p:cNvSpPr>
          <p:nvPr>
            <p:ph type="title"/>
          </p:nvPr>
        </p:nvSpPr>
        <p:spPr>
          <a:xfrm>
            <a:off x="814275" y="519496"/>
            <a:ext cx="5492401" cy="76620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en-IN" sz="2000" dirty="0"/>
              <a:t>16. </a:t>
            </a:r>
            <a:r>
              <a:rPr lang="en-IN" sz="2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Algorithms and Models Used</a:t>
            </a:r>
            <a:br>
              <a:rPr lang="en-IN" sz="1800" dirty="0"/>
            </a:br>
            <a:endParaRPr dirty="0"/>
          </a:p>
        </p:txBody>
      </p:sp>
      <p:sp>
        <p:nvSpPr>
          <p:cNvPr id="5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21</a:t>
            </a:r>
            <a:endParaRPr dirty="0"/>
          </a:p>
        </p:txBody>
      </p:sp>
      <p:pic>
        <p:nvPicPr>
          <p:cNvPr id="2" name="Content Placeholder 4" descr="Content Placeholder 4">
            <a:extLst>
              <a:ext uri="{FF2B5EF4-FFF2-40B4-BE49-F238E27FC236}">
                <a16:creationId xmlns:a16="http://schemas.microsoft.com/office/drawing/2014/main" id="{968F51C0-BDF9-D4C9-1D41-EB8F28744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oogle Shape;239;p16">
            <a:extLst>
              <a:ext uri="{FF2B5EF4-FFF2-40B4-BE49-F238E27FC236}">
                <a16:creationId xmlns:a16="http://schemas.microsoft.com/office/drawing/2014/main" id="{089EACD0-2774-EAEE-9656-75DE8EDC1008}"/>
              </a:ext>
            </a:extLst>
          </p:cNvPr>
          <p:cNvGrpSpPr/>
          <p:nvPr/>
        </p:nvGrpSpPr>
        <p:grpSpPr>
          <a:xfrm>
            <a:off x="367951" y="590917"/>
            <a:ext cx="369484" cy="369505"/>
            <a:chOff x="21" y="0"/>
            <a:chExt cx="369483" cy="369504"/>
          </a:xfrm>
        </p:grpSpPr>
        <p:sp>
          <p:nvSpPr>
            <p:cNvPr id="4" name="Google Shape;240;p16">
              <a:extLst>
                <a:ext uri="{FF2B5EF4-FFF2-40B4-BE49-F238E27FC236}">
                  <a16:creationId xmlns:a16="http://schemas.microsoft.com/office/drawing/2014/main" id="{B87D9746-A765-CE90-9CC4-172E4130F8D8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5" name="Google Shape;241;p16">
              <a:extLst>
                <a:ext uri="{FF2B5EF4-FFF2-40B4-BE49-F238E27FC236}">
                  <a16:creationId xmlns:a16="http://schemas.microsoft.com/office/drawing/2014/main" id="{3ECE7241-AF4E-5E2F-6ED4-E6037E85C52A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" name="Google Shape;242;p16">
              <a:extLst>
                <a:ext uri="{FF2B5EF4-FFF2-40B4-BE49-F238E27FC236}">
                  <a16:creationId xmlns:a16="http://schemas.microsoft.com/office/drawing/2014/main" id="{1BA751F6-2323-BF98-B508-0EFF16C05410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3;p16">
              <a:extLst>
                <a:ext uri="{FF2B5EF4-FFF2-40B4-BE49-F238E27FC236}">
                  <a16:creationId xmlns:a16="http://schemas.microsoft.com/office/drawing/2014/main" id="{CC3729B3-7EBA-9A89-02F4-7EB3A7C267BE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4D30079-4F60-A17C-9DA4-AA259E3A458D}"/>
              </a:ext>
            </a:extLst>
          </p:cNvPr>
          <p:cNvSpPr txBox="1"/>
          <p:nvPr/>
        </p:nvSpPr>
        <p:spPr>
          <a:xfrm>
            <a:off x="1113064" y="1589889"/>
            <a:ext cx="5758337" cy="18158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Contractor Reputation Score Calculation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Contractor Risk Evaluation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Bid Anomaly Detection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Final AI Score Calculation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66FE-BB09-202A-8506-6F23D2A1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Contractor Reputation Score Calculation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CFCF4-764C-48BB-1177-44A7F1C2108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99814" y="1262925"/>
            <a:ext cx="3478898" cy="3788924"/>
          </a:xfrm>
        </p:spPr>
        <p:txBody>
          <a:bodyPr>
            <a:noAutofit/>
          </a:bodyPr>
          <a:lstStyle/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1.Start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Input contractor data.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Extract parameters: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Reputation Score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Past Projects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Normalize each parameter: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Reputation Score ÷ 10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Projects ÷ 20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 ÷ 100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÷ 5</a:t>
            </a:r>
          </a:p>
          <a:p>
            <a:pPr marL="1016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7EB0C-62FF-8E9E-A5DA-40AB316C37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97908" y="1019351"/>
            <a:ext cx="3695680" cy="27243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Apply weights to each parameter: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Reputation = 30%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= 30%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= 25%</a:t>
            </a:r>
          </a:p>
          <a:p>
            <a:pPr marL="101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= 15%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Calculate Total Score = Sum of all weighted values.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Scale the total score to a 0–10 range.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Output the final Reputation Score.</a:t>
            </a:r>
          </a:p>
          <a:p>
            <a:pPr marL="1016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End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Content Placeholder 4" descr="Content Placeholder 4">
            <a:extLst>
              <a:ext uri="{FF2B5EF4-FFF2-40B4-BE49-F238E27FC236}">
                <a16:creationId xmlns:a16="http://schemas.microsoft.com/office/drawing/2014/main" id="{1AAFCF4C-34AF-A6EF-8D1B-003B704F0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6937173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A0F1-1251-5177-1C15-AE882159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34" y="466915"/>
            <a:ext cx="5258400" cy="766201"/>
          </a:xfrm>
        </p:spPr>
        <p:txBody>
          <a:bodyPr>
            <a:normAutofit fontScale="90000"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2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Contractor Risk Evaluation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690798-A581-3281-A6C2-A20DDED5B844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739934" y="1238145"/>
            <a:ext cx="342244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Input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Contractor Data and Bid Data.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if Tender Budget &gt; 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No, set Price Risk = 0.1 and go to Step 10.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Yes, continue.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Calculate Price Ratio = Bid Amount / Budget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Determine Price Risk: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Ratio &lt; 0.7, then Price Risk = 0.3 (Suspiciously Low)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Ratio &gt; 1.2, then Price Risk = 0.2 (Over Budget)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Price Risk = 0.1 (Reasonable)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4FF9F-5EBB-0801-B802-9E967C25D1B7}"/>
              </a:ext>
            </a:extLst>
          </p:cNvPr>
          <p:cNvSpPr txBox="1"/>
          <p:nvPr/>
        </p:nvSpPr>
        <p:spPr>
          <a:xfrm>
            <a:off x="4236720" y="1361255"/>
            <a:ext cx="4013835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Calculate Experience Risk = max(0, (5 - Past Projects) × 0.1)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Calculate Completion Risk = max(0, (100 - Completion Rate) × 0.01)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Compute Total Risk = Experience Risk + Completion Risk + Price Risk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Cap the Total Risk at 1.0 (if it exceeds 1.0, set it to 1.0).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Classify Risk Level: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Risk &lt; 0.3, → Low Risk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Risk &lt; 0.6, → Medium Risk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→ High Risk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Output: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Report showing Total Risk and Risk Level.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End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4" descr="Content Placeholder 4">
            <a:extLst>
              <a:ext uri="{FF2B5EF4-FFF2-40B4-BE49-F238E27FC236}">
                <a16:creationId xmlns:a16="http://schemas.microsoft.com/office/drawing/2014/main" id="{6E5154F9-D59F-0554-81D9-0E4548058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715282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27D1-8095-E494-8955-B047041C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41" y="287548"/>
            <a:ext cx="5492401" cy="766201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Bid Anomaly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4421B-8A14-3FB5-74DE-CAFF75C1D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445" y="2601022"/>
            <a:ext cx="4354550" cy="1789125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1.Start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Input: Current Bid and All Bids.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Check if there are sufficient bids (count ≥ 2):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No, → Return: No Anomaly (Insufficient Data) and End.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Extract all bid amounts.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Calculate Mean = (Sum of all bids) ÷ (Number of bids).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Calculate Standard Deviation (Std Dev) =√(Sum of squared differences from mean ÷ n).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Check if Std Dev = 0: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Yes, → Return: No Anomaly and End.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 descr="Content Placeholder 4">
            <a:extLst>
              <a:ext uri="{FF2B5EF4-FFF2-40B4-BE49-F238E27FC236}">
                <a16:creationId xmlns:a16="http://schemas.microsoft.com/office/drawing/2014/main" id="{62900050-8021-F562-B3AF-9F28A99A1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F2AAF3-6543-4FD2-704D-3BF4B637F673}"/>
              </a:ext>
            </a:extLst>
          </p:cNvPr>
          <p:cNvSpPr txBox="1"/>
          <p:nvPr/>
        </p:nvSpPr>
        <p:spPr>
          <a:xfrm>
            <a:off x="4897244" y="1316522"/>
            <a:ext cx="3912219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Calculate Z-Score: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|Current Bid − Mean| ÷ Std Dev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Check if z &gt; 2.0: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Yes, mark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Is_Anomaly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TRUE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No, mark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Is_Anomaly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If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Is_Anomaly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FALSE, normalize the score: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Score = min(z ÷ 3.0, 1.0)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Compare Bid with Mean: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Bid &lt; Mean, → Type: Unusually Low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Bid &gt; Mean, → Type: Unusually High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→ Type: Normal Range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Output: Anomaly Report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End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54301762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A1B9-350A-7718-F0FF-019A54AA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Final AI Score Calculation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C6952-4B52-DB36-DAEB-B10C2D6B8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935" y="1253007"/>
            <a:ext cx="3898974" cy="3976171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1.Start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Input: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Contractor Data, Bid Data, and All Bids.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Perform Reputation Analysis → Get Reputation Score.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Perform Cost-Quality Balance Analysis → Get Quality Score.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 Risk Prediction → Get Risk Score.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Convert Risk Score to Positive Value: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Risk Score = (1 − Risk) × 10</a:t>
            </a:r>
          </a:p>
          <a:p>
            <a:pPr marL="762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Perform Anomaly Detection → Get Anomaly 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Content Placeholder 4" descr="Content Placeholder 4">
            <a:extLst>
              <a:ext uri="{FF2B5EF4-FFF2-40B4-BE49-F238E27FC236}">
                <a16:creationId xmlns:a16="http://schemas.microsoft.com/office/drawing/2014/main" id="{9C88DB58-4B6B-6BA2-64F4-F63ADC992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300284-BC9B-DBC2-1FBA-870130CFB30B}"/>
              </a:ext>
            </a:extLst>
          </p:cNvPr>
          <p:cNvSpPr txBox="1"/>
          <p:nvPr/>
        </p:nvSpPr>
        <p:spPr>
          <a:xfrm>
            <a:off x="4638909" y="1393074"/>
            <a:ext cx="3984701" cy="33239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Calculate Anomaly Penalty = Anomaly Score × 2.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Apply Weights:</a:t>
            </a:r>
          </a:p>
          <a:p>
            <a:pPr marL="762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Reputation = 30%</a:t>
            </a:r>
          </a:p>
          <a:p>
            <a:pPr marL="762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Cost-Quality = 25%</a:t>
            </a:r>
          </a:p>
          <a:p>
            <a:pPr marL="762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= 20%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Compute Weighted Sum = Sum of (Score × Weight).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Subtract Anomaly Penalty from Weighted Sum.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Clamp Final Score between 0 and 10 </a:t>
            </a:r>
          </a:p>
          <a:p>
            <a:pPr marL="762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&lt;0 → 0, if &gt;10 → 10).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Round Final Score to 2 decimal places.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Output: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AI Score.</a:t>
            </a: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End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8162189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17</a:t>
            </a:r>
            <a:r>
              <a:rPr dirty="0"/>
              <a:t>.</a:t>
            </a:r>
            <a:r>
              <a:rPr lang="en-IN" dirty="0"/>
              <a:t>Methodology </a:t>
            </a:r>
            <a:endParaRPr dirty="0"/>
          </a:p>
        </p:txBody>
      </p:sp>
      <p:sp>
        <p:nvSpPr>
          <p:cNvPr id="31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19</a:t>
            </a:r>
            <a:endParaRPr dirty="0"/>
          </a:p>
        </p:txBody>
      </p:sp>
      <p:grpSp>
        <p:nvGrpSpPr>
          <p:cNvPr id="323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319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20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21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22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24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1722" y="1321678"/>
            <a:ext cx="679102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Tender Creation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Government (Admin) creates tenders via the frontend, which triggers a transaction on the smart contract. A government role improves the operational control.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Bid 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Submission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Approved contractors submit their bids; bid data is immutably recorded on the blockchain. Transparent transactions are integral to ensuring data integrity.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AI Analysis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After the bidding deadline, a backend service fetches bid data, and an AI engine scores it. The results are securely pushed back to the smart contract by the backend oracle.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Winner Selection: 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Admin selects the winner based on the AI-scored data, finalizing the award and creating an audit trail. Transparent workflow ensures data is not compromised.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Auditor Verification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The Auditor has read-only access to verify the entire process, ensuring unbiased operational oversight. The auditor role improves transparency.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itle 1"/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/>
          <a:lstStyle/>
          <a:p>
            <a:r>
              <a:rPr dirty="0"/>
              <a:t>1</a:t>
            </a:r>
            <a:r>
              <a:rPr lang="en-US" dirty="0"/>
              <a:t>8</a:t>
            </a:r>
            <a:r>
              <a:rPr dirty="0"/>
              <a:t>.Project Features</a:t>
            </a:r>
          </a:p>
        </p:txBody>
      </p:sp>
      <p:sp>
        <p:nvSpPr>
          <p:cNvPr id="35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23</a:t>
            </a:r>
            <a:endParaRPr dirty="0"/>
          </a:p>
        </p:txBody>
      </p:sp>
      <p:sp>
        <p:nvSpPr>
          <p:cNvPr id="356" name="Rectangle 3"/>
          <p:cNvSpPr txBox="1"/>
          <p:nvPr/>
        </p:nvSpPr>
        <p:spPr>
          <a:xfrm>
            <a:off x="45719" y="-308681"/>
            <a:ext cx="127001" cy="61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1800"/>
            </a:lvl1pPr>
          </a:lstStyle>
          <a:p>
            <a:r>
              <a:t>​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61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357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58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59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60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62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2237" y="1530169"/>
            <a:ext cx="848143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System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Ensures tamper-proof and transparent tendering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Automates tender creation, bid evaluation, and winner selection.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Commit–Reveal Bidding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Protects confidentiality of bids until reveal phase.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Storage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Securely stores tender documents and attachments.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Scoring Algorithm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Evaluates bids using Time, Price, Environment, and Strength with time–strength dependency.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Separate permissions for government, contractors, and verifiers.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Auditability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Immutable record of all tenders and bids for public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Fairness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Eliminates favoritism, bribery, and bid manipulation.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Easy access for contractors and authorities.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B46D-45D8-729F-2B4A-C7F3651A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itle 1">
            <a:extLst>
              <a:ext uri="{FF2B5EF4-FFF2-40B4-BE49-F238E27FC236}">
                <a16:creationId xmlns:a16="http://schemas.microsoft.com/office/drawing/2014/main" id="{EDEB2C35-26D4-824A-EE25-2EC7CC7F7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4"/>
            <a:ext cx="5492401" cy="7662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IN" dirty="0"/>
              <a:t>19.</a:t>
            </a:r>
            <a:r>
              <a:rPr lang="en-US" b="1" dirty="0"/>
              <a:t> Advantages</a:t>
            </a:r>
            <a:endParaRPr dirty="0"/>
          </a:p>
        </p:txBody>
      </p:sp>
      <p:sp>
        <p:nvSpPr>
          <p:cNvPr id="388" name="Slide Number Placeholder 3">
            <a:extLst>
              <a:ext uri="{FF2B5EF4-FFF2-40B4-BE49-F238E27FC236}">
                <a16:creationId xmlns:a16="http://schemas.microsoft.com/office/drawing/2014/main" id="{5DC67C63-29DB-7BB8-E2A5-A561C1A9E6E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30</a:t>
            </a:r>
            <a:endParaRPr dirty="0"/>
          </a:p>
        </p:txBody>
      </p:sp>
      <p:grpSp>
        <p:nvGrpSpPr>
          <p:cNvPr id="394" name="Google Shape;239;p16">
            <a:extLst>
              <a:ext uri="{FF2B5EF4-FFF2-40B4-BE49-F238E27FC236}">
                <a16:creationId xmlns:a16="http://schemas.microsoft.com/office/drawing/2014/main" id="{2B4130AE-C5CE-4FD8-A750-B6E09BEDEDEF}"/>
              </a:ext>
            </a:extLst>
          </p:cNvPr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390" name="Google Shape;240;p16">
              <a:extLst>
                <a:ext uri="{FF2B5EF4-FFF2-40B4-BE49-F238E27FC236}">
                  <a16:creationId xmlns:a16="http://schemas.microsoft.com/office/drawing/2014/main" id="{50D42CFB-D724-417C-2028-9F4DC13022ED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91" name="Google Shape;241;p16">
              <a:extLst>
                <a:ext uri="{FF2B5EF4-FFF2-40B4-BE49-F238E27FC236}">
                  <a16:creationId xmlns:a16="http://schemas.microsoft.com/office/drawing/2014/main" id="{EB64131B-A181-EDE9-BC7A-EF35A51BAA17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92" name="Google Shape;242;p16">
              <a:extLst>
                <a:ext uri="{FF2B5EF4-FFF2-40B4-BE49-F238E27FC236}">
                  <a16:creationId xmlns:a16="http://schemas.microsoft.com/office/drawing/2014/main" id="{167752C6-ED65-8F12-C3FB-B8CB0E886E34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93" name="Google Shape;243;p16">
              <a:extLst>
                <a:ext uri="{FF2B5EF4-FFF2-40B4-BE49-F238E27FC236}">
                  <a16:creationId xmlns:a16="http://schemas.microsoft.com/office/drawing/2014/main" id="{4B1A31B1-7157-A007-0B17-D0400D0B1AAC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95" name="Content Placeholder 4" descr="Content Placeholder 4">
            <a:extLst>
              <a:ext uri="{FF2B5EF4-FFF2-40B4-BE49-F238E27FC236}">
                <a16:creationId xmlns:a16="http://schemas.microsoft.com/office/drawing/2014/main" id="{4B3BFCFF-8102-995A-4147-8F48F1A5E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29D881-E58F-3256-3547-AAAAF69319EE}"/>
              </a:ext>
            </a:extLst>
          </p:cNvPr>
          <p:cNvSpPr txBox="1"/>
          <p:nvPr/>
        </p:nvSpPr>
        <p:spPr>
          <a:xfrm>
            <a:off x="467494" y="1377980"/>
            <a:ext cx="7954717" cy="3187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Every action is recorded 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visible to all stakeholders.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Tamper-proof records prevent data manipulation and fraud.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Commit–reveal bidding ensures equal opportunity for all contractors.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Removes single point of control, reducing corruption risks.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Smart contracts automate evaluation and winner selection, saving time and cost.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Building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Increases confidence among contractors and government agencies.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59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07E0-CB0A-4DE5-8561-21E50F58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0D98-F413-81BD-D4CB-6C4754A91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</a:t>
            </a:r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What is Ethereum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81DAE-9924-BC62-F676-04689399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327348"/>
            <a:ext cx="6132601" cy="3627423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is used because it acts like the base system (the internet) for running smart contracts and decentralized apps.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our application to store tender data safely, make bidding transparent, and stop anyone from changing or deleting information.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connect to Ethereum through a node (like using an internet provider such as Jio or Airtel). The node helps your app read and write data on the blockchain — for example, checking bids, adding new bids, or selecting winners.</a:t>
            </a:r>
          </a:p>
        </p:txBody>
      </p:sp>
      <p:pic>
        <p:nvPicPr>
          <p:cNvPr id="4" name="Content Placeholder 4" descr="Content Placeholder 4">
            <a:extLst>
              <a:ext uri="{FF2B5EF4-FFF2-40B4-BE49-F238E27FC236}">
                <a16:creationId xmlns:a16="http://schemas.microsoft.com/office/drawing/2014/main" id="{E260E809-8AE9-15E8-1E2D-144ECD78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0744277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5FCC-79C3-BC39-575F-0B6F60DC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Future Scope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4C04C4-4FE0-F61C-C065-15D9A51BA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3716" y="1708034"/>
            <a:ext cx="824678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Enhanced Verification</a:t>
            </a:r>
            <a:r>
              <a:rPr lang="en-IN" altLang="zh-CN" sz="16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: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Implementing digital passports for contractors enhances verification during the bidding process. Decentralized Identity ensures trust.</a:t>
            </a:r>
            <a:endParaRPr lang="zh-CN" altLang="en-US" sz="16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Confidential Bids</a:t>
            </a:r>
            <a:r>
              <a:rPr lang="en-IN" altLang="zh-CN" sz="16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:</a:t>
            </a:r>
            <a:r>
              <a:rPr lang="zh-CN" altLang="en-US" sz="16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Submit confidential bid data privately through ZK-Proofs, enhancing the safety of sensitive financial bids. </a:t>
            </a:r>
            <a:endParaRPr lang="en-IN" altLang="zh-CN" sz="16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Predictions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predicts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costs and timelines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choosing a winner.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 bids that seem cheap but may have hidden costs or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+ IoT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on-site sensors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releases payment when a milestone is completed.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paperwork, no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oogle Shape;239;p16">
            <a:extLst>
              <a:ext uri="{FF2B5EF4-FFF2-40B4-BE49-F238E27FC236}">
                <a16:creationId xmlns:a16="http://schemas.microsoft.com/office/drawing/2014/main" id="{2FD75C2B-DE69-04B1-73D4-A721364D178E}"/>
              </a:ext>
            </a:extLst>
          </p:cNvPr>
          <p:cNvGrpSpPr/>
          <p:nvPr/>
        </p:nvGrpSpPr>
        <p:grpSpPr>
          <a:xfrm>
            <a:off x="261027" y="590921"/>
            <a:ext cx="369484" cy="369505"/>
            <a:chOff x="21" y="0"/>
            <a:chExt cx="369483" cy="369504"/>
          </a:xfrm>
        </p:grpSpPr>
        <p:sp>
          <p:nvSpPr>
            <p:cNvPr id="5" name="Google Shape;240;p16">
              <a:extLst>
                <a:ext uri="{FF2B5EF4-FFF2-40B4-BE49-F238E27FC236}">
                  <a16:creationId xmlns:a16="http://schemas.microsoft.com/office/drawing/2014/main" id="{70317CD8-7949-26EC-52D9-2D62B72533BF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" name="Google Shape;241;p16">
              <a:extLst>
                <a:ext uri="{FF2B5EF4-FFF2-40B4-BE49-F238E27FC236}">
                  <a16:creationId xmlns:a16="http://schemas.microsoft.com/office/drawing/2014/main" id="{7720571F-5BBE-21E1-0DED-C7B0CABD09EC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2;p16">
              <a:extLst>
                <a:ext uri="{FF2B5EF4-FFF2-40B4-BE49-F238E27FC236}">
                  <a16:creationId xmlns:a16="http://schemas.microsoft.com/office/drawing/2014/main" id="{E26E3DB7-A147-1CB2-61E1-E0E086500B13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3;p16">
              <a:extLst>
                <a:ext uri="{FF2B5EF4-FFF2-40B4-BE49-F238E27FC236}">
                  <a16:creationId xmlns:a16="http://schemas.microsoft.com/office/drawing/2014/main" id="{9439AEEC-6463-2FEC-DC48-7168330EDD4E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" name="Content Placeholder 4" descr="Content Placeholder 4">
            <a:extLst>
              <a:ext uri="{FF2B5EF4-FFF2-40B4-BE49-F238E27FC236}">
                <a16:creationId xmlns:a16="http://schemas.microsoft.com/office/drawing/2014/main" id="{B4B05B4D-C6C5-CD2A-3A52-E881A10F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680459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900B-DF43-21C9-F274-949258F6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26. Working Outputs</a:t>
            </a:r>
          </a:p>
        </p:txBody>
      </p:sp>
      <p:grpSp>
        <p:nvGrpSpPr>
          <p:cNvPr id="4" name="Google Shape;239;p16">
            <a:extLst>
              <a:ext uri="{FF2B5EF4-FFF2-40B4-BE49-F238E27FC236}">
                <a16:creationId xmlns:a16="http://schemas.microsoft.com/office/drawing/2014/main" id="{4A4694A1-4708-8B22-D5C9-2EDEBC83E143}"/>
              </a:ext>
            </a:extLst>
          </p:cNvPr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5" name="Google Shape;240;p16">
              <a:extLst>
                <a:ext uri="{FF2B5EF4-FFF2-40B4-BE49-F238E27FC236}">
                  <a16:creationId xmlns:a16="http://schemas.microsoft.com/office/drawing/2014/main" id="{46A1D128-E668-4CBF-7595-B7BFCEA8DCD4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" name="Google Shape;241;p16">
              <a:extLst>
                <a:ext uri="{FF2B5EF4-FFF2-40B4-BE49-F238E27FC236}">
                  <a16:creationId xmlns:a16="http://schemas.microsoft.com/office/drawing/2014/main" id="{DA978F70-8AD5-9ED6-9161-1E28E63547F3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2;p16">
              <a:extLst>
                <a:ext uri="{FF2B5EF4-FFF2-40B4-BE49-F238E27FC236}">
                  <a16:creationId xmlns:a16="http://schemas.microsoft.com/office/drawing/2014/main" id="{17724FD3-D974-B6E0-7210-5C2B733B3C4A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3;p16">
              <a:extLst>
                <a:ext uri="{FF2B5EF4-FFF2-40B4-BE49-F238E27FC236}">
                  <a16:creationId xmlns:a16="http://schemas.microsoft.com/office/drawing/2014/main" id="{4403AB7B-7379-A065-BBD5-33E1BCA5BCFA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" name="Content Placeholder 4" descr="Content Placeholder 4">
            <a:extLst>
              <a:ext uri="{FF2B5EF4-FFF2-40B4-BE49-F238E27FC236}">
                <a16:creationId xmlns:a16="http://schemas.microsoft.com/office/drawing/2014/main" id="{682C0166-D7D1-8B7B-7399-F2ED0997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C5C1FC-BBB6-6A7F-86CF-8218E37E41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3060"/>
            <a:ext cx="7359805" cy="37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1213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BBD4-B20A-3239-280C-1172147C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7C6B2-0633-006A-4CE2-4F9C5291B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70E96-8433-EFE2-04AE-B3DAF3EB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788"/>
            <a:ext cx="7107044" cy="399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5398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F95C-853A-DFD9-2ABE-D4493E0B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2CFC5-0EF7-105F-00CB-A916CD89B1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3205"/>
            <a:ext cx="7367239" cy="371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7582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5701-1BD2-E199-53C2-4C8EC9F1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9C953-C2BF-A7BE-ED37-BE4711A69D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4120"/>
            <a:ext cx="7404410" cy="375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1656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D9B2-9636-6B2F-D659-DE23EB11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F6632-CED9-6BDD-1DC4-EBF57D5731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804"/>
            <a:ext cx="7396976" cy="37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8057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3817-5489-F7C7-6621-C46ABE425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60405-49B0-0764-C294-B3BB57F086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9563"/>
            <a:ext cx="7419278" cy="375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0721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F1BE-4951-794C-31DA-A816460B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F2404-4E47-27D7-CB76-642121F361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1320"/>
            <a:ext cx="7382107" cy="373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6950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2D76-C36C-CE80-E542-B6665D826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6E6E1-81E9-7CF7-69DD-6522FE0509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4117"/>
            <a:ext cx="7396976" cy="376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43419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1BD0-BB9C-D82F-218A-9F0BBF92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D7FE0-ACBC-9E55-585A-4BF426580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1141"/>
            <a:ext cx="7359805" cy="372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9231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7B40-1937-75DD-627C-7CBA94B0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3FFA4-875B-703C-43CC-7AE955EB0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DE4AA-A12C-3D5B-82A4-FE04B82312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7668"/>
            <a:ext cx="7344937" cy="374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4090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3699-EE6D-8162-CF94-68635603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8BE59-B03D-FCF1-2D61-45D219FA7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CA4FF-5454-D00F-183D-8AE72B6E78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6019"/>
            <a:ext cx="7255727" cy="385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1730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64CA-3902-3529-15AA-E33919BE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3DBE6-FD75-4A60-3652-44369DA42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57D21-5688-E6B5-D769-5B13816A6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071"/>
            <a:ext cx="7263161" cy="385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4780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1960-038D-E10A-084F-41E4027E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E8DBF-5981-5386-3B3E-EB690D165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46119-1730-4D83-75BE-8503240C6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3919"/>
            <a:ext cx="7240859" cy="38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0542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5350-BF96-7870-58E2-06060B2A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27.Project Plan</a:t>
            </a:r>
            <a:endParaRPr lang="en-IN" dirty="0"/>
          </a:p>
        </p:txBody>
      </p:sp>
      <p:grpSp>
        <p:nvGrpSpPr>
          <p:cNvPr id="4" name="Google Shape;239;p16">
            <a:extLst>
              <a:ext uri="{FF2B5EF4-FFF2-40B4-BE49-F238E27FC236}">
                <a16:creationId xmlns:a16="http://schemas.microsoft.com/office/drawing/2014/main" id="{649B10DE-8E78-A590-666B-545DE554F209}"/>
              </a:ext>
            </a:extLst>
          </p:cNvPr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5" name="Google Shape;240;p16">
              <a:extLst>
                <a:ext uri="{FF2B5EF4-FFF2-40B4-BE49-F238E27FC236}">
                  <a16:creationId xmlns:a16="http://schemas.microsoft.com/office/drawing/2014/main" id="{AFDF36D5-3B08-BEAB-0382-7AB27744955A}"/>
                </a:ext>
              </a:extLst>
            </p:cNvPr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" name="Google Shape;241;p16">
              <a:extLst>
                <a:ext uri="{FF2B5EF4-FFF2-40B4-BE49-F238E27FC236}">
                  <a16:creationId xmlns:a16="http://schemas.microsoft.com/office/drawing/2014/main" id="{A2B5AAA7-21C9-FB94-B14E-89A60B0E5B30}"/>
                </a:ext>
              </a:extLst>
            </p:cNvPr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" name="Google Shape;242;p16">
              <a:extLst>
                <a:ext uri="{FF2B5EF4-FFF2-40B4-BE49-F238E27FC236}">
                  <a16:creationId xmlns:a16="http://schemas.microsoft.com/office/drawing/2014/main" id="{44558B14-F340-B63A-43AE-2AF257D742CA}"/>
                </a:ext>
              </a:extLst>
            </p:cNvPr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" name="Google Shape;243;p16">
              <a:extLst>
                <a:ext uri="{FF2B5EF4-FFF2-40B4-BE49-F238E27FC236}">
                  <a16:creationId xmlns:a16="http://schemas.microsoft.com/office/drawing/2014/main" id="{FAABC322-F7DF-244D-0C50-4C61003545E9}"/>
                </a:ext>
              </a:extLst>
            </p:cNvPr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" name="Content Placeholder 4" descr="Content Placeholder 4">
            <a:extLst>
              <a:ext uri="{FF2B5EF4-FFF2-40B4-BE49-F238E27FC236}">
                <a16:creationId xmlns:a16="http://schemas.microsoft.com/office/drawing/2014/main" id="{1EAB4ACA-1365-B32B-4DA6-B17EEC6CD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1C6FE3-FF63-5BAB-8494-E277A969D4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09" y="1158775"/>
            <a:ext cx="6125116" cy="396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9374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itle 1"/>
          <p:cNvSpPr txBox="1">
            <a:spLocks noGrp="1"/>
          </p:cNvSpPr>
          <p:nvPr>
            <p:ph type="title"/>
          </p:nvPr>
        </p:nvSpPr>
        <p:spPr>
          <a:xfrm>
            <a:off x="758695" y="392055"/>
            <a:ext cx="5492402" cy="766202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.References</a:t>
            </a:r>
          </a:p>
        </p:txBody>
      </p:sp>
      <p:sp>
        <p:nvSpPr>
          <p:cNvPr id="48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34</a:t>
            </a:r>
            <a:endParaRPr dirty="0"/>
          </a:p>
        </p:txBody>
      </p:sp>
      <p:grpSp>
        <p:nvGrpSpPr>
          <p:cNvPr id="491" name="Google Shape;239;p16"/>
          <p:cNvGrpSpPr/>
          <p:nvPr/>
        </p:nvGrpSpPr>
        <p:grpSpPr>
          <a:xfrm>
            <a:off x="282237" y="590918"/>
            <a:ext cx="369484" cy="369505"/>
            <a:chOff x="21" y="0"/>
            <a:chExt cx="369483" cy="369504"/>
          </a:xfrm>
        </p:grpSpPr>
        <p:sp>
          <p:nvSpPr>
            <p:cNvPr id="487" name="Google Shape;240;p16"/>
            <p:cNvSpPr/>
            <p:nvPr/>
          </p:nvSpPr>
          <p:spPr>
            <a:xfrm>
              <a:off x="21" y="211364"/>
              <a:ext cx="158120" cy="15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97" y="0"/>
                  </a:moveTo>
                  <a:lnTo>
                    <a:pt x="1539" y="18454"/>
                  </a:lnTo>
                  <a:lnTo>
                    <a:pt x="0" y="21600"/>
                  </a:lnTo>
                  <a:lnTo>
                    <a:pt x="3146" y="20062"/>
                  </a:lnTo>
                  <a:lnTo>
                    <a:pt x="21600" y="4403"/>
                  </a:lnTo>
                  <a:lnTo>
                    <a:pt x="17197" y="0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88" name="Google Shape;241;p16"/>
            <p:cNvSpPr/>
            <p:nvPr/>
          </p:nvSpPr>
          <p:spPr>
            <a:xfrm>
              <a:off x="221597" y="0"/>
              <a:ext cx="147908" cy="147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" y="8298"/>
                  </a:moveTo>
                  <a:lnTo>
                    <a:pt x="13306" y="20778"/>
                  </a:lnTo>
                  <a:lnTo>
                    <a:pt x="14275" y="21226"/>
                  </a:lnTo>
                  <a:lnTo>
                    <a:pt x="15322" y="21526"/>
                  </a:lnTo>
                  <a:lnTo>
                    <a:pt x="16294" y="21600"/>
                  </a:lnTo>
                  <a:lnTo>
                    <a:pt x="17341" y="21600"/>
                  </a:lnTo>
                  <a:lnTo>
                    <a:pt x="18387" y="21376"/>
                  </a:lnTo>
                  <a:lnTo>
                    <a:pt x="19357" y="21002"/>
                  </a:lnTo>
                  <a:lnTo>
                    <a:pt x="19805" y="20704"/>
                  </a:lnTo>
                  <a:lnTo>
                    <a:pt x="20256" y="20480"/>
                  </a:lnTo>
                  <a:lnTo>
                    <a:pt x="20704" y="20106"/>
                  </a:lnTo>
                  <a:lnTo>
                    <a:pt x="21152" y="19731"/>
                  </a:lnTo>
                  <a:lnTo>
                    <a:pt x="21302" y="19507"/>
                  </a:lnTo>
                  <a:lnTo>
                    <a:pt x="21526" y="19210"/>
                  </a:lnTo>
                  <a:lnTo>
                    <a:pt x="21600" y="18835"/>
                  </a:lnTo>
                  <a:lnTo>
                    <a:pt x="21600" y="18237"/>
                  </a:lnTo>
                  <a:lnTo>
                    <a:pt x="21526" y="17939"/>
                  </a:lnTo>
                  <a:lnTo>
                    <a:pt x="21302" y="17638"/>
                  </a:lnTo>
                  <a:lnTo>
                    <a:pt x="21152" y="17341"/>
                  </a:lnTo>
                  <a:lnTo>
                    <a:pt x="4262" y="451"/>
                  </a:lnTo>
                  <a:lnTo>
                    <a:pt x="3962" y="301"/>
                  </a:lnTo>
                  <a:lnTo>
                    <a:pt x="3664" y="77"/>
                  </a:lnTo>
                  <a:lnTo>
                    <a:pt x="3363" y="0"/>
                  </a:lnTo>
                  <a:lnTo>
                    <a:pt x="2768" y="0"/>
                  </a:lnTo>
                  <a:lnTo>
                    <a:pt x="2394" y="77"/>
                  </a:lnTo>
                  <a:lnTo>
                    <a:pt x="2093" y="301"/>
                  </a:lnTo>
                  <a:lnTo>
                    <a:pt x="1869" y="451"/>
                  </a:lnTo>
                  <a:lnTo>
                    <a:pt x="1494" y="899"/>
                  </a:lnTo>
                  <a:lnTo>
                    <a:pt x="1123" y="1347"/>
                  </a:lnTo>
                  <a:lnTo>
                    <a:pt x="899" y="1795"/>
                  </a:lnTo>
                  <a:lnTo>
                    <a:pt x="598" y="2243"/>
                  </a:lnTo>
                  <a:lnTo>
                    <a:pt x="224" y="3216"/>
                  </a:lnTo>
                  <a:lnTo>
                    <a:pt x="0" y="4262"/>
                  </a:lnTo>
                  <a:lnTo>
                    <a:pt x="0" y="5309"/>
                  </a:lnTo>
                  <a:lnTo>
                    <a:pt x="77" y="6278"/>
                  </a:lnTo>
                  <a:lnTo>
                    <a:pt x="374" y="7325"/>
                  </a:lnTo>
                  <a:lnTo>
                    <a:pt x="822" y="8298"/>
                  </a:lnTo>
                  <a:close/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89" name="Google Shape;242;p16"/>
            <p:cNvSpPr/>
            <p:nvPr/>
          </p:nvSpPr>
          <p:spPr>
            <a:xfrm>
              <a:off x="57847" y="56817"/>
              <a:ext cx="254862" cy="25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13" y="0"/>
                  </a:moveTo>
                  <a:lnTo>
                    <a:pt x="8675" y="5681"/>
                  </a:lnTo>
                  <a:lnTo>
                    <a:pt x="8240" y="5508"/>
                  </a:lnTo>
                  <a:lnTo>
                    <a:pt x="7807" y="5335"/>
                  </a:lnTo>
                  <a:lnTo>
                    <a:pt x="7285" y="5161"/>
                  </a:lnTo>
                  <a:lnTo>
                    <a:pt x="6765" y="5074"/>
                  </a:lnTo>
                  <a:lnTo>
                    <a:pt x="6203" y="4944"/>
                  </a:lnTo>
                  <a:lnTo>
                    <a:pt x="5638" y="4858"/>
                  </a:lnTo>
                  <a:lnTo>
                    <a:pt x="5074" y="4814"/>
                  </a:lnTo>
                  <a:lnTo>
                    <a:pt x="3989" y="4814"/>
                  </a:lnTo>
                  <a:lnTo>
                    <a:pt x="3469" y="4858"/>
                  </a:lnTo>
                  <a:lnTo>
                    <a:pt x="2906" y="4944"/>
                  </a:lnTo>
                  <a:lnTo>
                    <a:pt x="2342" y="5074"/>
                  </a:lnTo>
                  <a:lnTo>
                    <a:pt x="1777" y="5291"/>
                  </a:lnTo>
                  <a:lnTo>
                    <a:pt x="1257" y="5508"/>
                  </a:lnTo>
                  <a:lnTo>
                    <a:pt x="737" y="5855"/>
                  </a:lnTo>
                  <a:lnTo>
                    <a:pt x="260" y="6245"/>
                  </a:lnTo>
                  <a:lnTo>
                    <a:pt x="130" y="6375"/>
                  </a:lnTo>
                  <a:lnTo>
                    <a:pt x="43" y="6548"/>
                  </a:lnTo>
                  <a:lnTo>
                    <a:pt x="0" y="6723"/>
                  </a:lnTo>
                  <a:lnTo>
                    <a:pt x="0" y="7113"/>
                  </a:lnTo>
                  <a:lnTo>
                    <a:pt x="43" y="7287"/>
                  </a:lnTo>
                  <a:lnTo>
                    <a:pt x="130" y="7460"/>
                  </a:lnTo>
                  <a:lnTo>
                    <a:pt x="260" y="7633"/>
                  </a:lnTo>
                  <a:lnTo>
                    <a:pt x="13965" y="21340"/>
                  </a:lnTo>
                  <a:lnTo>
                    <a:pt x="14140" y="21470"/>
                  </a:lnTo>
                  <a:lnTo>
                    <a:pt x="14313" y="21555"/>
                  </a:lnTo>
                  <a:lnTo>
                    <a:pt x="14485" y="21600"/>
                  </a:lnTo>
                  <a:lnTo>
                    <a:pt x="14877" y="21600"/>
                  </a:lnTo>
                  <a:lnTo>
                    <a:pt x="15050" y="21555"/>
                  </a:lnTo>
                  <a:lnTo>
                    <a:pt x="15223" y="21470"/>
                  </a:lnTo>
                  <a:lnTo>
                    <a:pt x="15353" y="21340"/>
                  </a:lnTo>
                  <a:lnTo>
                    <a:pt x="15745" y="20863"/>
                  </a:lnTo>
                  <a:lnTo>
                    <a:pt x="16090" y="20341"/>
                  </a:lnTo>
                  <a:lnTo>
                    <a:pt x="16307" y="19821"/>
                  </a:lnTo>
                  <a:lnTo>
                    <a:pt x="16525" y="19256"/>
                  </a:lnTo>
                  <a:lnTo>
                    <a:pt x="16655" y="18694"/>
                  </a:lnTo>
                  <a:lnTo>
                    <a:pt x="16742" y="18129"/>
                  </a:lnTo>
                  <a:lnTo>
                    <a:pt x="16785" y="17609"/>
                  </a:lnTo>
                  <a:lnTo>
                    <a:pt x="16785" y="16525"/>
                  </a:lnTo>
                  <a:lnTo>
                    <a:pt x="16742" y="15962"/>
                  </a:lnTo>
                  <a:lnTo>
                    <a:pt x="16655" y="15397"/>
                  </a:lnTo>
                  <a:lnTo>
                    <a:pt x="16525" y="14833"/>
                  </a:lnTo>
                  <a:lnTo>
                    <a:pt x="16437" y="14313"/>
                  </a:lnTo>
                  <a:lnTo>
                    <a:pt x="16265" y="13793"/>
                  </a:lnTo>
                  <a:lnTo>
                    <a:pt x="16090" y="13358"/>
                  </a:lnTo>
                  <a:lnTo>
                    <a:pt x="15917" y="12925"/>
                  </a:lnTo>
                  <a:lnTo>
                    <a:pt x="21600" y="7287"/>
                  </a:lnTo>
                </a:path>
              </a:pathLst>
            </a:cu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90" name="Google Shape;243;p16"/>
            <p:cNvSpPr/>
            <p:nvPr/>
          </p:nvSpPr>
          <p:spPr>
            <a:xfrm flipV="1">
              <a:off x="174529" y="91614"/>
              <a:ext cx="41963" cy="41963"/>
            </a:xfrm>
            <a:prstGeom prst="line">
              <a:avLst/>
            </a:prstGeom>
            <a:noFill/>
            <a:ln w="12175" cap="rnd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92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8605" y="1316441"/>
            <a:ext cx="830518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Hardwick, F.S.,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Akram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R.N., 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Markantonakis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K.,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“Fair and Transparent 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Tendering Framework,”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IEEE, 2018.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Vishnia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&amp; Peters, G.,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Trading Audit Platform Over 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Mali, D.,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Mogaveera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Kitawat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P., 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Jawwad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e-Tendering System,”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4th ICICCS, IEEE, 2020.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Li, L., Liu, J., 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SecTEP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Enabling Secure Tender Evaluation with Sealed Prices and Quality Evaluation in Procurement Bidding Systems over 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Computers &amp; Security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103, 2021.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More, R.,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Kadam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Phadtare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Bhagat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K., 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Wagh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C.S.,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“Secure Framework for Government Tender Allocation Using 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IJARSCT, Vol. 2, Issue 1, 2022.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Dubey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Singh, P.,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Verma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R.K., 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Kamboj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“Government Tender Allocation Using </a:t>
            </a:r>
            <a:r>
              <a:rPr kumimoji="0" 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Technology,”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IEEE ICICAT, 2023.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76200">
              <a:buSzTx/>
              <a:buNone/>
              <a:defRPr sz="4400" b="1"/>
            </a:lvl1pPr>
          </a:lstStyle>
          <a:p>
            <a:r>
              <a:rPr dirty="0"/>
              <a:t>         </a:t>
            </a:r>
          </a:p>
        </p:txBody>
      </p:sp>
      <p:sp>
        <p:nvSpPr>
          <p:cNvPr id="49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763673" y="4609650"/>
            <a:ext cx="341728" cy="3693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35</a:t>
            </a:r>
            <a:endParaRPr dirty="0"/>
          </a:p>
        </p:txBody>
      </p:sp>
      <p:pic>
        <p:nvPicPr>
          <p:cNvPr id="49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2" y="1626460"/>
            <a:ext cx="5961250" cy="31678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" name="Content Placeholder 4" descr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588" y="162484"/>
            <a:ext cx="940401" cy="8568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alerio template">
  <a:themeElements>
    <a:clrScheme name="Salerio template">
      <a:dk1>
        <a:srgbClr val="263248"/>
      </a:dk1>
      <a:lt1>
        <a:srgbClr val="FFFFFF"/>
      </a:lt1>
      <a:dk2>
        <a:srgbClr val="A7A7A7"/>
      </a:dk2>
      <a:lt2>
        <a:srgbClr val="535353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0000FF"/>
      </a:hlink>
      <a:folHlink>
        <a:srgbClr val="FF00FF"/>
      </a:folHlink>
    </a:clrScheme>
    <a:fontScheme name="Salerio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alerio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alerio template">
  <a:themeElements>
    <a:clrScheme name="Salerio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0000FF"/>
      </a:hlink>
      <a:folHlink>
        <a:srgbClr val="FF00FF"/>
      </a:folHlink>
    </a:clrScheme>
    <a:fontScheme name="Salerio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alerio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4283</Words>
  <Application>Microsoft Office PowerPoint</Application>
  <PresentationFormat>On-screen Show (16:9)</PresentationFormat>
  <Paragraphs>341</Paragraphs>
  <Slides>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Calibri Light</vt:lpstr>
      <vt:lpstr>Helvetica</vt:lpstr>
      <vt:lpstr>Roboto Condensed</vt:lpstr>
      <vt:lpstr>Roboto Condensed Light</vt:lpstr>
      <vt:lpstr>Times New Roman</vt:lpstr>
      <vt:lpstr>TimesNewRomanPSMT</vt:lpstr>
      <vt:lpstr>Wingdings</vt:lpstr>
      <vt:lpstr>Salerio template</vt:lpstr>
      <vt:lpstr>PowerPoint Presentation</vt:lpstr>
      <vt:lpstr>Blockchain Based Tender Allocation System</vt:lpstr>
      <vt:lpstr>Content of this Project</vt:lpstr>
      <vt:lpstr>1. Introduction</vt:lpstr>
      <vt:lpstr>PowerPoint Presentation</vt:lpstr>
      <vt:lpstr>2. Problem Statement</vt:lpstr>
      <vt:lpstr>3. Literature Survey</vt:lpstr>
      <vt:lpstr>  </vt:lpstr>
      <vt:lpstr>4.Objective</vt:lpstr>
      <vt:lpstr>5. System Architecture</vt:lpstr>
      <vt:lpstr>6. DFD Diagrams - Level 0</vt:lpstr>
      <vt:lpstr>7. DFD Diagrams - Level 1</vt:lpstr>
      <vt:lpstr>12.AI in Blockchain-Based Tender Allocation System</vt:lpstr>
      <vt:lpstr>14. Project Requirement Specification:</vt:lpstr>
      <vt:lpstr>15. Techniques</vt:lpstr>
      <vt:lpstr>16. Algorithms and Models Used </vt:lpstr>
      <vt:lpstr>1. Contractor Reputation Score Calculation</vt:lpstr>
      <vt:lpstr>2. Contractor Risk Evaluation </vt:lpstr>
      <vt:lpstr> 3. Bid Anomaly Detection</vt:lpstr>
      <vt:lpstr> 4. Final AI Score Calculation </vt:lpstr>
      <vt:lpstr>17.Methodology </vt:lpstr>
      <vt:lpstr>18.Project Features</vt:lpstr>
      <vt:lpstr>19. Advantages</vt:lpstr>
      <vt:lpstr>20.What is Ethereum ?</vt:lpstr>
      <vt:lpstr>21. Future Scope</vt:lpstr>
      <vt:lpstr>26. Working Outputs</vt:lpstr>
      <vt:lpstr>Output</vt:lpstr>
      <vt:lpstr>Output</vt:lpstr>
      <vt:lpstr>Output</vt:lpstr>
      <vt:lpstr>Output</vt:lpstr>
      <vt:lpstr>Output</vt:lpstr>
      <vt:lpstr>Output</vt:lpstr>
      <vt:lpstr>Output</vt:lpstr>
      <vt:lpstr>Output</vt:lpstr>
      <vt:lpstr>Output</vt:lpstr>
      <vt:lpstr>Output</vt:lpstr>
      <vt:lpstr>Output</vt:lpstr>
      <vt:lpstr>Output</vt:lpstr>
      <vt:lpstr>27.Project Plan</vt:lpstr>
      <vt:lpstr>28.References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Rutuja Murkute</dc:creator>
  <cp:lastModifiedBy>Puja Pawar</cp:lastModifiedBy>
  <cp:revision>47</cp:revision>
  <dcterms:modified xsi:type="dcterms:W3CDTF">2026-06-21T08:57:49Z</dcterms:modified>
</cp:coreProperties>
</file>